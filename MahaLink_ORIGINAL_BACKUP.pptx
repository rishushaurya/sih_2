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 Bold" charset="1" panose="020F0702030404030204"/>
      <p:regular r:id="rId18"/>
    </p:embeddedFont>
    <p:embeddedFont>
      <p:font typeface="Cambria Bold" charset="1" panose="02040803050406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640" y="1802330"/>
            <a:ext cx="12618720" cy="7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 u="sng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MAHALINK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1179" y="2535717"/>
            <a:ext cx="12096659" cy="72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SIH26129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integration and interoperability among government digital platforms, resulting in fragmented service delivery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SIH2026-158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INFERNO</a:t>
            </a: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99708" y="1935680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996876" y="3232214"/>
            <a:ext cx="4805267" cy="5139357"/>
            <a:chOff x="0" y="0"/>
            <a:chExt cx="6407023" cy="6852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401955"/>
            <a:ext cx="2076450" cy="869442"/>
            <a:chOff x="0" y="0"/>
            <a:chExt cx="2768600" cy="1159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8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7686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2581656" y="0"/>
                  </a:lnTo>
                  <a:cubicBezTo>
                    <a:pt x="2684907" y="0"/>
                    <a:pt x="2768600" y="83693"/>
                    <a:pt x="2768600" y="186944"/>
                  </a:cubicBezTo>
                  <a:lnTo>
                    <a:pt x="2768600" y="972312"/>
                  </a:lnTo>
                  <a:cubicBezTo>
                    <a:pt x="2768600" y="1075563"/>
                    <a:pt x="2684907" y="1159256"/>
                    <a:pt x="2581656" y="1159256"/>
                  </a:cubicBezTo>
                  <a:lnTo>
                    <a:pt x="186944" y="1159256"/>
                  </a:lnTo>
                  <a:cubicBezTo>
                    <a:pt x="83693" y="1159256"/>
                    <a:pt x="0" y="1075563"/>
                    <a:pt x="0" y="9723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411480"/>
            <a:ext cx="2057400" cy="850392"/>
            <a:chOff x="0" y="0"/>
            <a:chExt cx="274320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32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gradFill>
                    <a:gsLst>
                      <a:gs pos="0">
                        <a:srgbClr val="091E27">
                          <a:alpha val="100000"/>
                        </a:srgbClr>
                      </a:gs>
                      <a:gs pos="100000">
                        <a:srgbClr val="48F0E7">
                          <a:alpha val="100000"/>
                        </a:srgbClr>
                      </a:gs>
                    </a:gsLst>
                    <a:lin ang="189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INFERNO VI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80360" y="364998"/>
            <a:ext cx="149504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B2545"/>
                </a:solidFill>
                <a:latin typeface="Cambria Bold"/>
                <a:ea typeface="Cambria Bold"/>
                <a:cs typeface="Cambria Bold"/>
                <a:sym typeface="Cambria Bold"/>
              </a:rPr>
              <a:t>MAHALINK: INTEROPERABILITY MIDDLEWARE </a:t>
            </a:r>
            <a:r>
              <a:rPr lang="en-US" b="true" sz="3600">
                <a:solidFill>
                  <a:srgbClr val="1C7293"/>
                </a:solidFill>
                <a:latin typeface="Cambria Bold"/>
                <a:ea typeface="Cambria Bold"/>
                <a:cs typeface="Cambria Bold"/>
                <a:sym typeface="Cambria Bold"/>
              </a:rPr>
              <a:t>FOR MAHARASHTRA'S DIGITAL GOVERNMENT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9115" y="1773555"/>
            <a:ext cx="9003030" cy="2145030"/>
            <a:chOff x="0" y="0"/>
            <a:chExt cx="1200404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040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20040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856466" y="0"/>
                  </a:lnTo>
                  <a:cubicBezTo>
                    <a:pt x="11938000" y="0"/>
                    <a:pt x="12004040" y="66040"/>
                    <a:pt x="12004040" y="147574"/>
                  </a:cubicBezTo>
                  <a:lnTo>
                    <a:pt x="12004040" y="2712466"/>
                  </a:lnTo>
                  <a:cubicBezTo>
                    <a:pt x="12004040" y="2794000"/>
                    <a:pt x="11938000" y="2860040"/>
                    <a:pt x="118564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783080"/>
            <a:ext cx="123444" cy="2125980"/>
            <a:chOff x="0" y="0"/>
            <a:chExt cx="164592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lnTo>
                    <a:pt x="137160" y="0"/>
                  </a:lnTo>
                  <a:cubicBezTo>
                    <a:pt x="152273" y="0"/>
                    <a:pt x="164592" y="12319"/>
                    <a:pt x="164592" y="27432"/>
                  </a:cubicBezTo>
                  <a:lnTo>
                    <a:pt x="164592" y="2807208"/>
                  </a:lnTo>
                  <a:cubicBezTo>
                    <a:pt x="164592" y="2822321"/>
                    <a:pt x="152273" y="2834640"/>
                    <a:pt x="137160" y="2834640"/>
                  </a:cubicBezTo>
                  <a:lnTo>
                    <a:pt x="27432" y="2834640"/>
                  </a:lnTo>
                  <a:cubicBezTo>
                    <a:pt x="12319" y="2834640"/>
                    <a:pt x="0" y="2822321"/>
                    <a:pt x="0" y="2807208"/>
                  </a:cubicBezTo>
                  <a:close/>
                </a:path>
              </a:pathLst>
            </a:custGeom>
            <a:solidFill>
              <a:srgbClr val="B326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688" y="1947672"/>
            <a:ext cx="8298180" cy="444336"/>
            <a:chOff x="0" y="0"/>
            <a:chExt cx="11064240" cy="5924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592448"/>
            </a:xfrm>
            <a:custGeom>
              <a:avLst/>
              <a:gdLst/>
              <a:ahLst/>
              <a:cxnLst/>
              <a:rect r="r" b="b" t="t" l="l"/>
              <a:pathLst>
                <a:path h="592448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92448"/>
                  </a:lnTo>
                  <a:lnTo>
                    <a:pt x="0" y="592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589" r="0" b="-3101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064240" cy="640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issue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2688" y="2329434"/>
            <a:ext cx="8298180" cy="94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874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A citizen needs a caste certificate, a 7/12 land extract, an RTO service and a police clearance — and must juggle 4+ separate logins on disconnected portals, re-entering the same details every time.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39115" y="4146423"/>
            <a:ext cx="9003030" cy="2145030"/>
            <a:chOff x="0" y="0"/>
            <a:chExt cx="12004040" cy="2860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040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20040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856466" y="0"/>
                  </a:lnTo>
                  <a:cubicBezTo>
                    <a:pt x="11938000" y="0"/>
                    <a:pt x="12004040" y="66040"/>
                    <a:pt x="12004040" y="147574"/>
                  </a:cubicBezTo>
                  <a:lnTo>
                    <a:pt x="12004040" y="2712466"/>
                  </a:lnTo>
                  <a:cubicBezTo>
                    <a:pt x="12004040" y="2794000"/>
                    <a:pt x="11938000" y="2860040"/>
                    <a:pt x="118564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4155948"/>
            <a:ext cx="123444" cy="2125980"/>
            <a:chOff x="0" y="0"/>
            <a:chExt cx="164592" cy="2834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lnTo>
                    <a:pt x="137160" y="0"/>
                  </a:lnTo>
                  <a:cubicBezTo>
                    <a:pt x="152273" y="0"/>
                    <a:pt x="164592" y="12319"/>
                    <a:pt x="164592" y="27432"/>
                  </a:cubicBezTo>
                  <a:lnTo>
                    <a:pt x="164592" y="2807208"/>
                  </a:lnTo>
                  <a:cubicBezTo>
                    <a:pt x="164592" y="2822321"/>
                    <a:pt x="152273" y="2834640"/>
                    <a:pt x="137160" y="2834640"/>
                  </a:cubicBezTo>
                  <a:lnTo>
                    <a:pt x="27432" y="2834640"/>
                  </a:lnTo>
                  <a:cubicBezTo>
                    <a:pt x="12319" y="2834640"/>
                    <a:pt x="0" y="2822321"/>
                    <a:pt x="0" y="2807208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688" y="4320540"/>
            <a:ext cx="8298180" cy="444336"/>
            <a:chOff x="0" y="0"/>
            <a:chExt cx="11064240" cy="592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64240" cy="592448"/>
            </a:xfrm>
            <a:custGeom>
              <a:avLst/>
              <a:gdLst/>
              <a:ahLst/>
              <a:cxnLst/>
              <a:rect r="r" b="b" t="t" l="l"/>
              <a:pathLst>
                <a:path h="592448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92448"/>
                  </a:lnTo>
                  <a:lnTo>
                    <a:pt x="0" y="592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589" r="0" b="-3101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064240" cy="640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32688" y="4702302"/>
            <a:ext cx="8298180" cy="94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874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A CAG audit found 67% of key citizen services still unavailable online, 33 lakh applications pending, and 45% of Aaple Sarkar service centres non-functional — despite Aaple Sarkar's “single window” claim.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9115" y="6519291"/>
            <a:ext cx="9003030" cy="2145030"/>
            <a:chOff x="0" y="0"/>
            <a:chExt cx="12004040" cy="2860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040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20040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856466" y="0"/>
                  </a:lnTo>
                  <a:cubicBezTo>
                    <a:pt x="11938000" y="0"/>
                    <a:pt x="12004040" y="66040"/>
                    <a:pt x="12004040" y="147574"/>
                  </a:cubicBezTo>
                  <a:lnTo>
                    <a:pt x="12004040" y="2712466"/>
                  </a:lnTo>
                  <a:cubicBezTo>
                    <a:pt x="12004040" y="2794000"/>
                    <a:pt x="11938000" y="2860040"/>
                    <a:pt x="118564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6528816"/>
            <a:ext cx="123444" cy="2125980"/>
            <a:chOff x="0" y="0"/>
            <a:chExt cx="164592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lnTo>
                    <a:pt x="137160" y="0"/>
                  </a:lnTo>
                  <a:cubicBezTo>
                    <a:pt x="152273" y="0"/>
                    <a:pt x="164592" y="12319"/>
                    <a:pt x="164592" y="27432"/>
                  </a:cubicBezTo>
                  <a:lnTo>
                    <a:pt x="164592" y="2807208"/>
                  </a:lnTo>
                  <a:cubicBezTo>
                    <a:pt x="164592" y="2822321"/>
                    <a:pt x="152273" y="2834640"/>
                    <a:pt x="137160" y="2834640"/>
                  </a:cubicBezTo>
                  <a:lnTo>
                    <a:pt x="27432" y="2834640"/>
                  </a:lnTo>
                  <a:cubicBezTo>
                    <a:pt x="12319" y="2834640"/>
                    <a:pt x="0" y="2822321"/>
                    <a:pt x="0" y="2807208"/>
                  </a:cubicBezTo>
                  <a:close/>
                </a:path>
              </a:pathLst>
            </a:custGeom>
            <a:solidFill>
              <a:srgbClr val="1E7A4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688" y="6693408"/>
            <a:ext cx="8298180" cy="444336"/>
            <a:chOff x="0" y="0"/>
            <a:chExt cx="11064240" cy="592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4240" cy="592448"/>
            </a:xfrm>
            <a:custGeom>
              <a:avLst/>
              <a:gdLst/>
              <a:ahLst/>
              <a:cxnLst/>
              <a:rect r="r" b="b" t="t" l="l"/>
              <a:pathLst>
                <a:path h="592448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92448"/>
                  </a:lnTo>
                  <a:lnTo>
                    <a:pt x="0" y="592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589" r="0" b="-3101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064240" cy="640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32688" y="7075170"/>
            <a:ext cx="8298180" cy="94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874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MahaLink is a federated middleware layer: adapter APIs wrap each department's existing system (no rebuild), a consent manager governs every data request, and a gateway publishes it all to the national API Setu.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44100" y="1783080"/>
            <a:ext cx="7749540" cy="438912"/>
            <a:chOff x="0" y="0"/>
            <a:chExt cx="1033272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 → 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34575" y="2294763"/>
            <a:ext cx="7768590" cy="1596390"/>
            <a:chOff x="0" y="0"/>
            <a:chExt cx="1035812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5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35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210038" y="0"/>
                  </a:lnTo>
                  <a:cubicBezTo>
                    <a:pt x="10291826" y="0"/>
                    <a:pt x="10358120" y="66294"/>
                    <a:pt x="10358120" y="148082"/>
                  </a:cubicBezTo>
                  <a:lnTo>
                    <a:pt x="10358120" y="1980438"/>
                  </a:lnTo>
                  <a:cubicBezTo>
                    <a:pt x="10358120" y="2062226"/>
                    <a:pt x="10291826" y="2128520"/>
                    <a:pt x="102100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190988" y="2496312"/>
            <a:ext cx="7255764" cy="576072"/>
            <a:chOff x="0" y="0"/>
            <a:chExt cx="9674352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FBEAE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55580" y="2496312"/>
            <a:ext cx="6926580" cy="576072"/>
            <a:chOff x="0" y="0"/>
            <a:chExt cx="9235440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326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Fragmented logins &amp; repeated paperwork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90988" y="3127248"/>
            <a:ext cx="7255764" cy="576072"/>
            <a:chOff x="0" y="0"/>
            <a:chExt cx="9674352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355580" y="3127248"/>
            <a:ext cx="6926580" cy="576072"/>
            <a:chOff x="0" y="0"/>
            <a:chExt cx="923544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7A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SSO + auto-filled data via consent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34575" y="4050411"/>
            <a:ext cx="7768590" cy="1596390"/>
            <a:chOff x="0" y="0"/>
            <a:chExt cx="10358120" cy="2128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5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35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210038" y="0"/>
                  </a:lnTo>
                  <a:cubicBezTo>
                    <a:pt x="10291826" y="0"/>
                    <a:pt x="10358120" y="66294"/>
                    <a:pt x="10358120" y="148082"/>
                  </a:cubicBezTo>
                  <a:lnTo>
                    <a:pt x="10358120" y="1980438"/>
                  </a:lnTo>
                  <a:cubicBezTo>
                    <a:pt x="10358120" y="2062226"/>
                    <a:pt x="10291826" y="2128520"/>
                    <a:pt x="102100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190988" y="4251960"/>
            <a:ext cx="7255764" cy="576072"/>
            <a:chOff x="0" y="0"/>
            <a:chExt cx="9674352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FBEAE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355580" y="4251960"/>
            <a:ext cx="6926580" cy="576072"/>
            <a:chOff x="0" y="0"/>
            <a:chExt cx="9235440" cy="7680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326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visibility into who accessed citizen data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190988" y="4882896"/>
            <a:ext cx="7255764" cy="576072"/>
            <a:chOff x="0" y="0"/>
            <a:chExt cx="9674352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355580" y="4882896"/>
            <a:ext cx="6926580" cy="576072"/>
            <a:chOff x="0" y="0"/>
            <a:chExt cx="9235440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7A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 Manager + immutable audit log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34575" y="5806059"/>
            <a:ext cx="7768590" cy="1596390"/>
            <a:chOff x="0" y="0"/>
            <a:chExt cx="10358120" cy="2128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35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35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210038" y="0"/>
                  </a:lnTo>
                  <a:cubicBezTo>
                    <a:pt x="10291826" y="0"/>
                    <a:pt x="10358120" y="66294"/>
                    <a:pt x="10358120" y="148082"/>
                  </a:cubicBezTo>
                  <a:lnTo>
                    <a:pt x="10358120" y="1980438"/>
                  </a:lnTo>
                  <a:cubicBezTo>
                    <a:pt x="10358120" y="2062226"/>
                    <a:pt x="10291826" y="2128520"/>
                    <a:pt x="102100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190988" y="6007608"/>
            <a:ext cx="7255764" cy="576072"/>
            <a:chOff x="0" y="0"/>
            <a:chExt cx="9674352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FBEAE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355580" y="6007608"/>
            <a:ext cx="6926580" cy="576072"/>
            <a:chOff x="0" y="0"/>
            <a:chExt cx="923544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326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Legacy systems can't talk to each other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90988" y="6638544"/>
            <a:ext cx="7255764" cy="576072"/>
            <a:chOff x="0" y="0"/>
            <a:chExt cx="9674352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355580" y="6638544"/>
            <a:ext cx="6926580" cy="576072"/>
            <a:chOff x="0" y="0"/>
            <a:chExt cx="9235440" cy="7680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7A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Adapter APIs wrap each department, no rebuild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34575" y="7561707"/>
            <a:ext cx="7768590" cy="1596390"/>
            <a:chOff x="0" y="0"/>
            <a:chExt cx="10358120" cy="2128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358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3581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210038" y="0"/>
                  </a:lnTo>
                  <a:cubicBezTo>
                    <a:pt x="10291826" y="0"/>
                    <a:pt x="10358120" y="66294"/>
                    <a:pt x="10358120" y="148082"/>
                  </a:cubicBezTo>
                  <a:lnTo>
                    <a:pt x="10358120" y="1980438"/>
                  </a:lnTo>
                  <a:cubicBezTo>
                    <a:pt x="10358120" y="2062226"/>
                    <a:pt x="10291826" y="2128520"/>
                    <a:pt x="102100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190988" y="7763256"/>
            <a:ext cx="7255764" cy="576072"/>
            <a:chOff x="0" y="0"/>
            <a:chExt cx="9674352" cy="7680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FBEAE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355580" y="7763256"/>
            <a:ext cx="6926580" cy="576072"/>
            <a:chOff x="0" y="0"/>
            <a:chExt cx="9235440" cy="7680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326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 mega-database = privacy risk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190988" y="8394192"/>
            <a:ext cx="7255764" cy="576072"/>
            <a:chOff x="0" y="0"/>
            <a:chExt cx="9674352" cy="7680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674352" cy="768096"/>
            </a:xfrm>
            <a:custGeom>
              <a:avLst/>
              <a:gdLst/>
              <a:ahLst/>
              <a:cxnLst/>
              <a:rect r="r" b="b" t="t" l="l"/>
              <a:pathLst>
                <a:path h="768096" w="967435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64624" y="0"/>
                  </a:lnTo>
                  <a:cubicBezTo>
                    <a:pt x="9625203" y="0"/>
                    <a:pt x="9674352" y="49149"/>
                    <a:pt x="9674352" y="109728"/>
                  </a:cubicBezTo>
                  <a:lnTo>
                    <a:pt x="9674352" y="658368"/>
                  </a:lnTo>
                  <a:cubicBezTo>
                    <a:pt x="9674352" y="718947"/>
                    <a:pt x="9625203" y="768096"/>
                    <a:pt x="9564624" y="768096"/>
                  </a:cubicBezTo>
                  <a:lnTo>
                    <a:pt x="109728" y="768096"/>
                  </a:lnTo>
                  <a:cubicBezTo>
                    <a:pt x="49149" y="768096"/>
                    <a:pt x="0" y="718947"/>
                    <a:pt x="0" y="658368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355580" y="8394192"/>
            <a:ext cx="6926580" cy="576072"/>
            <a:chOff x="0" y="0"/>
            <a:chExt cx="9235440" cy="7680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235440" cy="768096"/>
            </a:xfrm>
            <a:custGeom>
              <a:avLst/>
              <a:gdLst/>
              <a:ahLst/>
              <a:cxnLst/>
              <a:rect r="r" b="b" t="t" l="l"/>
              <a:pathLst>
                <a:path h="76809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284" r="0" b="-1842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2354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7A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Federated “golden record” — data stays at source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0" y="9793224"/>
            <a:ext cx="18283428" cy="493776"/>
            <a:chOff x="0" y="0"/>
            <a:chExt cx="24377904" cy="65836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77904" cy="658368"/>
            </a:xfrm>
            <a:custGeom>
              <a:avLst/>
              <a:gdLst/>
              <a:ahLst/>
              <a:cxnLst/>
              <a:rect r="r" b="b" t="t" l="l"/>
              <a:pathLst>
                <a:path h="65836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81B3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891599" y="9793224"/>
            <a:ext cx="4005942" cy="493776"/>
            <a:chOff x="0" y="0"/>
            <a:chExt cx="5341257" cy="6583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41257" cy="658368"/>
            </a:xfrm>
            <a:custGeom>
              <a:avLst/>
              <a:gdLst/>
              <a:ahLst/>
              <a:cxnLst/>
              <a:rect r="r" b="b" t="t" l="l"/>
              <a:pathLst>
                <a:path h="658368" w="5341257">
                  <a:moveTo>
                    <a:pt x="0" y="0"/>
                  </a:moveTo>
                  <a:lnTo>
                    <a:pt x="5341257" y="0"/>
                  </a:lnTo>
                  <a:lnTo>
                    <a:pt x="5341257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-173913" b="-3830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341257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7282160" y="9793224"/>
            <a:ext cx="685800" cy="493776"/>
            <a:chOff x="0" y="0"/>
            <a:chExt cx="914400" cy="6583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658368"/>
            </a:xfrm>
            <a:custGeom>
              <a:avLst/>
              <a:gdLst/>
              <a:ahLst/>
              <a:cxnLst/>
              <a:rect r="r" b="b" t="t" l="l"/>
              <a:pathLst>
                <a:path h="658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144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FC3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7269823" y="9863880"/>
            <a:ext cx="374378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SIH 2026</a:t>
            </a: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 Idea Submission — MahaLink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401955"/>
            <a:ext cx="2076450" cy="869442"/>
            <a:chOff x="0" y="0"/>
            <a:chExt cx="2768600" cy="1159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8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7686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2581656" y="0"/>
                  </a:lnTo>
                  <a:cubicBezTo>
                    <a:pt x="2684907" y="0"/>
                    <a:pt x="2768600" y="83693"/>
                    <a:pt x="2768600" y="186944"/>
                  </a:cubicBezTo>
                  <a:lnTo>
                    <a:pt x="2768600" y="972312"/>
                  </a:lnTo>
                  <a:cubicBezTo>
                    <a:pt x="2768600" y="1075563"/>
                    <a:pt x="2684907" y="1159256"/>
                    <a:pt x="2581656" y="1159256"/>
                  </a:cubicBezTo>
                  <a:lnTo>
                    <a:pt x="186944" y="1159256"/>
                  </a:lnTo>
                  <a:cubicBezTo>
                    <a:pt x="83693" y="1159256"/>
                    <a:pt x="0" y="1075563"/>
                    <a:pt x="0" y="9723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411480"/>
            <a:ext cx="2057400" cy="850392"/>
            <a:chOff x="0" y="0"/>
            <a:chExt cx="274320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32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gradFill>
                    <a:gsLst>
                      <a:gs pos="0">
                        <a:srgbClr val="091E27">
                          <a:alpha val="100000"/>
                        </a:srgbClr>
                      </a:gs>
                      <a:gs pos="100000">
                        <a:srgbClr val="48F0E7">
                          <a:alpha val="100000"/>
                        </a:srgbClr>
                      </a:gs>
                    </a:gsLst>
                    <a:lin ang="189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INFERNO VI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49365" y="438912"/>
            <a:ext cx="12344400" cy="822960"/>
            <a:chOff x="0" y="0"/>
            <a:chExt cx="16459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TECHNICAL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26042" y="2315647"/>
            <a:ext cx="4518568" cy="419086"/>
            <a:chOff x="0" y="0"/>
            <a:chExt cx="6024757" cy="5587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24757" cy="558781"/>
            </a:xfrm>
            <a:custGeom>
              <a:avLst/>
              <a:gdLst/>
              <a:ahLst/>
              <a:cxnLst/>
              <a:rect r="r" b="b" t="t" l="l"/>
              <a:pathLst>
                <a:path h="558781" w="6024757">
                  <a:moveTo>
                    <a:pt x="0" y="0"/>
                  </a:moveTo>
                  <a:lnTo>
                    <a:pt x="6024757" y="0"/>
                  </a:lnTo>
                  <a:lnTo>
                    <a:pt x="6024757" y="558781"/>
                  </a:lnTo>
                  <a:lnTo>
                    <a:pt x="0" y="558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73" r="-10794" b="-1818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24757" cy="60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9"/>
                </a:lnSpc>
              </a:pPr>
              <a:r>
                <a:rPr lang="en-US" sz="2124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 ARCHITECTURE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79619" y="2818260"/>
            <a:ext cx="4542640" cy="798797"/>
            <a:chOff x="0" y="0"/>
            <a:chExt cx="6056853" cy="10650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56853" cy="1065063"/>
            </a:xfrm>
            <a:custGeom>
              <a:avLst/>
              <a:gdLst/>
              <a:ahLst/>
              <a:cxnLst/>
              <a:rect r="r" b="b" t="t" l="l"/>
              <a:pathLst>
                <a:path h="1065063" w="6056853">
                  <a:moveTo>
                    <a:pt x="0" y="141969"/>
                  </a:moveTo>
                  <a:cubicBezTo>
                    <a:pt x="0" y="63522"/>
                    <a:pt x="60981" y="0"/>
                    <a:pt x="136291" y="0"/>
                  </a:cubicBezTo>
                  <a:lnTo>
                    <a:pt x="5920562" y="0"/>
                  </a:lnTo>
                  <a:cubicBezTo>
                    <a:pt x="5995872" y="0"/>
                    <a:pt x="6056853" y="63522"/>
                    <a:pt x="6056853" y="141969"/>
                  </a:cubicBezTo>
                  <a:lnTo>
                    <a:pt x="6056853" y="923094"/>
                  </a:lnTo>
                  <a:cubicBezTo>
                    <a:pt x="6056853" y="1001541"/>
                    <a:pt x="5995872" y="1065063"/>
                    <a:pt x="5920562" y="1065063"/>
                  </a:cubicBezTo>
                  <a:lnTo>
                    <a:pt x="136291" y="1065063"/>
                  </a:lnTo>
                  <a:cubicBezTo>
                    <a:pt x="60981" y="1065063"/>
                    <a:pt x="0" y="1001541"/>
                    <a:pt x="0" y="923094"/>
                  </a:cubicBezTo>
                  <a:close/>
                </a:path>
              </a:pathLst>
            </a:custGeom>
            <a:solidFill>
              <a:srgbClr val="99FFCE"/>
            </a:solidFill>
            <a:ln w="26670" cap="sq">
              <a:solidFill>
                <a:srgbClr val="0B254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77349" y="2908169"/>
            <a:ext cx="4147179" cy="361071"/>
            <a:chOff x="0" y="0"/>
            <a:chExt cx="5529572" cy="4814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9572" cy="481428"/>
            </a:xfrm>
            <a:custGeom>
              <a:avLst/>
              <a:gdLst/>
              <a:ahLst/>
              <a:cxnLst/>
              <a:rect r="r" b="b" t="t" l="l"/>
              <a:pathLst>
                <a:path h="481428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81428"/>
                  </a:lnTo>
                  <a:lnTo>
                    <a:pt x="0" y="481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777" r="-10794" b="-2011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529572" cy="51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Layer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77349" y="3226992"/>
            <a:ext cx="4147179" cy="325946"/>
            <a:chOff x="0" y="0"/>
            <a:chExt cx="5529572" cy="434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29572" cy="434594"/>
            </a:xfrm>
            <a:custGeom>
              <a:avLst/>
              <a:gdLst/>
              <a:ahLst/>
              <a:cxnLst/>
              <a:rect r="r" b="b" t="t" l="l"/>
              <a:pathLst>
                <a:path h="434594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34594"/>
                  </a:lnTo>
                  <a:lnTo>
                    <a:pt x="0" y="43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183" r="-10794" b="-22517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29572" cy="472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· Mobile · AI Chatbot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79619" y="4033905"/>
            <a:ext cx="4542640" cy="798797"/>
            <a:chOff x="0" y="0"/>
            <a:chExt cx="6056853" cy="10650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56853" cy="1065063"/>
            </a:xfrm>
            <a:custGeom>
              <a:avLst/>
              <a:gdLst/>
              <a:ahLst/>
              <a:cxnLst/>
              <a:rect r="r" b="b" t="t" l="l"/>
              <a:pathLst>
                <a:path h="1065063" w="6056853">
                  <a:moveTo>
                    <a:pt x="0" y="141969"/>
                  </a:moveTo>
                  <a:cubicBezTo>
                    <a:pt x="0" y="63522"/>
                    <a:pt x="60981" y="0"/>
                    <a:pt x="136291" y="0"/>
                  </a:cubicBezTo>
                  <a:lnTo>
                    <a:pt x="5920562" y="0"/>
                  </a:lnTo>
                  <a:cubicBezTo>
                    <a:pt x="5995872" y="0"/>
                    <a:pt x="6056853" y="63522"/>
                    <a:pt x="6056853" y="141969"/>
                  </a:cubicBezTo>
                  <a:lnTo>
                    <a:pt x="6056853" y="923094"/>
                  </a:lnTo>
                  <a:cubicBezTo>
                    <a:pt x="6056853" y="1001541"/>
                    <a:pt x="5995872" y="1065063"/>
                    <a:pt x="5920562" y="1065063"/>
                  </a:cubicBezTo>
                  <a:lnTo>
                    <a:pt x="136291" y="1065063"/>
                  </a:lnTo>
                  <a:cubicBezTo>
                    <a:pt x="60981" y="1065063"/>
                    <a:pt x="0" y="1001541"/>
                    <a:pt x="0" y="923094"/>
                  </a:cubicBezTo>
                  <a:close/>
                </a:path>
              </a:pathLst>
            </a:custGeom>
            <a:solidFill>
              <a:srgbClr val="A7EFF1"/>
            </a:solidFill>
            <a:ln w="2667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77349" y="4123815"/>
            <a:ext cx="4147179" cy="361071"/>
            <a:chOff x="0" y="0"/>
            <a:chExt cx="5529572" cy="4814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29572" cy="481428"/>
            </a:xfrm>
            <a:custGeom>
              <a:avLst/>
              <a:gdLst/>
              <a:ahLst/>
              <a:cxnLst/>
              <a:rect r="r" b="b" t="t" l="l"/>
              <a:pathLst>
                <a:path h="481428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81428"/>
                  </a:lnTo>
                  <a:lnTo>
                    <a:pt x="0" y="481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777" r="-10794" b="-20114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529572" cy="51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Layer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777349" y="4442638"/>
            <a:ext cx="4147179" cy="325946"/>
            <a:chOff x="0" y="0"/>
            <a:chExt cx="5529572" cy="4345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29572" cy="434594"/>
            </a:xfrm>
            <a:custGeom>
              <a:avLst/>
              <a:gdLst/>
              <a:ahLst/>
              <a:cxnLst/>
              <a:rect r="r" b="b" t="t" l="l"/>
              <a:pathLst>
                <a:path h="434594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34594"/>
                  </a:lnTo>
                  <a:lnTo>
                    <a:pt x="0" y="43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183" r="-10794" b="-2251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529572" cy="472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Meri Pehchaan SSO / OAuth 2.0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07267" y="5244689"/>
            <a:ext cx="5338924" cy="1121182"/>
            <a:chOff x="0" y="0"/>
            <a:chExt cx="7118566" cy="14949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18566" cy="1494909"/>
            </a:xfrm>
            <a:custGeom>
              <a:avLst/>
              <a:gdLst/>
              <a:ahLst/>
              <a:cxnLst/>
              <a:rect r="r" b="b" t="t" l="l"/>
              <a:pathLst>
                <a:path h="1494909" w="7118566">
                  <a:moveTo>
                    <a:pt x="0" y="140655"/>
                  </a:moveTo>
                  <a:cubicBezTo>
                    <a:pt x="0" y="63044"/>
                    <a:pt x="71132" y="0"/>
                    <a:pt x="158699" y="0"/>
                  </a:cubicBezTo>
                  <a:lnTo>
                    <a:pt x="6959867" y="0"/>
                  </a:lnTo>
                  <a:cubicBezTo>
                    <a:pt x="7047569" y="0"/>
                    <a:pt x="7118566" y="63044"/>
                    <a:pt x="7118566" y="140655"/>
                  </a:cubicBezTo>
                  <a:lnTo>
                    <a:pt x="7118566" y="1354254"/>
                  </a:lnTo>
                  <a:cubicBezTo>
                    <a:pt x="7118566" y="1431984"/>
                    <a:pt x="7047434" y="1494909"/>
                    <a:pt x="6959867" y="1494909"/>
                  </a:cubicBezTo>
                  <a:lnTo>
                    <a:pt x="158699" y="1494909"/>
                  </a:lnTo>
                  <a:cubicBezTo>
                    <a:pt x="71132" y="1494909"/>
                    <a:pt x="0" y="1431865"/>
                    <a:pt x="0" y="1354254"/>
                  </a:cubicBez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D98E0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952443" y="5264879"/>
            <a:ext cx="4147179" cy="444336"/>
            <a:chOff x="0" y="0"/>
            <a:chExt cx="5529572" cy="592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29572" cy="592448"/>
            </a:xfrm>
            <a:custGeom>
              <a:avLst/>
              <a:gdLst/>
              <a:ahLst/>
              <a:cxnLst/>
              <a:rect r="r" b="b" t="t" l="l"/>
              <a:pathLst>
                <a:path h="592448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592448"/>
                  </a:lnTo>
                  <a:lnTo>
                    <a:pt x="0" y="592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78" r="-10794" b="-14471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529572" cy="640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Middleware (core build)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52443" y="5620456"/>
            <a:ext cx="4192167" cy="667580"/>
            <a:chOff x="0" y="0"/>
            <a:chExt cx="5589556" cy="8901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89556" cy="890107"/>
            </a:xfrm>
            <a:custGeom>
              <a:avLst/>
              <a:gdLst/>
              <a:ahLst/>
              <a:cxnLst/>
              <a:rect r="r" b="b" t="t" l="l"/>
              <a:pathLst>
                <a:path h="890107" w="5589556">
                  <a:moveTo>
                    <a:pt x="0" y="0"/>
                  </a:moveTo>
                  <a:lnTo>
                    <a:pt x="5589556" y="0"/>
                  </a:lnTo>
                  <a:lnTo>
                    <a:pt x="5589556" y="890107"/>
                  </a:lnTo>
                  <a:lnTo>
                    <a:pt x="0" y="890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75" r="-9605" b="-844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589556" cy="947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Gateway · Consent Manager · Workflow Engine · Audit Logger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11980" y="7344539"/>
            <a:ext cx="3431159" cy="798797"/>
            <a:chOff x="0" y="0"/>
            <a:chExt cx="4574878" cy="10650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74879" cy="1065063"/>
            </a:xfrm>
            <a:custGeom>
              <a:avLst/>
              <a:gdLst/>
              <a:ahLst/>
              <a:cxnLst/>
              <a:rect r="r" b="b" t="t" l="l"/>
              <a:pathLst>
                <a:path h="1065063" w="4574879">
                  <a:moveTo>
                    <a:pt x="0" y="141969"/>
                  </a:moveTo>
                  <a:cubicBezTo>
                    <a:pt x="0" y="63522"/>
                    <a:pt x="46060" y="0"/>
                    <a:pt x="102943" y="0"/>
                  </a:cubicBezTo>
                  <a:lnTo>
                    <a:pt x="4471935" y="0"/>
                  </a:lnTo>
                  <a:cubicBezTo>
                    <a:pt x="4528818" y="0"/>
                    <a:pt x="4574879" y="63522"/>
                    <a:pt x="4574879" y="141969"/>
                  </a:cubicBezTo>
                  <a:lnTo>
                    <a:pt x="4574879" y="923094"/>
                  </a:lnTo>
                  <a:cubicBezTo>
                    <a:pt x="4574879" y="1001541"/>
                    <a:pt x="4528818" y="1065063"/>
                    <a:pt x="4471935" y="1065063"/>
                  </a:cubicBezTo>
                  <a:lnTo>
                    <a:pt x="102943" y="1065063"/>
                  </a:lnTo>
                  <a:cubicBezTo>
                    <a:pt x="46060" y="1065063"/>
                    <a:pt x="0" y="1001541"/>
                    <a:pt x="0" y="923094"/>
                  </a:cubicBezTo>
                  <a:close/>
                </a:path>
              </a:pathLst>
            </a:custGeom>
            <a:solidFill>
              <a:srgbClr val="FFC2E8"/>
            </a:solidFill>
            <a:ln w="2667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729551" y="7434448"/>
            <a:ext cx="4147179" cy="361071"/>
            <a:chOff x="0" y="0"/>
            <a:chExt cx="5529572" cy="4814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29572" cy="481428"/>
            </a:xfrm>
            <a:custGeom>
              <a:avLst/>
              <a:gdLst/>
              <a:ahLst/>
              <a:cxnLst/>
              <a:rect r="r" b="b" t="t" l="l"/>
              <a:pathLst>
                <a:path h="481428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81428"/>
                  </a:lnTo>
                  <a:lnTo>
                    <a:pt x="0" y="481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777" r="-10794" b="-20114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529572" cy="51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Adapter Layer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729551" y="7753272"/>
            <a:ext cx="4147179" cy="325946"/>
            <a:chOff x="0" y="0"/>
            <a:chExt cx="5529572" cy="4345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29572" cy="434594"/>
            </a:xfrm>
            <a:custGeom>
              <a:avLst/>
              <a:gdLst/>
              <a:ahLst/>
              <a:cxnLst/>
              <a:rect r="r" b="b" t="t" l="l"/>
              <a:pathLst>
                <a:path h="434594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34594"/>
                  </a:lnTo>
                  <a:lnTo>
                    <a:pt x="0" y="43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183" r="-10794" b="-2251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529572" cy="472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· RTO · Certificate adapters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63436" y="7353873"/>
            <a:ext cx="3135702" cy="798797"/>
            <a:chOff x="0" y="0"/>
            <a:chExt cx="4180936" cy="10650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80936" cy="1065063"/>
            </a:xfrm>
            <a:custGeom>
              <a:avLst/>
              <a:gdLst/>
              <a:ahLst/>
              <a:cxnLst/>
              <a:rect r="r" b="b" t="t" l="l"/>
              <a:pathLst>
                <a:path h="1065063" w="4180936">
                  <a:moveTo>
                    <a:pt x="0" y="141969"/>
                  </a:moveTo>
                  <a:cubicBezTo>
                    <a:pt x="0" y="63522"/>
                    <a:pt x="42094" y="0"/>
                    <a:pt x="94079" y="0"/>
                  </a:cubicBezTo>
                  <a:lnTo>
                    <a:pt x="4086857" y="0"/>
                  </a:lnTo>
                  <a:cubicBezTo>
                    <a:pt x="4138842" y="0"/>
                    <a:pt x="4180936" y="63522"/>
                    <a:pt x="4180936" y="141969"/>
                  </a:cubicBezTo>
                  <a:lnTo>
                    <a:pt x="4180936" y="923094"/>
                  </a:lnTo>
                  <a:cubicBezTo>
                    <a:pt x="4180936" y="1001541"/>
                    <a:pt x="4138842" y="1065063"/>
                    <a:pt x="4086857" y="1065063"/>
                  </a:cubicBezTo>
                  <a:lnTo>
                    <a:pt x="94079" y="1065063"/>
                  </a:lnTo>
                  <a:cubicBezTo>
                    <a:pt x="42094" y="1065063"/>
                    <a:pt x="0" y="1001541"/>
                    <a:pt x="0" y="923094"/>
                  </a:cubicBezTo>
                  <a:close/>
                </a:path>
              </a:pathLst>
            </a:custGeom>
            <a:solidFill>
              <a:srgbClr val="FFF3C2"/>
            </a:solidFill>
            <a:ln w="26670" cap="sq">
              <a:solidFill>
                <a:srgbClr val="5B6B8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780913" y="7443782"/>
            <a:ext cx="4147179" cy="361071"/>
            <a:chOff x="0" y="0"/>
            <a:chExt cx="5529572" cy="4814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29572" cy="481428"/>
            </a:xfrm>
            <a:custGeom>
              <a:avLst/>
              <a:gdLst/>
              <a:ahLst/>
              <a:cxnLst/>
              <a:rect r="r" b="b" t="t" l="l"/>
              <a:pathLst>
                <a:path h="481428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81428"/>
                  </a:lnTo>
                  <a:lnTo>
                    <a:pt x="0" y="481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777" r="-10794" b="-2011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529572" cy="51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Backends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780913" y="7762606"/>
            <a:ext cx="4147179" cy="325946"/>
            <a:chOff x="0" y="0"/>
            <a:chExt cx="5529572" cy="4345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29572" cy="434594"/>
            </a:xfrm>
            <a:custGeom>
              <a:avLst/>
              <a:gdLst/>
              <a:ahLst/>
              <a:cxnLst/>
              <a:rect r="r" b="b" t="t" l="l"/>
              <a:pathLst>
                <a:path h="434594" w="5529572">
                  <a:moveTo>
                    <a:pt x="0" y="0"/>
                  </a:moveTo>
                  <a:lnTo>
                    <a:pt x="5529572" y="0"/>
                  </a:lnTo>
                  <a:lnTo>
                    <a:pt x="5529572" y="434594"/>
                  </a:lnTo>
                  <a:lnTo>
                    <a:pt x="0" y="43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183" r="-10794" b="-2251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529572" cy="472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Mocked in MVP demo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90729" y="1487234"/>
            <a:ext cx="5143500" cy="419086"/>
            <a:chOff x="0" y="0"/>
            <a:chExt cx="6858000" cy="55878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58000" cy="558781"/>
            </a:xfrm>
            <a:custGeom>
              <a:avLst/>
              <a:gdLst/>
              <a:ahLst/>
              <a:cxnLst/>
              <a:rect r="r" b="b" t="t" l="l"/>
              <a:pathLst>
                <a:path h="558781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58781"/>
                  </a:lnTo>
                  <a:lnTo>
                    <a:pt x="0" y="558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050" r="0" b="-18823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858000" cy="60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9"/>
                </a:lnSpc>
              </a:pPr>
              <a:r>
                <a:rPr lang="en-US" sz="2124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 USED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71679" y="2047875"/>
            <a:ext cx="5162550" cy="1051772"/>
            <a:chOff x="0" y="0"/>
            <a:chExt cx="6883400" cy="140236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928092" y="2150491"/>
            <a:ext cx="4649724" cy="368699"/>
            <a:chOff x="0" y="0"/>
            <a:chExt cx="6199632" cy="4915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28092" y="2481022"/>
            <a:ext cx="4649724" cy="529934"/>
            <a:chOff x="0" y="0"/>
            <a:chExt cx="6199632" cy="7065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— citizen portal &amp; consent dashboard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671679" y="3213730"/>
            <a:ext cx="5162550" cy="1051772"/>
            <a:chOff x="0" y="0"/>
            <a:chExt cx="6883400" cy="140236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928092" y="3316346"/>
            <a:ext cx="4649724" cy="368699"/>
            <a:chOff x="0" y="0"/>
            <a:chExt cx="6199632" cy="4915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928092" y="3646877"/>
            <a:ext cx="4649724" cy="529934"/>
            <a:chOff x="0" y="0"/>
            <a:chExt cx="6199632" cy="7065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Node.js/Express or Python FastAPI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671679" y="4379584"/>
            <a:ext cx="5162550" cy="1051772"/>
            <a:chOff x="0" y="0"/>
            <a:chExt cx="6883400" cy="140236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928092" y="4482200"/>
            <a:ext cx="4649724" cy="368699"/>
            <a:chOff x="0" y="0"/>
            <a:chExt cx="6199632" cy="4915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Gateway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928092" y="4812732"/>
            <a:ext cx="4649724" cy="529934"/>
            <a:chOff x="0" y="0"/>
            <a:chExt cx="6199632" cy="7065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Kong (Docker) or Express middleware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71679" y="5545439"/>
            <a:ext cx="5162550" cy="1051772"/>
            <a:chOff x="0" y="0"/>
            <a:chExt cx="6883400" cy="140236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2928092" y="5648055"/>
            <a:ext cx="4649724" cy="368699"/>
            <a:chOff x="0" y="0"/>
            <a:chExt cx="6199632" cy="49159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928092" y="5978586"/>
            <a:ext cx="4649724" cy="529934"/>
            <a:chOff x="0" y="0"/>
            <a:chExt cx="6199632" cy="70657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(prod) · SQLite (demo)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671679" y="6711293"/>
            <a:ext cx="5162550" cy="1051772"/>
            <a:chOff x="0" y="0"/>
            <a:chExt cx="6883400" cy="140236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928092" y="6813909"/>
            <a:ext cx="4649724" cy="368699"/>
            <a:chOff x="0" y="0"/>
            <a:chExt cx="6199632" cy="49159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928092" y="7144441"/>
            <a:ext cx="4649724" cy="529934"/>
            <a:chOff x="0" y="0"/>
            <a:chExt cx="6199632" cy="70657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Passport.js (OAuth 2.0) → Meri Pehchaan in prod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671679" y="7877148"/>
            <a:ext cx="5162550" cy="1051772"/>
            <a:chOff x="0" y="0"/>
            <a:chExt cx="6883400" cy="140236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83400" cy="1402362"/>
            </a:xfrm>
            <a:custGeom>
              <a:avLst/>
              <a:gdLst/>
              <a:ahLst/>
              <a:cxnLst/>
              <a:rect r="r" b="b" t="t" l="l"/>
              <a:pathLst>
                <a:path h="1402362" w="6883400">
                  <a:moveTo>
                    <a:pt x="0" y="143769"/>
                  </a:moveTo>
                  <a:cubicBezTo>
                    <a:pt x="0" y="64402"/>
                    <a:pt x="66675" y="0"/>
                    <a:pt x="148844" y="0"/>
                  </a:cubicBezTo>
                  <a:lnTo>
                    <a:pt x="6734556" y="0"/>
                  </a:lnTo>
                  <a:cubicBezTo>
                    <a:pt x="6816725" y="0"/>
                    <a:pt x="6883400" y="64402"/>
                    <a:pt x="6883400" y="143769"/>
                  </a:cubicBezTo>
                  <a:lnTo>
                    <a:pt x="6883400" y="1258593"/>
                  </a:lnTo>
                  <a:cubicBezTo>
                    <a:pt x="6883400" y="1338083"/>
                    <a:pt x="6816725" y="1402362"/>
                    <a:pt x="6734556" y="1402362"/>
                  </a:cubicBezTo>
                  <a:lnTo>
                    <a:pt x="148844" y="1402362"/>
                  </a:lnTo>
                  <a:cubicBezTo>
                    <a:pt x="66675" y="1402362"/>
                    <a:pt x="0" y="1337960"/>
                    <a:pt x="0" y="125859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928092" y="7979764"/>
            <a:ext cx="4649724" cy="368699"/>
            <a:chOff x="0" y="0"/>
            <a:chExt cx="6199632" cy="49159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199632" cy="491599"/>
            </a:xfrm>
            <a:custGeom>
              <a:avLst/>
              <a:gdLst/>
              <a:ahLst/>
              <a:cxnLst/>
              <a:rect r="r" b="b" t="t" l="l"/>
              <a:pathLst>
                <a:path h="49159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491599"/>
                  </a:lnTo>
                  <a:lnTo>
                    <a:pt x="0" y="49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87" r="0" b="-19037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199632" cy="52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Hosting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928092" y="8310295"/>
            <a:ext cx="4649724" cy="529934"/>
            <a:chOff x="0" y="0"/>
            <a:chExt cx="6199632" cy="70657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199632" cy="706579"/>
            </a:xfrm>
            <a:custGeom>
              <a:avLst/>
              <a:gdLst/>
              <a:ahLst/>
              <a:cxnLst/>
              <a:rect r="r" b="b" t="t" l="l"/>
              <a:pathLst>
                <a:path h="706579" w="6199632">
                  <a:moveTo>
                    <a:pt x="0" y="0"/>
                  </a:moveTo>
                  <a:lnTo>
                    <a:pt x="6199632" y="0"/>
                  </a:lnTo>
                  <a:lnTo>
                    <a:pt x="6199632" y="706579"/>
                  </a:lnTo>
                  <a:lnTo>
                    <a:pt x="0" y="706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99" r="0" b="-12272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199632" cy="75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1"/>
                </a:lnSpc>
              </a:pPr>
              <a:r>
                <a:rPr lang="en-US" sz="17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Railway / Vercel / Render (free tier)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0" y="9793224"/>
            <a:ext cx="18283428" cy="493776"/>
            <a:chOff x="0" y="0"/>
            <a:chExt cx="24377904" cy="6583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77904" cy="658368"/>
            </a:xfrm>
            <a:custGeom>
              <a:avLst/>
              <a:gdLst/>
              <a:ahLst/>
              <a:cxnLst/>
              <a:rect r="r" b="b" t="t" l="l"/>
              <a:pathLst>
                <a:path h="65836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81B33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7282160" y="9793224"/>
            <a:ext cx="685800" cy="493776"/>
            <a:chOff x="0" y="0"/>
            <a:chExt cx="914400" cy="6583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14400" cy="658368"/>
            </a:xfrm>
            <a:custGeom>
              <a:avLst/>
              <a:gdLst/>
              <a:ahLst/>
              <a:cxnLst/>
              <a:rect r="r" b="b" t="t" l="l"/>
              <a:pathLst>
                <a:path h="658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144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FC3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AutoShape 109" id="109"/>
          <p:cNvSpPr/>
          <p:nvPr/>
        </p:nvSpPr>
        <p:spPr>
          <a:xfrm>
            <a:off x="8850939" y="3617057"/>
            <a:ext cx="0" cy="416848"/>
          </a:xfrm>
          <a:prstGeom prst="line">
            <a:avLst/>
          </a:prstGeom>
          <a:ln cap="flat" w="38100">
            <a:solidFill>
              <a:srgbClr val="000000">
                <a:alpha val="63922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0" id="110"/>
          <p:cNvSpPr/>
          <p:nvPr/>
        </p:nvSpPr>
        <p:spPr>
          <a:xfrm>
            <a:off x="8876730" y="4809931"/>
            <a:ext cx="0" cy="416848"/>
          </a:xfrm>
          <a:prstGeom prst="line">
            <a:avLst/>
          </a:prstGeom>
          <a:ln cap="flat" w="38100">
            <a:solidFill>
              <a:srgbClr val="000000">
                <a:alpha val="63922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1" id="111"/>
          <p:cNvSpPr/>
          <p:nvPr/>
        </p:nvSpPr>
        <p:spPr>
          <a:xfrm>
            <a:off x="6785946" y="6905738"/>
            <a:ext cx="40399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flipV="true">
            <a:off x="8876730" y="6366484"/>
            <a:ext cx="0" cy="539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>
            <a:off x="10806878" y="6882607"/>
            <a:ext cx="0" cy="443375"/>
          </a:xfrm>
          <a:prstGeom prst="line">
            <a:avLst/>
          </a:prstGeom>
          <a:ln cap="flat" w="38100">
            <a:solidFill>
              <a:srgbClr val="000000">
                <a:alpha val="63922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4" id="114"/>
          <p:cNvSpPr/>
          <p:nvPr/>
        </p:nvSpPr>
        <p:spPr>
          <a:xfrm>
            <a:off x="6758299" y="6882607"/>
            <a:ext cx="0" cy="443375"/>
          </a:xfrm>
          <a:prstGeom prst="line">
            <a:avLst/>
          </a:prstGeom>
          <a:ln cap="flat" w="38100">
            <a:solidFill>
              <a:srgbClr val="000000">
                <a:alpha val="63922"/>
              </a:srgbClr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313024" y="1487234"/>
            <a:ext cx="6309360" cy="419086"/>
            <a:chOff x="0" y="0"/>
            <a:chExt cx="8412480" cy="55878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412480" cy="558781"/>
            </a:xfrm>
            <a:custGeom>
              <a:avLst/>
              <a:gdLst/>
              <a:ahLst/>
              <a:cxnLst/>
              <a:rect r="r" b="b" t="t" l="l"/>
              <a:pathLst>
                <a:path h="558781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58781"/>
                  </a:lnTo>
                  <a:lnTo>
                    <a:pt x="0" y="558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255" r="0" b="-24244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8412480" cy="60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124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— DEMO WALKTHROUGH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61776" y="2091334"/>
            <a:ext cx="685800" cy="724320"/>
            <a:chOff x="0" y="0"/>
            <a:chExt cx="914400" cy="96576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482880"/>
                  </a:moveTo>
                  <a:cubicBezTo>
                    <a:pt x="0" y="216223"/>
                    <a:pt x="204724" y="0"/>
                    <a:pt x="457200" y="0"/>
                  </a:cubicBezTo>
                  <a:cubicBezTo>
                    <a:pt x="709676" y="0"/>
                    <a:pt x="914400" y="216223"/>
                    <a:pt x="914400" y="482880"/>
                  </a:cubicBezTo>
                  <a:cubicBezTo>
                    <a:pt x="914400" y="749538"/>
                    <a:pt x="709676" y="965761"/>
                    <a:pt x="457200" y="965761"/>
                  </a:cubicBezTo>
                  <a:cubicBezTo>
                    <a:pt x="204724" y="965761"/>
                    <a:pt x="0" y="749538"/>
                    <a:pt x="0" y="4828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61776" y="2091334"/>
            <a:ext cx="685800" cy="724320"/>
            <a:chOff x="0" y="0"/>
            <a:chExt cx="914400" cy="96576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5761"/>
                  </a:lnTo>
                  <a:lnTo>
                    <a:pt x="0" y="96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531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914400" cy="1003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94464" y="2047875"/>
            <a:ext cx="5349240" cy="405619"/>
            <a:chOff x="0" y="0"/>
            <a:chExt cx="7132320" cy="54082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132320" cy="540826"/>
            </a:xfrm>
            <a:custGeom>
              <a:avLst/>
              <a:gdLst/>
              <a:ahLst/>
              <a:cxnLst/>
              <a:rect r="r" b="b" t="t" l="l"/>
              <a:pathLst>
                <a:path h="5408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0826"/>
                  </a:lnTo>
                  <a:lnTo>
                    <a:pt x="0" y="54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24" r="0" b="-20430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7132320" cy="57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SSO Login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94464" y="2453494"/>
            <a:ext cx="4585861" cy="796753"/>
            <a:chOff x="0" y="0"/>
            <a:chExt cx="6114481" cy="1062337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114481" cy="1062337"/>
            </a:xfrm>
            <a:custGeom>
              <a:avLst/>
              <a:gdLst/>
              <a:ahLst/>
              <a:cxnLst/>
              <a:rect r="r" b="b" t="t" l="l"/>
              <a:pathLst>
                <a:path h="1062337" w="6114481">
                  <a:moveTo>
                    <a:pt x="0" y="0"/>
                  </a:moveTo>
                  <a:lnTo>
                    <a:pt x="6114481" y="0"/>
                  </a:lnTo>
                  <a:lnTo>
                    <a:pt x="6114481" y="1062337"/>
                  </a:lnTo>
                  <a:lnTo>
                    <a:pt x="0" y="10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7" r="-16646" b="-7815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6114481" cy="111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4"/>
                </a:lnSpc>
              </a:pPr>
              <a:r>
                <a:rPr lang="en-US" sz="17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 signs in once via Meri Pehchaan / OAuth 2.0 stub — no separate registration.</a:t>
              </a:r>
            </a:p>
          </p:txBody>
        </p:sp>
      </p:grpSp>
      <p:sp>
        <p:nvSpPr>
          <p:cNvPr name="AutoShape 129" id="129"/>
          <p:cNvSpPr/>
          <p:nvPr/>
        </p:nvSpPr>
        <p:spPr>
          <a:xfrm>
            <a:off x="490392" y="2800564"/>
            <a:ext cx="28578" cy="638611"/>
          </a:xfrm>
          <a:prstGeom prst="line">
            <a:avLst/>
          </a:prstGeom>
          <a:ln cap="rnd" w="19050">
            <a:solidFill>
              <a:srgbClr val="C3C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0" id="130"/>
          <p:cNvGrpSpPr/>
          <p:nvPr/>
        </p:nvGrpSpPr>
        <p:grpSpPr>
          <a:xfrm rot="0">
            <a:off x="161776" y="3511002"/>
            <a:ext cx="685800" cy="724320"/>
            <a:chOff x="0" y="0"/>
            <a:chExt cx="914400" cy="96576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482880"/>
                  </a:moveTo>
                  <a:cubicBezTo>
                    <a:pt x="0" y="216223"/>
                    <a:pt x="204724" y="0"/>
                    <a:pt x="457200" y="0"/>
                  </a:cubicBezTo>
                  <a:cubicBezTo>
                    <a:pt x="709676" y="0"/>
                    <a:pt x="914400" y="216223"/>
                    <a:pt x="914400" y="482880"/>
                  </a:cubicBezTo>
                  <a:cubicBezTo>
                    <a:pt x="914400" y="749538"/>
                    <a:pt x="709676" y="965761"/>
                    <a:pt x="457200" y="965761"/>
                  </a:cubicBezTo>
                  <a:cubicBezTo>
                    <a:pt x="204724" y="965761"/>
                    <a:pt x="0" y="749538"/>
                    <a:pt x="0" y="4828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61776" y="3511002"/>
            <a:ext cx="685800" cy="724320"/>
            <a:chOff x="0" y="0"/>
            <a:chExt cx="914400" cy="96576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5761"/>
                  </a:lnTo>
                  <a:lnTo>
                    <a:pt x="0" y="96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531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914400" cy="1003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94464" y="3467543"/>
            <a:ext cx="5349240" cy="405619"/>
            <a:chOff x="0" y="0"/>
            <a:chExt cx="7132320" cy="54082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132320" cy="540826"/>
            </a:xfrm>
            <a:custGeom>
              <a:avLst/>
              <a:gdLst/>
              <a:ahLst/>
              <a:cxnLst/>
              <a:rect r="r" b="b" t="t" l="l"/>
              <a:pathLst>
                <a:path h="5408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0826"/>
                  </a:lnTo>
                  <a:lnTo>
                    <a:pt x="0" y="54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24" r="0" b="-204306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7132320" cy="57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Request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094464" y="3873163"/>
            <a:ext cx="4585861" cy="796753"/>
            <a:chOff x="0" y="0"/>
            <a:chExt cx="6114481" cy="1062337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114481" cy="1062337"/>
            </a:xfrm>
            <a:custGeom>
              <a:avLst/>
              <a:gdLst/>
              <a:ahLst/>
              <a:cxnLst/>
              <a:rect r="r" b="b" t="t" l="l"/>
              <a:pathLst>
                <a:path h="1062337" w="6114481">
                  <a:moveTo>
                    <a:pt x="0" y="0"/>
                  </a:moveTo>
                  <a:lnTo>
                    <a:pt x="6114481" y="0"/>
                  </a:lnTo>
                  <a:lnTo>
                    <a:pt x="6114481" y="1062337"/>
                  </a:lnTo>
                  <a:lnTo>
                    <a:pt x="0" y="10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7" r="-16646" b="-78159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57150"/>
              <a:ext cx="6114481" cy="111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4"/>
                </a:lnSpc>
              </a:pPr>
              <a:r>
                <a:rPr lang="en-US" sz="17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 applies for a service; system identifies which departments' data are needed.</a:t>
              </a:r>
            </a:p>
          </p:txBody>
        </p:sp>
      </p:grpSp>
      <p:sp>
        <p:nvSpPr>
          <p:cNvPr name="AutoShape 141" id="141"/>
          <p:cNvSpPr/>
          <p:nvPr/>
        </p:nvSpPr>
        <p:spPr>
          <a:xfrm>
            <a:off x="490392" y="4220232"/>
            <a:ext cx="28578" cy="638611"/>
          </a:xfrm>
          <a:prstGeom prst="line">
            <a:avLst/>
          </a:prstGeom>
          <a:ln cap="rnd" w="19050">
            <a:solidFill>
              <a:srgbClr val="C3C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2" id="142"/>
          <p:cNvGrpSpPr/>
          <p:nvPr/>
        </p:nvGrpSpPr>
        <p:grpSpPr>
          <a:xfrm rot="0">
            <a:off x="161776" y="4930671"/>
            <a:ext cx="685800" cy="724320"/>
            <a:chOff x="0" y="0"/>
            <a:chExt cx="914400" cy="96576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482880"/>
                  </a:moveTo>
                  <a:cubicBezTo>
                    <a:pt x="0" y="216223"/>
                    <a:pt x="204724" y="0"/>
                    <a:pt x="457200" y="0"/>
                  </a:cubicBezTo>
                  <a:cubicBezTo>
                    <a:pt x="709676" y="0"/>
                    <a:pt x="914400" y="216223"/>
                    <a:pt x="914400" y="482880"/>
                  </a:cubicBezTo>
                  <a:cubicBezTo>
                    <a:pt x="914400" y="749538"/>
                    <a:pt x="709676" y="965761"/>
                    <a:pt x="457200" y="965761"/>
                  </a:cubicBezTo>
                  <a:cubicBezTo>
                    <a:pt x="204724" y="965761"/>
                    <a:pt x="0" y="749538"/>
                    <a:pt x="0" y="48288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61776" y="4930671"/>
            <a:ext cx="685800" cy="724320"/>
            <a:chOff x="0" y="0"/>
            <a:chExt cx="914400" cy="96576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5761"/>
                  </a:lnTo>
                  <a:lnTo>
                    <a:pt x="0" y="96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531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914400" cy="1003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094464" y="4887211"/>
            <a:ext cx="5349240" cy="405619"/>
            <a:chOff x="0" y="0"/>
            <a:chExt cx="7132320" cy="54082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132320" cy="540826"/>
            </a:xfrm>
            <a:custGeom>
              <a:avLst/>
              <a:gdLst/>
              <a:ahLst/>
              <a:cxnLst/>
              <a:rect r="r" b="b" t="t" l="l"/>
              <a:pathLst>
                <a:path h="5408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0826"/>
                  </a:lnTo>
                  <a:lnTo>
                    <a:pt x="0" y="54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24" r="0" b="-204306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7132320" cy="57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Consent Request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094464" y="5292831"/>
            <a:ext cx="4585861" cy="796753"/>
            <a:chOff x="0" y="0"/>
            <a:chExt cx="6114481" cy="106233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114481" cy="1062337"/>
            </a:xfrm>
            <a:custGeom>
              <a:avLst/>
              <a:gdLst/>
              <a:ahLst/>
              <a:cxnLst/>
              <a:rect r="r" b="b" t="t" l="l"/>
              <a:pathLst>
                <a:path h="1062337" w="6114481">
                  <a:moveTo>
                    <a:pt x="0" y="0"/>
                  </a:moveTo>
                  <a:lnTo>
                    <a:pt x="6114481" y="0"/>
                  </a:lnTo>
                  <a:lnTo>
                    <a:pt x="6114481" y="1062337"/>
                  </a:lnTo>
                  <a:lnTo>
                    <a:pt x="0" y="10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7" r="-16646" b="-78159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57150"/>
              <a:ext cx="6114481" cy="111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4"/>
                </a:lnSpc>
              </a:pPr>
              <a:r>
                <a:rPr lang="en-US" sz="17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 Manager asks the citizen to approve each department data pull.</a:t>
              </a:r>
            </a:p>
          </p:txBody>
        </p:sp>
      </p:grpSp>
      <p:sp>
        <p:nvSpPr>
          <p:cNvPr name="AutoShape 153" id="153"/>
          <p:cNvSpPr/>
          <p:nvPr/>
        </p:nvSpPr>
        <p:spPr>
          <a:xfrm>
            <a:off x="490392" y="5639900"/>
            <a:ext cx="28578" cy="638611"/>
          </a:xfrm>
          <a:prstGeom prst="line">
            <a:avLst/>
          </a:prstGeom>
          <a:ln cap="rnd" w="19050">
            <a:solidFill>
              <a:srgbClr val="C3C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4" id="154"/>
          <p:cNvGrpSpPr/>
          <p:nvPr/>
        </p:nvGrpSpPr>
        <p:grpSpPr>
          <a:xfrm rot="0">
            <a:off x="161776" y="6350339"/>
            <a:ext cx="685800" cy="724320"/>
            <a:chOff x="0" y="0"/>
            <a:chExt cx="914400" cy="96576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482880"/>
                  </a:moveTo>
                  <a:cubicBezTo>
                    <a:pt x="0" y="216223"/>
                    <a:pt x="204724" y="0"/>
                    <a:pt x="457200" y="0"/>
                  </a:cubicBezTo>
                  <a:cubicBezTo>
                    <a:pt x="709676" y="0"/>
                    <a:pt x="914400" y="216223"/>
                    <a:pt x="914400" y="482880"/>
                  </a:cubicBezTo>
                  <a:cubicBezTo>
                    <a:pt x="914400" y="749538"/>
                    <a:pt x="709676" y="965761"/>
                    <a:pt x="457200" y="965761"/>
                  </a:cubicBezTo>
                  <a:cubicBezTo>
                    <a:pt x="204724" y="965761"/>
                    <a:pt x="0" y="749538"/>
                    <a:pt x="0" y="4828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61776" y="6350339"/>
            <a:ext cx="685800" cy="724320"/>
            <a:chOff x="0" y="0"/>
            <a:chExt cx="914400" cy="965761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5761"/>
                  </a:lnTo>
                  <a:lnTo>
                    <a:pt x="0" y="96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5318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914400" cy="1003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94464" y="6306879"/>
            <a:ext cx="5349240" cy="405619"/>
            <a:chOff x="0" y="0"/>
            <a:chExt cx="7132320" cy="54082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132320" cy="540826"/>
            </a:xfrm>
            <a:custGeom>
              <a:avLst/>
              <a:gdLst/>
              <a:ahLst/>
              <a:cxnLst/>
              <a:rect r="r" b="b" t="t" l="l"/>
              <a:pathLst>
                <a:path h="5408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0826"/>
                  </a:lnTo>
                  <a:lnTo>
                    <a:pt x="0" y="54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24" r="0" b="-204306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7132320" cy="57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Federated Fetch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94464" y="6712499"/>
            <a:ext cx="4585861" cy="796753"/>
            <a:chOff x="0" y="0"/>
            <a:chExt cx="6114481" cy="1062337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114481" cy="1062337"/>
            </a:xfrm>
            <a:custGeom>
              <a:avLst/>
              <a:gdLst/>
              <a:ahLst/>
              <a:cxnLst/>
              <a:rect r="r" b="b" t="t" l="l"/>
              <a:pathLst>
                <a:path h="1062337" w="6114481">
                  <a:moveTo>
                    <a:pt x="0" y="0"/>
                  </a:moveTo>
                  <a:lnTo>
                    <a:pt x="6114481" y="0"/>
                  </a:lnTo>
                  <a:lnTo>
                    <a:pt x="6114481" y="1062337"/>
                  </a:lnTo>
                  <a:lnTo>
                    <a:pt x="0" y="10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7" r="-16646" b="-78159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57150"/>
              <a:ext cx="6114481" cy="111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4"/>
                </a:lnSpc>
              </a:pPr>
              <a:r>
                <a:rPr lang="en-US" sz="17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Approved adapters pull data live from source departments — nothing copied centrally.</a:t>
              </a:r>
            </a:p>
          </p:txBody>
        </p:sp>
      </p:grpSp>
      <p:sp>
        <p:nvSpPr>
          <p:cNvPr name="AutoShape 165" id="165"/>
          <p:cNvSpPr/>
          <p:nvPr/>
        </p:nvSpPr>
        <p:spPr>
          <a:xfrm>
            <a:off x="490392" y="7059568"/>
            <a:ext cx="28578" cy="638611"/>
          </a:xfrm>
          <a:prstGeom prst="line">
            <a:avLst/>
          </a:prstGeom>
          <a:ln cap="rnd" w="19050">
            <a:solidFill>
              <a:srgbClr val="C3C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6" id="166"/>
          <p:cNvGrpSpPr/>
          <p:nvPr/>
        </p:nvGrpSpPr>
        <p:grpSpPr>
          <a:xfrm rot="0">
            <a:off x="161776" y="7770007"/>
            <a:ext cx="685800" cy="724320"/>
            <a:chOff x="0" y="0"/>
            <a:chExt cx="914400" cy="96576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482880"/>
                  </a:moveTo>
                  <a:cubicBezTo>
                    <a:pt x="0" y="216223"/>
                    <a:pt x="204724" y="0"/>
                    <a:pt x="457200" y="0"/>
                  </a:cubicBezTo>
                  <a:cubicBezTo>
                    <a:pt x="709676" y="0"/>
                    <a:pt x="914400" y="216223"/>
                    <a:pt x="914400" y="482880"/>
                  </a:cubicBezTo>
                  <a:cubicBezTo>
                    <a:pt x="914400" y="749538"/>
                    <a:pt x="709676" y="965761"/>
                    <a:pt x="457200" y="965761"/>
                  </a:cubicBezTo>
                  <a:cubicBezTo>
                    <a:pt x="204724" y="965761"/>
                    <a:pt x="0" y="749538"/>
                    <a:pt x="0" y="48288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61776" y="7770007"/>
            <a:ext cx="685800" cy="724320"/>
            <a:chOff x="0" y="0"/>
            <a:chExt cx="914400" cy="96576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14400" cy="965761"/>
            </a:xfrm>
            <a:custGeom>
              <a:avLst/>
              <a:gdLst/>
              <a:ahLst/>
              <a:cxnLst/>
              <a:rect r="r" b="b" t="t" l="l"/>
              <a:pathLst>
                <a:path h="965761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5761"/>
                  </a:lnTo>
                  <a:lnTo>
                    <a:pt x="0" y="96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5318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914400" cy="1003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094464" y="7726548"/>
            <a:ext cx="5349240" cy="405619"/>
            <a:chOff x="0" y="0"/>
            <a:chExt cx="7132320" cy="54082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7132320" cy="540826"/>
            </a:xfrm>
            <a:custGeom>
              <a:avLst/>
              <a:gdLst/>
              <a:ahLst/>
              <a:cxnLst/>
              <a:rect r="r" b="b" t="t" l="l"/>
              <a:pathLst>
                <a:path h="5408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0826"/>
                  </a:lnTo>
                  <a:lnTo>
                    <a:pt x="0" y="54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24" r="0" b="-204306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7132320" cy="57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&amp; Review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94464" y="8132167"/>
            <a:ext cx="3857776" cy="796753"/>
            <a:chOff x="0" y="0"/>
            <a:chExt cx="5143702" cy="1062337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143702" cy="1062337"/>
            </a:xfrm>
            <a:custGeom>
              <a:avLst/>
              <a:gdLst/>
              <a:ahLst/>
              <a:cxnLst/>
              <a:rect r="r" b="b" t="t" l="l"/>
              <a:pathLst>
                <a:path h="1062337" w="5143702">
                  <a:moveTo>
                    <a:pt x="0" y="0"/>
                  </a:moveTo>
                  <a:lnTo>
                    <a:pt x="5143702" y="0"/>
                  </a:lnTo>
                  <a:lnTo>
                    <a:pt x="5143702" y="1062337"/>
                  </a:lnTo>
                  <a:lnTo>
                    <a:pt x="0" y="10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7" r="-38661" b="-78159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57150"/>
              <a:ext cx="5143702" cy="111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4"/>
                </a:lnSpc>
              </a:pPr>
              <a:r>
                <a:rPr lang="en-US" sz="1749">
                  <a:solidFill>
                    <a:srgbClr val="15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access is logged; citizen can view or revoke consent anytime.</a:t>
              </a:r>
            </a:p>
          </p:txBody>
        </p:sp>
      </p:grpSp>
      <p:sp>
        <p:nvSpPr>
          <p:cNvPr name="TextBox 177" id="177"/>
          <p:cNvSpPr txBox="true"/>
          <p:nvPr/>
        </p:nvSpPr>
        <p:spPr>
          <a:xfrm rot="0">
            <a:off x="7269823" y="9863880"/>
            <a:ext cx="374378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SIH 2026</a:t>
            </a: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 Idea Submission — MahaLink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401955"/>
            <a:ext cx="2076450" cy="869442"/>
            <a:chOff x="0" y="0"/>
            <a:chExt cx="2768600" cy="1159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8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7686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2581656" y="0"/>
                  </a:lnTo>
                  <a:cubicBezTo>
                    <a:pt x="2684907" y="0"/>
                    <a:pt x="2768600" y="83693"/>
                    <a:pt x="2768600" y="186944"/>
                  </a:cubicBezTo>
                  <a:lnTo>
                    <a:pt x="2768600" y="972312"/>
                  </a:lnTo>
                  <a:cubicBezTo>
                    <a:pt x="2768600" y="1075563"/>
                    <a:pt x="2684907" y="1159256"/>
                    <a:pt x="2581656" y="1159256"/>
                  </a:cubicBezTo>
                  <a:lnTo>
                    <a:pt x="186944" y="1159256"/>
                  </a:lnTo>
                  <a:cubicBezTo>
                    <a:pt x="83693" y="1159256"/>
                    <a:pt x="0" y="1075563"/>
                    <a:pt x="0" y="9723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411480"/>
            <a:ext cx="2057400" cy="850392"/>
            <a:chOff x="0" y="0"/>
            <a:chExt cx="274320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32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gradFill>
                    <a:gsLst>
                      <a:gs pos="0">
                        <a:srgbClr val="091E27">
                          <a:alpha val="100000"/>
                        </a:srgbClr>
                      </a:gs>
                      <a:gs pos="100000">
                        <a:srgbClr val="48F0E7">
                          <a:alpha val="100000"/>
                        </a:srgbClr>
                      </a:gs>
                    </a:gsLst>
                    <a:lin ang="189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INFERNO VI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645920"/>
            <a:ext cx="5486400" cy="7818120"/>
            <a:chOff x="0" y="0"/>
            <a:chExt cx="7315200" cy="10424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10424161"/>
            </a:xfrm>
            <a:custGeom>
              <a:avLst/>
              <a:gdLst/>
              <a:ahLst/>
              <a:cxnLst/>
              <a:rect r="r" b="b" t="t" l="l"/>
              <a:pathLst>
                <a:path h="10424161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0277856"/>
                  </a:lnTo>
                  <a:cubicBezTo>
                    <a:pt x="7315200" y="10358628"/>
                    <a:pt x="7249668" y="10424161"/>
                    <a:pt x="7168896" y="10424161"/>
                  </a:cubicBezTo>
                  <a:lnTo>
                    <a:pt x="146304" y="10424161"/>
                  </a:lnTo>
                  <a:cubicBezTo>
                    <a:pt x="65532" y="10424160"/>
                    <a:pt x="0" y="10358628"/>
                    <a:pt x="0" y="10277856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1540" y="1920240"/>
            <a:ext cx="4800600" cy="548640"/>
            <a:chOff x="0" y="0"/>
            <a:chExt cx="64008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ANALYSIS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1540" y="2617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Adapter, not rebuild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Wraps each department's existing system with an adapter API — no legacy system is replaced.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540" y="43319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Federated by design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No central mega-database: a master index maps citizen ID → department record pointers only.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540" y="6046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Sandboxes exist today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API Setu developer portal and the X-Road Playground are publicly accessible for prototyping.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540" y="77609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36-hour MVP is realistic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Gateway + 3 mock department APIs + consent flow + audit log fits a 4–6 person team's build window.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36792" y="1645920"/>
            <a:ext cx="5486400" cy="7818120"/>
            <a:chOff x="0" y="0"/>
            <a:chExt cx="7315200" cy="10424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10424161"/>
            </a:xfrm>
            <a:custGeom>
              <a:avLst/>
              <a:gdLst/>
              <a:ahLst/>
              <a:cxnLst/>
              <a:rect r="r" b="b" t="t" l="l"/>
              <a:pathLst>
                <a:path h="10424161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0277856"/>
                  </a:lnTo>
                  <a:cubicBezTo>
                    <a:pt x="7315200" y="10358628"/>
                    <a:pt x="7249668" y="10424161"/>
                    <a:pt x="7168896" y="10424161"/>
                  </a:cubicBezTo>
                  <a:lnTo>
                    <a:pt x="146304" y="10424161"/>
                  </a:lnTo>
                  <a:cubicBezTo>
                    <a:pt x="65532" y="10424160"/>
                    <a:pt x="0" y="10358628"/>
                    <a:pt x="0" y="10277856"/>
                  </a:cubicBezTo>
                  <a:close/>
                </a:path>
              </a:pathLst>
            </a:custGeom>
            <a:solidFill>
              <a:srgbClr val="12305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79692" y="1920240"/>
            <a:ext cx="4800600" cy="548640"/>
            <a:chOff x="0" y="0"/>
            <a:chExt cx="64008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79692" y="2617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Proven model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Estonia's X-Road runs national interoperability for &lt;€1M/year — the federated pattern is battle-tested.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79692" y="43319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Builds public trust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Consent artifacts + immutable audit logs give citizens visibility into every data access.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79692" y="6046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 mandate exists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MSDP-2024 already creates a State Data Authority with the power to enforce participation.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9692" y="7760970"/>
            <a:ext cx="4800600" cy="141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National alignment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Publishes to API Setu and authenticates via Meri Pehchaan — plugs into Digital India, doesn't compete with it.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24944" y="1645920"/>
            <a:ext cx="5486400" cy="7818120"/>
            <a:chOff x="0" y="0"/>
            <a:chExt cx="7315200" cy="10424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10424161"/>
            </a:xfrm>
            <a:custGeom>
              <a:avLst/>
              <a:gdLst/>
              <a:ahLst/>
              <a:cxnLst/>
              <a:rect r="r" b="b" t="t" l="l"/>
              <a:pathLst>
                <a:path h="10424161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0277856"/>
                  </a:lnTo>
                  <a:cubicBezTo>
                    <a:pt x="7315200" y="10358628"/>
                    <a:pt x="7249668" y="10424161"/>
                    <a:pt x="7168896" y="10424161"/>
                  </a:cubicBezTo>
                  <a:lnTo>
                    <a:pt x="146304" y="10424161"/>
                  </a:lnTo>
                  <a:cubicBezTo>
                    <a:pt x="65532" y="10424160"/>
                    <a:pt x="0" y="10358628"/>
                    <a:pt x="0" y="10277856"/>
                  </a:cubicBezTo>
                  <a:close/>
                </a:path>
              </a:pathLst>
            </a:custGeom>
            <a:solidFill>
              <a:srgbClr val="11676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67844" y="1920240"/>
            <a:ext cx="4800600" cy="548640"/>
            <a:chOff x="0" y="0"/>
            <a:chExt cx="64008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POTENTIAL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67844" y="2617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cost savings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duplicate department IT spend on siloed integration efforts.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67844" y="43319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Funded pathways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India Mission state grants, MeitY funding, MSDP-2024 implementation budget.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7844" y="60464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Per-transaction model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Sustainable cost recovery once services scale beyond the pilot districts.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67844" y="7760970"/>
            <a:ext cx="4800600" cy="11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9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Open-source replication</a:t>
            </a:r>
          </a:p>
          <a:p>
            <a:pPr algn="l">
              <a:lnSpc>
                <a:spcPts val="2144"/>
              </a:lnSpc>
            </a:pPr>
          </a:p>
          <a:p>
            <a:pPr algn="l">
              <a:lnSpc>
                <a:spcPts val="2144"/>
              </a:lnSpc>
            </a:pPr>
            <a:r>
              <a:rPr lang="en-US" sz="1654">
                <a:solidFill>
                  <a:srgbClr val="C7D3E4"/>
                </a:solidFill>
                <a:latin typeface="Calibri (MS)"/>
                <a:ea typeface="Calibri (MS)"/>
                <a:cs typeface="Calibri (MS)"/>
                <a:sym typeface="Calibri (MS)"/>
              </a:rPr>
              <a:t>“State Interoperability Kit” lets other states deploy their own instance.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9793224"/>
            <a:ext cx="18283428" cy="493776"/>
            <a:chOff x="0" y="0"/>
            <a:chExt cx="24377904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77904" cy="658368"/>
            </a:xfrm>
            <a:custGeom>
              <a:avLst/>
              <a:gdLst/>
              <a:ahLst/>
              <a:cxnLst/>
              <a:rect r="r" b="b" t="t" l="l"/>
              <a:pathLst>
                <a:path h="65836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81B3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282160" y="9793224"/>
            <a:ext cx="685800" cy="493776"/>
            <a:chOff x="0" y="0"/>
            <a:chExt cx="91440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658368"/>
            </a:xfrm>
            <a:custGeom>
              <a:avLst/>
              <a:gdLst/>
              <a:ahLst/>
              <a:cxnLst/>
              <a:rect r="r" b="b" t="t" l="l"/>
              <a:pathLst>
                <a:path h="658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FC3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692140" y="541382"/>
            <a:ext cx="6451435" cy="5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15263B"/>
                </a:solidFill>
                <a:latin typeface="Cambria Bold"/>
                <a:ea typeface="Cambria Bold"/>
                <a:cs typeface="Cambria Bold"/>
                <a:sym typeface="Cambria Bold"/>
              </a:rPr>
              <a:t>FEASIBILIT</a:t>
            </a:r>
            <a:r>
              <a:rPr lang="en-US" b="true" sz="3899">
                <a:solidFill>
                  <a:srgbClr val="15263B"/>
                </a:solidFill>
                <a:latin typeface="Cambria Bold"/>
                <a:ea typeface="Cambria Bold"/>
                <a:cs typeface="Cambria Bold"/>
                <a:sym typeface="Cambria Bold"/>
              </a:rPr>
              <a:t>Y AND VIABILITY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69823" y="9863880"/>
            <a:ext cx="374378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SIH 2026</a:t>
            </a: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 Idea Submission — MahaLink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401955"/>
            <a:ext cx="2076450" cy="869442"/>
            <a:chOff x="0" y="0"/>
            <a:chExt cx="2768600" cy="1159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8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7686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2581656" y="0"/>
                  </a:lnTo>
                  <a:cubicBezTo>
                    <a:pt x="2684907" y="0"/>
                    <a:pt x="2768600" y="83693"/>
                    <a:pt x="2768600" y="186944"/>
                  </a:cubicBezTo>
                  <a:lnTo>
                    <a:pt x="2768600" y="972312"/>
                  </a:lnTo>
                  <a:cubicBezTo>
                    <a:pt x="2768600" y="1075563"/>
                    <a:pt x="2684907" y="1159256"/>
                    <a:pt x="2581656" y="1159256"/>
                  </a:cubicBezTo>
                  <a:lnTo>
                    <a:pt x="186944" y="1159256"/>
                  </a:lnTo>
                  <a:cubicBezTo>
                    <a:pt x="83693" y="1159256"/>
                    <a:pt x="0" y="1075563"/>
                    <a:pt x="0" y="9723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411480"/>
            <a:ext cx="2057400" cy="850392"/>
            <a:chOff x="0" y="0"/>
            <a:chExt cx="274320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32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gradFill>
                    <a:gsLst>
                      <a:gs pos="0">
                        <a:srgbClr val="091E27">
                          <a:alpha val="100000"/>
                        </a:srgbClr>
                      </a:gs>
                      <a:gs pos="100000">
                        <a:srgbClr val="48F0E7">
                          <a:alpha val="100000"/>
                        </a:srgbClr>
                      </a:gs>
                    </a:gsLst>
                    <a:lin ang="189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INFERNO VI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15075" y="438912"/>
            <a:ext cx="12344400" cy="822960"/>
            <a:chOff x="0" y="0"/>
            <a:chExt cx="16459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IMPACT AND BENEFITS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9115" y="1773555"/>
            <a:ext cx="4888230" cy="2323338"/>
            <a:chOff x="0" y="0"/>
            <a:chExt cx="6517640" cy="3097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1938528"/>
            <a:ext cx="576072" cy="576072"/>
            <a:chOff x="0" y="0"/>
            <a:chExt cx="768096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1938528"/>
            <a:ext cx="576072" cy="576072"/>
            <a:chOff x="0" y="0"/>
            <a:chExt cx="768096" cy="768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18488" y="2002536"/>
            <a:ext cx="3497580" cy="431038"/>
            <a:chOff x="0" y="0"/>
            <a:chExt cx="4663440" cy="5747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 saved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" y="2686050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~2 hours saved per citizen interaction — 15–30 min online vs. 2–4 hours today.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655183" y="1773555"/>
            <a:ext cx="4888230" cy="2323338"/>
            <a:chOff x="0" y="0"/>
            <a:chExt cx="6517640" cy="3097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939028" y="1930019"/>
            <a:ext cx="576072" cy="576072"/>
            <a:chOff x="0" y="0"/>
            <a:chExt cx="768096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39028" y="1930019"/>
            <a:ext cx="576072" cy="576072"/>
            <a:chOff x="0" y="0"/>
            <a:chExt cx="768096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34556" y="2002536"/>
            <a:ext cx="3497580" cy="431038"/>
            <a:chOff x="0" y="0"/>
            <a:chExt cx="4663440" cy="5747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993892" y="2686050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20 million interactions/year × 2 hrs ≈ 40 million citizen-hours saved annually.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39115" y="4324731"/>
            <a:ext cx="4888230" cy="2323338"/>
            <a:chOff x="0" y="0"/>
            <a:chExt cx="6517640" cy="30977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4487037"/>
            <a:ext cx="576072" cy="576072"/>
            <a:chOff x="0" y="0"/>
            <a:chExt cx="768096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4487037"/>
            <a:ext cx="576072" cy="576072"/>
            <a:chOff x="0" y="0"/>
            <a:chExt cx="768096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18488" y="4553712"/>
            <a:ext cx="3497580" cy="431038"/>
            <a:chOff x="0" y="0"/>
            <a:chExt cx="4663440" cy="5747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Fewer trips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77824" y="5237226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~20 million physical office visits avoided each year once services are integrated.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655183" y="4324731"/>
            <a:ext cx="4888230" cy="2323338"/>
            <a:chOff x="0" y="0"/>
            <a:chExt cx="6517640" cy="30977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939028" y="4481195"/>
            <a:ext cx="576072" cy="576072"/>
            <a:chOff x="0" y="0"/>
            <a:chExt cx="768096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939028" y="4481195"/>
            <a:ext cx="576072" cy="576072"/>
            <a:chOff x="0" y="0"/>
            <a:chExt cx="768096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34556" y="4553712"/>
            <a:ext cx="3497580" cy="431038"/>
            <a:chOff x="0" y="0"/>
            <a:chExt cx="4663440" cy="57471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Compliance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5993892" y="5237226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Faster, automated data sharing improves RTS Act service-delivery timelines.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539115" y="6875907"/>
            <a:ext cx="4888230" cy="2323338"/>
            <a:chOff x="0" y="0"/>
            <a:chExt cx="6517640" cy="30977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7010019"/>
            <a:ext cx="576072" cy="576072"/>
            <a:chOff x="0" y="0"/>
            <a:chExt cx="768096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7010019"/>
            <a:ext cx="576072" cy="576072"/>
            <a:chOff x="0" y="0"/>
            <a:chExt cx="768096" cy="7680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18488" y="7104888"/>
            <a:ext cx="3497580" cy="431038"/>
            <a:chOff x="0" y="0"/>
            <a:chExt cx="4663440" cy="57471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877824" y="7788402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Timestamped consent + audit logs replace WhatsApp/photocopy data sharing.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5655183" y="6875907"/>
            <a:ext cx="4888230" cy="2323338"/>
            <a:chOff x="0" y="0"/>
            <a:chExt cx="6517640" cy="30977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17640" cy="3097784"/>
            </a:xfrm>
            <a:custGeom>
              <a:avLst/>
              <a:gdLst/>
              <a:ahLst/>
              <a:cxnLst/>
              <a:rect r="r" b="b" t="t" l="l"/>
              <a:pathLst>
                <a:path h="3097784" w="6517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0066" y="0"/>
                  </a:lnTo>
                  <a:cubicBezTo>
                    <a:pt x="6451600" y="0"/>
                    <a:pt x="6517640" y="66040"/>
                    <a:pt x="6517640" y="147574"/>
                  </a:cubicBezTo>
                  <a:lnTo>
                    <a:pt x="6517640" y="2950210"/>
                  </a:lnTo>
                  <a:cubicBezTo>
                    <a:pt x="6517640" y="3031744"/>
                    <a:pt x="6451600" y="3097784"/>
                    <a:pt x="637006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939028" y="7010019"/>
            <a:ext cx="576072" cy="576072"/>
            <a:chOff x="0" y="0"/>
            <a:chExt cx="768096" cy="7680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939028" y="7010019"/>
            <a:ext cx="576072" cy="576072"/>
            <a:chOff x="0" y="0"/>
            <a:chExt cx="768096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734556" y="7104888"/>
            <a:ext cx="3497580" cy="431038"/>
            <a:chOff x="0" y="0"/>
            <a:chExt cx="4663440" cy="57471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63440" cy="574717"/>
            </a:xfrm>
            <a:custGeom>
              <a:avLst/>
              <a:gdLst/>
              <a:ahLst/>
              <a:cxnLst/>
              <a:rect r="r" b="b" t="t" l="l"/>
              <a:pathLst>
                <a:path h="57471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74717"/>
                  </a:lnTo>
                  <a:lnTo>
                    <a:pt x="0" y="574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0583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663440" cy="62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Governance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5993892" y="7788402"/>
            <a:ext cx="4210812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69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Federated design removes the single point of failure that hit SSDG.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0767060" y="1755648"/>
            <a:ext cx="6926580" cy="438912"/>
            <a:chOff x="0" y="0"/>
            <a:chExt cx="923544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235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498" r="0" b="-25749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23544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METRICS — DEMO vs. YEAR-1 TARGET</a:t>
              </a:r>
            </a:p>
          </p:txBody>
        </p:sp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74402" y="1570482"/>
            <a:ext cx="8311896" cy="7420356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 rot="0">
            <a:off x="0" y="9793224"/>
            <a:ext cx="18283428" cy="493776"/>
            <a:chOff x="0" y="0"/>
            <a:chExt cx="24377904" cy="6583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77904" cy="658368"/>
            </a:xfrm>
            <a:custGeom>
              <a:avLst/>
              <a:gdLst/>
              <a:ahLst/>
              <a:cxnLst/>
              <a:rect r="r" b="b" t="t" l="l"/>
              <a:pathLst>
                <a:path h="65836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81B3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7282160" y="9793224"/>
            <a:ext cx="685800" cy="493776"/>
            <a:chOff x="0" y="0"/>
            <a:chExt cx="914400" cy="6583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658368"/>
            </a:xfrm>
            <a:custGeom>
              <a:avLst/>
              <a:gdLst/>
              <a:ahLst/>
              <a:cxnLst/>
              <a:rect r="r" b="b" t="t" l="l"/>
              <a:pathLst>
                <a:path h="658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144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FC3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7269823" y="9863880"/>
            <a:ext cx="374378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SIH 2026</a:t>
            </a: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 Idea Submission — MahaLink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401955"/>
            <a:ext cx="2076450" cy="869442"/>
            <a:chOff x="0" y="0"/>
            <a:chExt cx="2768600" cy="1159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86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27686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2581656" y="0"/>
                  </a:lnTo>
                  <a:cubicBezTo>
                    <a:pt x="2684907" y="0"/>
                    <a:pt x="2768600" y="83693"/>
                    <a:pt x="2768600" y="186944"/>
                  </a:cubicBezTo>
                  <a:lnTo>
                    <a:pt x="2768600" y="972312"/>
                  </a:lnTo>
                  <a:cubicBezTo>
                    <a:pt x="2768600" y="1075563"/>
                    <a:pt x="2684907" y="1159256"/>
                    <a:pt x="2581656" y="1159256"/>
                  </a:cubicBezTo>
                  <a:lnTo>
                    <a:pt x="186944" y="1159256"/>
                  </a:lnTo>
                  <a:cubicBezTo>
                    <a:pt x="83693" y="1159256"/>
                    <a:pt x="0" y="1075563"/>
                    <a:pt x="0" y="9723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411480"/>
            <a:ext cx="2057400" cy="850392"/>
            <a:chOff x="0" y="0"/>
            <a:chExt cx="274320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32" t="0" r="-303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32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gradFill>
                    <a:gsLst>
                      <a:gs pos="0">
                        <a:srgbClr val="091E27">
                          <a:alpha val="100000"/>
                        </a:srgbClr>
                      </a:gs>
                      <a:gs pos="100000">
                        <a:srgbClr val="48F0E7">
                          <a:alpha val="100000"/>
                        </a:srgbClr>
                      </a:gs>
                    </a:gsLst>
                    <a:lin ang="189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INFERNO VI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90438" y="-702116"/>
            <a:ext cx="13030200" cy="2859338"/>
            <a:chOff x="0" y="0"/>
            <a:chExt cx="17373600" cy="3812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3812451"/>
            </a:xfrm>
            <a:custGeom>
              <a:avLst/>
              <a:gdLst/>
              <a:ahLst/>
              <a:cxnLst/>
              <a:rect r="r" b="b" t="t" l="l"/>
              <a:pathLst>
                <a:path h="3812451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812451"/>
                  </a:lnTo>
                  <a:lnTo>
                    <a:pt x="0" y="38124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03" r="0" b="-19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373600" cy="3812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 AND REFERENCES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440180"/>
            <a:ext cx="2359152" cy="2125980"/>
            <a:chOff x="0" y="0"/>
            <a:chExt cx="3145536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81313">
                    <a:alpha val="100000"/>
                  </a:srgbClr>
                </a:gs>
                <a:gs pos="100000">
                  <a:srgbClr val="EE8E7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5800" y="1566672"/>
            <a:ext cx="208483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NeGP (2006)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2214372"/>
            <a:ext cx="2084832" cy="98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Mission-Mode Projects funded departments in isolation — the root cause of today's silos.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031236" y="1440180"/>
            <a:ext cx="2359152" cy="2125980"/>
            <a:chOff x="0" y="0"/>
            <a:chExt cx="3145536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043">
                    <a:alpha val="100000"/>
                  </a:srgbClr>
                </a:gs>
                <a:gs pos="100000">
                  <a:srgbClr val="D3468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168396" y="1566672"/>
            <a:ext cx="208483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IndEA 2.0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68396" y="2190179"/>
            <a:ext cx="2084832" cy="121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architecture blueprint; MahaLink implements its Integration Reference Model at state level.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513832" y="1440180"/>
            <a:ext cx="2359152" cy="2125980"/>
            <a:chOff x="0" y="0"/>
            <a:chExt cx="3145536" cy="2834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81313">
                    <a:alpha val="100000"/>
                  </a:srgbClr>
                </a:gs>
                <a:gs pos="100000">
                  <a:srgbClr val="EE8E7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50992" y="1557147"/>
            <a:ext cx="2084832" cy="3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Setu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50992" y="2199704"/>
            <a:ext cx="2084832" cy="1304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9,138+ national APIs; MahaLink publishes department APIs here rather than duplicating it.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996428" y="1440180"/>
            <a:ext cx="2359152" cy="2125980"/>
            <a:chOff x="0" y="0"/>
            <a:chExt cx="3145536" cy="2834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043">
                    <a:alpha val="100000"/>
                  </a:srgbClr>
                </a:gs>
                <a:gs pos="100000">
                  <a:srgbClr val="D3468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133588" y="1557147"/>
            <a:ext cx="2084832" cy="3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X-Road (Estonia)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33588" y="2223897"/>
            <a:ext cx="2084832" cy="104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Federated, no-central-database model MahaLink's adapter layer is built 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79024" y="1440180"/>
            <a:ext cx="2359152" cy="2125980"/>
            <a:chOff x="0" y="0"/>
            <a:chExt cx="3145536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81313">
                    <a:alpha val="100000"/>
                  </a:srgbClr>
                </a:gs>
                <a:gs pos="100000">
                  <a:srgbClr val="EE8E7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616184" y="1557147"/>
            <a:ext cx="2084832" cy="3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MSDP-2024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16184" y="2223897"/>
            <a:ext cx="2084832" cy="104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Maharashtra's own policy creating a State Data Authority to fix this exact problem.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961620" y="1440180"/>
            <a:ext cx="2359152" cy="2125980"/>
            <a:chOff x="0" y="0"/>
            <a:chExt cx="3145536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043">
                    <a:alpha val="100000"/>
                  </a:srgbClr>
                </a:gs>
                <a:gs pos="100000">
                  <a:srgbClr val="D3468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098780" y="1557147"/>
            <a:ext cx="2084832" cy="3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DPDP 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98780" y="2223897"/>
            <a:ext cx="2084832" cy="104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Legal basis for the Consent Manager's data-sharing and audit-logging design.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444216" y="1440180"/>
            <a:ext cx="2359152" cy="2125980"/>
            <a:chOff x="0" y="0"/>
            <a:chExt cx="3145536" cy="2834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45536" cy="2834640"/>
            </a:xfrm>
            <a:custGeom>
              <a:avLst/>
              <a:gdLst/>
              <a:ahLst/>
              <a:cxnLst/>
              <a:rect r="r" b="b" t="t" l="l"/>
              <a:pathLst>
                <a:path h="2834640" w="31455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99232" y="0"/>
                  </a:lnTo>
                  <a:cubicBezTo>
                    <a:pt x="3080004" y="0"/>
                    <a:pt x="3145536" y="65532"/>
                    <a:pt x="3145536" y="146304"/>
                  </a:cubicBezTo>
                  <a:lnTo>
                    <a:pt x="3145536" y="2688336"/>
                  </a:lnTo>
                  <a:cubicBezTo>
                    <a:pt x="3145536" y="2769108"/>
                    <a:pt x="3080004" y="2834640"/>
                    <a:pt x="2999232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81313">
                    <a:alpha val="100000"/>
                  </a:srgbClr>
                </a:gs>
                <a:gs pos="100000">
                  <a:srgbClr val="EE8E71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5581376" y="1557147"/>
            <a:ext cx="2084832" cy="3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CAG Audit Reports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581376" y="2223897"/>
            <a:ext cx="2084832" cy="104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Independent evidence: 67% services unavailable online, 33 lakh pending applications.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48640" y="3909060"/>
            <a:ext cx="17145000" cy="438912"/>
            <a:chOff x="0" y="0"/>
            <a:chExt cx="2286000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860000" cy="585216"/>
            </a:xfrm>
            <a:custGeom>
              <a:avLst/>
              <a:gdLst/>
              <a:ahLst/>
              <a:cxnLst/>
              <a:rect r="r" b="b" t="t" l="l"/>
              <a:pathLst>
                <a:path h="585216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1134" r="0" b="-7111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860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STORYLINE — “ONE CITIZEN, ONE IDENTITY, THREE SERVICES”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9115" y="4516755"/>
            <a:ext cx="3242310" cy="2282190"/>
            <a:chOff x="0" y="0"/>
            <a:chExt cx="4323080" cy="3042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23080" cy="3042920"/>
            </a:xfrm>
            <a:custGeom>
              <a:avLst/>
              <a:gdLst/>
              <a:ahLst/>
              <a:cxnLst/>
              <a:rect r="r" b="b" t="t" l="l"/>
              <a:pathLst>
                <a:path h="3042920" w="43230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75506" y="0"/>
                  </a:lnTo>
                  <a:cubicBezTo>
                    <a:pt x="4257040" y="0"/>
                    <a:pt x="4323080" y="66040"/>
                    <a:pt x="4323080" y="147574"/>
                  </a:cubicBezTo>
                  <a:lnTo>
                    <a:pt x="4323080" y="2895346"/>
                  </a:lnTo>
                  <a:cubicBezTo>
                    <a:pt x="4323080" y="2976880"/>
                    <a:pt x="4257040" y="3042920"/>
                    <a:pt x="417550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54380" y="4732020"/>
            <a:ext cx="548640" cy="548640"/>
            <a:chOff x="0" y="0"/>
            <a:chExt cx="7315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54380" y="4732020"/>
            <a:ext cx="548640" cy="548640"/>
            <a:chOff x="0" y="0"/>
            <a:chExt cx="731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54380" y="5398770"/>
            <a:ext cx="28117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Priya logs 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54380" y="5928360"/>
            <a:ext cx="28117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05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Meri Pehchaan SSO stub — no separate registration.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940683" y="4516755"/>
            <a:ext cx="3242310" cy="2282190"/>
            <a:chOff x="0" y="0"/>
            <a:chExt cx="4323080" cy="3042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23080" cy="3042920"/>
            </a:xfrm>
            <a:custGeom>
              <a:avLst/>
              <a:gdLst/>
              <a:ahLst/>
              <a:cxnLst/>
              <a:rect r="r" b="b" t="t" l="l"/>
              <a:pathLst>
                <a:path h="3042920" w="43230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75506" y="0"/>
                  </a:lnTo>
                  <a:cubicBezTo>
                    <a:pt x="4257040" y="0"/>
                    <a:pt x="4323080" y="66040"/>
                    <a:pt x="4323080" y="147574"/>
                  </a:cubicBezTo>
                  <a:lnTo>
                    <a:pt x="4323080" y="2895346"/>
                  </a:lnTo>
                  <a:cubicBezTo>
                    <a:pt x="4323080" y="2976880"/>
                    <a:pt x="4257040" y="3042920"/>
                    <a:pt x="417550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4155948" y="473202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155948" y="4732020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4155948" y="5398770"/>
            <a:ext cx="28117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Applies for Income Cert.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55948" y="5928360"/>
            <a:ext cx="28117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05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flags Land Record + Employment data are needed.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342251" y="4516755"/>
            <a:ext cx="3242310" cy="2282190"/>
            <a:chOff x="0" y="0"/>
            <a:chExt cx="4323080" cy="3042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23080" cy="3042920"/>
            </a:xfrm>
            <a:custGeom>
              <a:avLst/>
              <a:gdLst/>
              <a:ahLst/>
              <a:cxnLst/>
              <a:rect r="r" b="b" t="t" l="l"/>
              <a:pathLst>
                <a:path h="3042920" w="43230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75506" y="0"/>
                  </a:lnTo>
                  <a:cubicBezTo>
                    <a:pt x="4257040" y="0"/>
                    <a:pt x="4323080" y="66040"/>
                    <a:pt x="4323080" y="147574"/>
                  </a:cubicBezTo>
                  <a:lnTo>
                    <a:pt x="4323080" y="2895346"/>
                  </a:lnTo>
                  <a:cubicBezTo>
                    <a:pt x="4323080" y="2976880"/>
                    <a:pt x="4257040" y="3042920"/>
                    <a:pt x="417550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557516" y="4732020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557516" y="4732020"/>
            <a:ext cx="548640" cy="548640"/>
            <a:chOff x="0" y="0"/>
            <a:chExt cx="7315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557516" y="5398770"/>
            <a:ext cx="28117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Grants consent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557516" y="5928360"/>
            <a:ext cx="28117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05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“Allow Revenue Dept to share your land record?” — approved.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743819" y="4516755"/>
            <a:ext cx="3242310" cy="2282190"/>
            <a:chOff x="0" y="0"/>
            <a:chExt cx="4323080" cy="3042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23080" cy="3042920"/>
            </a:xfrm>
            <a:custGeom>
              <a:avLst/>
              <a:gdLst/>
              <a:ahLst/>
              <a:cxnLst/>
              <a:rect r="r" b="b" t="t" l="l"/>
              <a:pathLst>
                <a:path h="3042920" w="43230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75506" y="0"/>
                  </a:lnTo>
                  <a:cubicBezTo>
                    <a:pt x="4257040" y="0"/>
                    <a:pt x="4323080" y="66040"/>
                    <a:pt x="4323080" y="147574"/>
                  </a:cubicBezTo>
                  <a:lnTo>
                    <a:pt x="4323080" y="2895346"/>
                  </a:lnTo>
                  <a:cubicBezTo>
                    <a:pt x="4323080" y="2976880"/>
                    <a:pt x="4257040" y="3042920"/>
                    <a:pt x="417550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959084" y="4732020"/>
            <a:ext cx="548640" cy="548640"/>
            <a:chOff x="0" y="0"/>
            <a:chExt cx="7315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959084" y="4732020"/>
            <a:ext cx="548640" cy="548640"/>
            <a:chOff x="0" y="0"/>
            <a:chExt cx="7315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0959084" y="5398770"/>
            <a:ext cx="28117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flows automatically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959084" y="5928360"/>
            <a:ext cx="28117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05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Certificate auto-populates — no manual document upload.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145387" y="4516755"/>
            <a:ext cx="3242310" cy="2282190"/>
            <a:chOff x="0" y="0"/>
            <a:chExt cx="4323080" cy="3042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23080" cy="3042920"/>
            </a:xfrm>
            <a:custGeom>
              <a:avLst/>
              <a:gdLst/>
              <a:ahLst/>
              <a:cxnLst/>
              <a:rect r="r" b="b" t="t" l="l"/>
              <a:pathLst>
                <a:path h="3042920" w="43230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75506" y="0"/>
                  </a:lnTo>
                  <a:cubicBezTo>
                    <a:pt x="4257040" y="0"/>
                    <a:pt x="4323080" y="66040"/>
                    <a:pt x="4323080" y="147574"/>
                  </a:cubicBezTo>
                  <a:lnTo>
                    <a:pt x="4323080" y="2895346"/>
                  </a:lnTo>
                  <a:cubicBezTo>
                    <a:pt x="4323080" y="2976880"/>
                    <a:pt x="4257040" y="3042920"/>
                    <a:pt x="417550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8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4360652" y="4732020"/>
            <a:ext cx="548640" cy="548640"/>
            <a:chOff x="0" y="0"/>
            <a:chExt cx="73152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360652" y="4732020"/>
            <a:ext cx="548640" cy="548640"/>
            <a:chOff x="0" y="0"/>
            <a:chExt cx="73152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4360652" y="5398770"/>
            <a:ext cx="28117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Opens the hood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360652" y="5928360"/>
            <a:ext cx="28117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05">
                <a:solidFill>
                  <a:srgbClr val="15263B"/>
                </a:solidFill>
                <a:latin typeface="Calibri (MS)"/>
                <a:ea typeface="Calibri (MS)"/>
                <a:cs typeface="Calibri (MS)"/>
                <a:sym typeface="Calibri (MS)"/>
              </a:rPr>
              <a:t>Gateway logs, consent artifacts and audit trail on screen.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548640" y="7200900"/>
            <a:ext cx="17145000" cy="2125980"/>
            <a:chOff x="0" y="0"/>
            <a:chExt cx="22860000" cy="2834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860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86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713696" y="0"/>
                  </a:lnTo>
                  <a:cubicBezTo>
                    <a:pt x="22794468" y="0"/>
                    <a:pt x="22860000" y="65532"/>
                    <a:pt x="22860000" y="146304"/>
                  </a:cubicBezTo>
                  <a:lnTo>
                    <a:pt x="22860000" y="2688336"/>
                  </a:lnTo>
                  <a:cubicBezTo>
                    <a:pt x="22860000" y="2769108"/>
                    <a:pt x="22794468" y="2834640"/>
                    <a:pt x="22713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1E27">
                    <a:alpha val="100000"/>
                  </a:srgbClr>
                </a:gs>
                <a:gs pos="100000">
                  <a:srgbClr val="48F0E7">
                    <a:alpha val="100000"/>
                  </a:srgbClr>
                </a:gs>
              </a:gsLst>
              <a:lin ang="18900000"/>
            </a:grad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891540" y="7357872"/>
            <a:ext cx="16459200" cy="111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950" b="true">
                <a:solidFill>
                  <a:srgbClr val="D98E0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 MahaLink — Maharashtra's Interoperability Middleware</a:t>
            </a:r>
          </a:p>
          <a:p>
            <a:pPr algn="l">
              <a:lnSpc>
                <a:spcPts val="2016"/>
              </a:lnSpc>
            </a:pPr>
          </a:p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lightweight, federated middleware that wraps existing department systems with adapter APIs, routes citizen data requests through a consent-managed pipeline, publishes to API Setu, authenticates via Meri Pehchaan, and logs every access for DPDP Act compliance. </a:t>
            </a:r>
            <a:r>
              <a:rPr lang="en-US" sz="1500" i="true">
                <a:solidFill>
                  <a:srgbClr val="AFC3D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Prototype, GitHub and demo video links: [add once built].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0" y="9793224"/>
            <a:ext cx="18283428" cy="493776"/>
            <a:chOff x="0" y="0"/>
            <a:chExt cx="24377904" cy="6583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77904" cy="658368"/>
            </a:xfrm>
            <a:custGeom>
              <a:avLst/>
              <a:gdLst/>
              <a:ahLst/>
              <a:cxnLst/>
              <a:rect r="r" b="b" t="t" l="l"/>
              <a:pathLst>
                <a:path h="65836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81B33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7282160" y="9793224"/>
            <a:ext cx="685800" cy="493776"/>
            <a:chOff x="0" y="0"/>
            <a:chExt cx="914400" cy="6583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4400" cy="658368"/>
            </a:xfrm>
            <a:custGeom>
              <a:avLst/>
              <a:gdLst/>
              <a:ahLst/>
              <a:cxnLst/>
              <a:rect r="r" b="b" t="t" l="l"/>
              <a:pathLst>
                <a:path h="658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144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FC3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7269823" y="9863880"/>
            <a:ext cx="3743782" cy="3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SIH 2026</a:t>
            </a:r>
            <a:r>
              <a:rPr lang="en-US" sz="1874">
                <a:solidFill>
                  <a:srgbClr val="AFC3DA"/>
                </a:solidFill>
                <a:latin typeface="Calibri (MS)"/>
                <a:ea typeface="Calibri (MS)"/>
                <a:cs typeface="Calibri (MS)"/>
                <a:sym typeface="Calibri (MS)"/>
              </a:rPr>
              <a:t> Idea Submission — MahaLink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DAHT4maJO1Y</dc:identifier>
  <dcterms:modified xsi:type="dcterms:W3CDTF">2011-08-01T06:04:30Z</dcterms:modified>
  <cp:revision>1</cp:revision>
  <dc:title>MahaLink_SIH26129</dc:title>
</cp:coreProperties>
</file>