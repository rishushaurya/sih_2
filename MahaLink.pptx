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Times New Roman Bold" charset="1" panose="02020803070505020304"/>
      <p:regular r:id="rId12"/>
    </p:embeddedFont>
    <p:embeddedFont>
      <p:font typeface="Garamond Bold" charset="1" panose="02020804030307010803"/>
      <p:regular r:id="rId13"/>
    </p:embeddedFont>
    <p:embeddedFont>
      <p:font typeface="Arial Bold" charset="1" panose="020B0704020202020204"/>
      <p:regular r:id="rId14"/>
    </p:embeddedFont>
    <p:embeddedFont>
      <p:font typeface="Calibri (MS) Bold" charset="1" panose="020F0702030404030204"/>
      <p:regular r:id="rId18"/>
    </p:embeddedFont>
    <p:embeddedFont>
      <p:font typeface="Cambria Bold" charset="1" panose="02040803050406030204"/>
      <p:regular r:id="rId19"/>
    </p:embeddedFont>
    <p:embeddedFont>
      <p:font typeface="Calibri (MS)" charset="1" panose="020F0502020204030204"/>
      <p:regular r:id="rId20"/>
    </p:embeddedFont>
    <p:embeddedFont>
      <p:font typeface="Calibri (MS) Italics" charset="1" panose="020F05020202040A0204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notesMasters/notesMaster1.xml" Type="http://schemas.openxmlformats.org/officeDocument/2006/relationships/notesMaster"/><Relationship Id="rId16" Target="theme/theme2.xml" Type="http://schemas.openxmlformats.org/officeDocument/2006/relationships/theme"/><Relationship Id="rId17" Target="notesSlides/notesSlide1.xml" Type="http://schemas.openxmlformats.org/officeDocument/2006/relationships/notes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notesSlides/notesSlide2.xml" Type="http://schemas.openxmlformats.org/officeDocument/2006/relationships/notesSlide"/><Relationship Id="rId22" Target="notesSlides/notesSlide3.xml" Type="http://schemas.openxmlformats.org/officeDocument/2006/relationships/notesSlide"/><Relationship Id="rId23" Target="notesSlides/notesSlide4.xml" Type="http://schemas.openxmlformats.org/officeDocument/2006/relationships/notesSlide"/><Relationship Id="rId24" Target="notesSlides/notesSlide5.xml" Type="http://schemas.openxmlformats.org/officeDocument/2006/relationships/notesSlide"/><Relationship Id="rId25" Target="fonts/font25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.jpeg" Type="http://schemas.openxmlformats.org/officeDocument/2006/relationships/image"/><Relationship Id="rId4" Target="../media/image6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834640" y="1802330"/>
            <a:ext cx="12618720" cy="752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59"/>
              </a:lnSpc>
            </a:pPr>
            <a:r>
              <a:rPr lang="en-US" b="true" sz="4800" u="sng">
                <a:solidFill>
                  <a:srgbClr val="FF3131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MAHALINK 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496929" y="-790137"/>
            <a:ext cx="15544800" cy="3114675"/>
            <a:chOff x="0" y="0"/>
            <a:chExt cx="20726400" cy="41529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0726400" cy="4152900"/>
            </a:xfrm>
            <a:custGeom>
              <a:avLst/>
              <a:gdLst/>
              <a:ahLst/>
              <a:cxnLst/>
              <a:rect r="r" b="b" t="t" l="l"/>
              <a:pathLst>
                <a:path h="4152900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4152900"/>
                  </a:lnTo>
                  <a:lnTo>
                    <a:pt x="0" y="41529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7246" r="0" b="-47246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-19050"/>
              <a:ext cx="20726400" cy="41719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200"/>
                </a:lnSpc>
              </a:pPr>
              <a:r>
                <a:rPr lang="en-US" sz="6000" b="true">
                  <a:solidFill>
                    <a:srgbClr val="1F497D"/>
                  </a:solidFill>
                  <a:latin typeface="Garamond Bold"/>
                  <a:ea typeface="Garamond Bold"/>
                  <a:cs typeface="Garamond Bold"/>
                  <a:sym typeface="Garamond Bold"/>
                </a:rPr>
                <a:t>SMART INDIA HACKATHON 2026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4670129" y="2248"/>
            <a:ext cx="3374774" cy="1593504"/>
            <a:chOff x="0" y="0"/>
            <a:chExt cx="4499699" cy="212467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1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211179" y="2535717"/>
            <a:ext cx="12096659" cy="7275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20"/>
              </a:lnSpc>
            </a:pPr>
          </a:p>
          <a:p>
            <a:pPr algn="l" marL="524831" indent="-262415" lvl="1">
              <a:lnSpc>
                <a:spcPts val="6960"/>
              </a:lnSpc>
              <a:buFont typeface="Arial"/>
              <a:buChar char="•"/>
            </a:pPr>
            <a:r>
              <a:rPr lang="en-US" b="true" sz="2900">
                <a:solidFill>
                  <a:srgbClr val="FF3131"/>
                </a:solidFill>
                <a:latin typeface="Arial Bold"/>
                <a:ea typeface="Arial Bold"/>
                <a:cs typeface="Arial Bold"/>
                <a:sym typeface="Arial Bold"/>
              </a:rPr>
              <a:t>Problem Statement ID - </a:t>
            </a:r>
            <a:r>
              <a:rPr lang="en-US" b="true" sz="29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SIH26129</a:t>
            </a:r>
          </a:p>
          <a:p>
            <a:pPr algn="l" marL="524831" indent="-262415" lvl="1">
              <a:lnSpc>
                <a:spcPts val="6960"/>
              </a:lnSpc>
              <a:buFont typeface="Arial"/>
              <a:buChar char="•"/>
            </a:pPr>
            <a:r>
              <a:rPr lang="en-US" b="true" sz="2900">
                <a:solidFill>
                  <a:srgbClr val="FF3131"/>
                </a:solidFill>
                <a:latin typeface="Arial Bold"/>
                <a:ea typeface="Arial Bold"/>
                <a:cs typeface="Arial Bold"/>
                <a:sym typeface="Arial Bold"/>
              </a:rPr>
              <a:t>Problem Statement Title-</a:t>
            </a:r>
            <a:r>
              <a:rPr lang="en-US" b="true" sz="29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System integration and interoperability among government digital platforms, resulting in fragmented service delivery</a:t>
            </a:r>
          </a:p>
          <a:p>
            <a:pPr algn="l" marL="524831" indent="-262415" lvl="1">
              <a:lnSpc>
                <a:spcPts val="6960"/>
              </a:lnSpc>
              <a:buFont typeface="Arial"/>
              <a:buChar char="•"/>
            </a:pPr>
            <a:r>
              <a:rPr lang="en-US" b="true" sz="2900">
                <a:solidFill>
                  <a:srgbClr val="FF3131"/>
                </a:solidFill>
                <a:latin typeface="Arial Bold"/>
                <a:ea typeface="Arial Bold"/>
                <a:cs typeface="Arial Bold"/>
                <a:sym typeface="Arial Bold"/>
              </a:rPr>
              <a:t>Theme- </a:t>
            </a:r>
            <a:r>
              <a:rPr lang="en-US" b="true" sz="29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SMART AUTOMATION</a:t>
            </a:r>
          </a:p>
          <a:p>
            <a:pPr algn="l" marL="524831" indent="-262415" lvl="1">
              <a:lnSpc>
                <a:spcPts val="6960"/>
              </a:lnSpc>
              <a:buFont typeface="Arial"/>
              <a:buChar char="•"/>
            </a:pPr>
            <a:r>
              <a:rPr lang="en-US" b="true" sz="2900">
                <a:solidFill>
                  <a:srgbClr val="FF3131"/>
                </a:solidFill>
                <a:latin typeface="Arial Bold"/>
                <a:ea typeface="Arial Bold"/>
                <a:cs typeface="Arial Bold"/>
                <a:sym typeface="Arial Bold"/>
              </a:rPr>
              <a:t>PS Category- </a:t>
            </a:r>
            <a:r>
              <a:rPr lang="en-US" b="true" sz="29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Software</a:t>
            </a:r>
          </a:p>
          <a:p>
            <a:pPr algn="l" marL="524831" indent="-262415" lvl="1">
              <a:lnSpc>
                <a:spcPts val="6960"/>
              </a:lnSpc>
              <a:buFont typeface="Arial"/>
              <a:buChar char="•"/>
            </a:pPr>
            <a:r>
              <a:rPr lang="en-US" b="true" sz="2900">
                <a:solidFill>
                  <a:srgbClr val="FF3131"/>
                </a:solidFill>
                <a:latin typeface="Arial Bold"/>
                <a:ea typeface="Arial Bold"/>
                <a:cs typeface="Arial Bold"/>
                <a:sym typeface="Arial Bold"/>
              </a:rPr>
              <a:t>Team ID-</a:t>
            </a:r>
            <a:r>
              <a:rPr lang="en-US" b="true" sz="29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 SIH2026-158</a:t>
            </a:r>
          </a:p>
          <a:p>
            <a:pPr algn="l" marL="524831" indent="-262415" lvl="1">
              <a:lnSpc>
                <a:spcPts val="6960"/>
              </a:lnSpc>
              <a:buFont typeface="Arial"/>
              <a:buChar char="•"/>
            </a:pPr>
            <a:r>
              <a:rPr lang="en-US" b="true" sz="2900">
                <a:solidFill>
                  <a:srgbClr val="FF3131"/>
                </a:solidFill>
                <a:latin typeface="Arial Bold"/>
                <a:ea typeface="Arial Bold"/>
                <a:cs typeface="Arial Bold"/>
                <a:sym typeface="Arial Bold"/>
              </a:rPr>
              <a:t>Team Name (Registered on portal)-</a:t>
            </a:r>
            <a:r>
              <a:rPr lang="en-US" b="true" sz="29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INFERNO</a:t>
            </a:r>
            <a:r>
              <a:rPr lang="en-US" b="true" sz="2900">
                <a:solidFill>
                  <a:srgbClr val="FF3131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  <a:r>
              <a:rPr lang="en-US" b="true" sz="29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Vl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0199708" y="1935680"/>
            <a:ext cx="6957908" cy="7732452"/>
          </a:xfrm>
          <a:custGeom>
            <a:avLst/>
            <a:gdLst/>
            <a:ahLst/>
            <a:cxnLst/>
            <a:rect r="r" b="b" t="t" l="l"/>
            <a:pathLst>
              <a:path h="7732452" w="6957908">
                <a:moveTo>
                  <a:pt x="0" y="0"/>
                </a:moveTo>
                <a:lnTo>
                  <a:pt x="6957908" y="0"/>
                </a:lnTo>
                <a:lnTo>
                  <a:pt x="6957908" y="7732452"/>
                </a:lnTo>
                <a:lnTo>
                  <a:pt x="0" y="773245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11996876" y="3232214"/>
            <a:ext cx="4805267" cy="5139357"/>
            <a:chOff x="0" y="0"/>
            <a:chExt cx="6407023" cy="685247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407023" cy="6852412"/>
            </a:xfrm>
            <a:custGeom>
              <a:avLst/>
              <a:gdLst/>
              <a:ahLst/>
              <a:cxnLst/>
              <a:rect r="r" b="b" t="t" l="l"/>
              <a:pathLst>
                <a:path h="6852412" w="6407023">
                  <a:moveTo>
                    <a:pt x="0" y="0"/>
                  </a:moveTo>
                  <a:lnTo>
                    <a:pt x="6407023" y="0"/>
                  </a:lnTo>
                  <a:lnTo>
                    <a:pt x="6407023" y="6852412"/>
                  </a:lnTo>
                  <a:lnTo>
                    <a:pt x="0" y="68524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-149475" b="-1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ns0:sld xmlns:ns0="http://schemas.openxmlformats.org/presentationml/2006/main" xmlns:ns1="http://schemas.openxmlformats.org/drawingml/2006/main" xmlns:ns2="http://schemas.openxmlformats.org/officeDocument/2006/relationships">
  <ns0:cSld>
    <ns0:bg>
      <ns0:bgPr>
        <ns1:solidFill>
          <ns1:srgbClr val="F4F6F9"/>
        </ns1:solidFill>
      </ns0:bgPr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grpSp>
        <ns0:nvGrpSpPr>
          <ns0:cNvPr name="Group 2" id="2"/>
          <ns0:cNvGrpSpPr/>
          <ns0:nvPr/>
        </ns0:nvGrpSpPr>
        <ns0:grpSpPr>
          <ns1:xfrm rot="0">
            <ns1:off x="470535" y="401955"/>
            <ns1:ext cx="2076450" cy="869442"/>
            <ns1:chOff x="0" y="0"/>
            <ns1:chExt cx="2768600" cy="1159256"/>
          </ns1:xfrm>
        </ns0:grpSpPr>
        <ns0:sp>
          <ns0:nvSpPr>
            <ns0:cNvPr name="Freeform 3" id="3"/>
            <ns0:cNvSpPr/>
            <ns0:nvPr/>
          </ns0:nvSpPr>
          <ns0:spPr>
            <ns1:xfrm flipH="false" flipV="false" rot="0">
              <ns1:off x="0" y="0"/>
              <ns1:ext cx="2768600" cy="1159256"/>
            </ns1:xfrm>
            <ns1:custGeom>
              <ns1:avLst/>
              <ns1:gdLst/>
              <ns1:ahLst/>
              <ns1:cxnLst/>
              <ns1:rect r="r" b="b" t="t" l="l"/>
              <ns1:pathLst>
                <ns1:path h="1159256" w="2768600">
                  <ns1:moveTo>
                    <ns1:pt x="0" y="186944"/>
                  </ns1:moveTo>
                  <ns1:cubicBezTo>
                    <ns1:pt x="0" y="83693"/>
                    <ns1:pt x="83693" y="0"/>
                    <ns1:pt x="186944" y="0"/>
                  </ns1:cubicBezTo>
                  <ns1:lnTo>
                    <ns1:pt x="2581656" y="0"/>
                  </ns1:lnTo>
                  <ns1:cubicBezTo>
                    <ns1:pt x="2684907" y="0"/>
                    <ns1:pt x="2768600" y="83693"/>
                    <ns1:pt x="2768600" y="186944"/>
                  </ns1:cubicBezTo>
                  <ns1:lnTo>
                    <ns1:pt x="2768600" y="972312"/>
                  </ns1:lnTo>
                  <ns1:cubicBezTo>
                    <ns1:pt x="2768600" y="1075563"/>
                    <ns1:pt x="2684907" y="1159256"/>
                    <ns1:pt x="2581656" y="1159256"/>
                  </ns1:cubicBezTo>
                  <ns1:lnTo>
                    <ns1:pt x="186944" y="1159256"/>
                  </ns1:lnTo>
                  <ns1:cubicBezTo>
                    <ns1:pt x="83693" y="1159256"/>
                    <ns1:pt x="0" y="1075563"/>
                    <ns1:pt x="0" y="972312"/>
                  </ns1:cubicBezTo>
                  <ns1:close/>
                </ns1:path>
              </ns1:pathLst>
            </ns1:custGeom>
            <ns1:solidFill>
              <ns1:srgbClr val="FFFFFF"/>
            </ns1:solidFill>
            <ns1:ln w="19050" cap="sq">
              <ns1:solidFill>
                <ns1:srgbClr val="1C7293"/>
              </ns1:solidFill>
              <ns1:prstDash val="solid"/>
              <ns1:miter/>
            </ns1:ln>
          </ns0:spPr>
        </ns0:sp>
      </ns0:grpSp>
      <ns0:grpSp>
        <ns0:nvGrpSpPr>
          <ns0:cNvPr name="Group 4" id="4"/>
          <ns0:cNvGrpSpPr/>
          <ns0:nvPr/>
        </ns0:nvGrpSpPr>
        <ns0:grpSpPr>
          <ns1:xfrm rot="0">
            <ns1:off x="480060" y="411480"/>
            <ns1:ext cx="2057400" cy="850392"/>
            <ns1:chOff x="0" y="0"/>
            <ns1:chExt cx="2743200" cy="1133856"/>
          </ns1:xfrm>
        </ns0:grpSpPr>
        <ns0:sp>
          <ns0:nvSpPr>
            <ns0:cNvPr name="Freeform 5" id="5"/>
            <ns0:cNvSpPr/>
            <ns0:nvPr/>
          </ns0:nvSpPr>
          <ns0:spPr>
            <ns1:xfrm flipH="false" flipV="false" rot="0">
              <ns1:off x="0" y="0"/>
              <ns1:ext cx="2743200" cy="1133856"/>
            </ns1:xfrm>
            <ns1:custGeom>
              <ns1:avLst/>
              <ns1:gdLst/>
              <ns1:ahLst/>
              <ns1:cxnLst/>
              <ns1:rect r="r" b="b" t="t" l="l"/>
              <ns1:pathLst>
                <ns1:path h="1133856" w="2743200">
                  <ns1:moveTo>
                    <ns1:pt x="0" y="0"/>
                  </ns1:moveTo>
                  <ns1:lnTo>
                    <ns1:pt x="2743200" y="0"/>
                  </ns1:lnTo>
                  <ns1:lnTo>
                    <ns1:pt x="2743200" y="1133856"/>
                  </ns1:lnTo>
                  <ns1:lnTo>
                    <ns1:pt x="0" y="1133856"/>
                  </ns1:lnTo>
                  <ns1:close/>
                </ns1:path>
              </ns1:pathLst>
            </ns1:custGeom>
            <ns1:blipFill>
              <ns1:blip ns2:embed="rId3">
                <ns1:alphaModFix amt="0"/>
              </ns1:blip>
              <ns1:stretch>
                <ns1:fillRect l="-3032" t="0" r="-3032" b="0"/>
              </ns1:stretch>
            </ns1:blipFill>
          </ns0:spPr>
        </ns0:sp>
        <ns0:sp>
          <ns0:nvSpPr>
            <ns0:cNvPr name="TextBox 6" id="6"/>
            <ns0:cNvSpPr txBox="true"/>
            <ns0:nvPr/>
          </ns0:nvSpPr>
          <ns0:spPr>
            <ns1:xfrm>
              <ns1:off x="0" y="-47625"/>
              <ns1:ext cx="2743200" cy="1181481"/>
            </ns1:xfrm>
            <ns1:prstGeom prst="rect">
              <ns1:avLst/>
            </ns1:prstGeom>
          </ns0:spPr>
          <ns0:txBody>
            <ns1:bodyPr anchor="ctr" rtlCol="false" tIns="0" lIns="0" bIns="0" rIns="0"/>
            <ns1:lstStyle/>
            <ns1:p>
              <ns1:pPr algn="ctr">
                <ns1:lnSpc>
                  <ns1:spcPts val="2519"/>
                </ns1:lnSpc>
              </ns1:pPr>
              <ns1:r>
                <ns1:rPr lang="en-US" b="true" sz="2099">
                  <ns1:gradFill>
                    <ns1:gsLst>
                      <ns1:gs pos="0">
                        <ns1:srgbClr val="091E27">
                          <ns1:alpha val="100000"/>
                        </ns1:srgbClr>
                      </ns1:gs>
                      <ns1:gs pos="100000">
                        <ns1:srgbClr val="48F0E7">
                          <ns1:alpha val="100000"/>
                        </ns1:srgbClr>
                      </ns1:gs>
                    </ns1:gsLst>
                    <ns1:lin ang="18900000"/>
                  </ns1:gradFill>
                  <ns1:latin typeface="Calibri (MS) Bold"/>
                  <ns1:ea typeface="Calibri (MS) Bold"/>
                  <ns1:cs typeface="Calibri (MS) Bold"/>
                  <ns1:sym typeface="Calibri (MS) Bold"/>
                </ns1:rPr>
                <ns1:t>INFERNO VI</ns1:t>
              </ns1:r>
            </ns1:p>
          </ns0:txBody>
        </ns0:sp>
      </ns0:grpSp>
      <ns0:sp>
        <ns0:nvSpPr>
          <ns0:cNvPr name="TextBox 7" id="7"/>
          <ns0:cNvSpPr txBox="true"/>
          <ns0:nvPr/>
        </ns0:nvSpPr>
        <ns0:spPr>
          <ns1:xfrm rot="0">
            <ns1:off x="2880360" y="364998"/>
            <ns1:ext cx="14950440" cy="1104900"/>
          </ns1:xfrm>
          <ns1:prstGeom prst="rect">
            <ns1:avLst/>
          </ns1:prstGeom>
        </ns0:spPr>
        <ns0:txBody>
          <ns1:bodyPr anchor="t" rtlCol="false" tIns="0" lIns="0" bIns="0" rIns="0">
            <ns1:spAutoFit/>
          </ns1:bodyPr>
          <ns1:lstStyle/>
          <ns1:p>
            <ns1:pPr algn="l">
              <ns1:lnSpc>
                <ns1:spcPts val="4320"/>
              </ns1:lnSpc>
            </ns1:pPr>
            <ns1:r>
              <ns1:rPr lang="en-US" b="true" sz="3600">
                <ns1:solidFill>
                  <ns1:srgbClr val="0B2545"/>
                </ns1:solidFill>
                <ns1:latin typeface="Cambria Bold"/>
                <ns1:ea typeface="Cambria Bold"/>
                <ns1:cs typeface="Cambria Bold"/>
                <ns1:sym typeface="Cambria Bold"/>
              </ns1:rPr>
              <ns1:t>MAHALINK: INTEROPERABILITY MIDDLEWARE </ns1:t>
            </ns1:r>
            <ns1:r>
              <ns1:rPr lang="en-US" b="true" sz="3600">
                <ns1:solidFill>
                  <ns1:srgbClr val="1C7293"/>
                </ns1:solidFill>
                <ns1:latin typeface="Cambria Bold"/>
                <ns1:ea typeface="Cambria Bold"/>
                <ns1:cs typeface="Cambria Bold"/>
                <ns1:sym typeface="Cambria Bold"/>
              </ns1:rPr>
              <ns1:t>FOR MAHARASHTRA'S DIGITAL GOVERNMENT</ns1:t>
            </ns1:r>
          </ns1:p>
        </ns0:txBody>
      </ns0:sp>
      <ns0:grpSp>
        <ns0:nvGrpSpPr>
          <ns0:cNvPr name="Group 8" id="8"/>
          <ns0:cNvGrpSpPr/>
          <ns0:nvPr/>
        </ns0:nvGrpSpPr>
        <ns0:grpSpPr>
          <ns1:xfrm rot="0">
            <ns1:off x="539115" y="1773555"/>
            <ns1:ext cx="9003030" cy="2145030"/>
            <ns1:chOff x="0" y="0"/>
            <ns1:chExt cx="12004040" cy="2860040"/>
          </ns1:xfrm>
        </ns0:grpSpPr>
        <ns0:sp>
          <ns0:nvSpPr>
            <ns0:cNvPr name="Freeform 9" id="9"/>
            <ns0:cNvSpPr/>
            <ns0:nvPr/>
          </ns0:nvSpPr>
          <ns0:spPr>
            <ns1:xfrm flipH="false" flipV="false" rot="0">
              <ns1:off x="0" y="0"/>
              <ns1:ext cx="12004040" cy="2860040"/>
            </ns1:xfrm>
            <ns1:custGeom>
              <ns1:avLst/>
              <ns1:gdLst/>
              <ns1:ahLst/>
              <ns1:cxnLst/>
              <ns1:rect r="r" b="b" t="t" l="l"/>
              <ns1:pathLst>
                <ns1:path h="2860040" w="12004040">
                  <ns1:moveTo>
                    <ns1:pt x="0" y="147574"/>
                  </ns1:moveTo>
                  <ns1:cubicBezTo>
                    <ns1:pt x="0" y="66040"/>
                    <ns1:pt x="66040" y="0"/>
                    <ns1:pt x="147574" y="0"/>
                  </ns1:cubicBezTo>
                  <ns1:lnTo>
                    <ns1:pt x="11856466" y="0"/>
                  </ns1:lnTo>
                  <ns1:cubicBezTo>
                    <ns1:pt x="11938000" y="0"/>
                    <ns1:pt x="12004040" y="66040"/>
                    <ns1:pt x="12004040" y="147574"/>
                  </ns1:cubicBezTo>
                  <ns1:lnTo>
                    <ns1:pt x="12004040" y="2712466"/>
                  </ns1:lnTo>
                  <ns1:cubicBezTo>
                    <ns1:pt x="12004040" y="2794000"/>
                    <ns1:pt x="11938000" y="2860040"/>
                    <ns1:pt x="11856466" y="2860040"/>
                  </ns1:cubicBezTo>
                  <ns1:lnTo>
                    <ns1:pt x="147574" y="2860040"/>
                  </ns1:lnTo>
                  <ns1:cubicBezTo>
                    <ns1:pt x="66040" y="2860040"/>
                    <ns1:pt x="0" y="2794000"/>
                    <ns1:pt x="0" y="2712466"/>
                  </ns1:cubicBezTo>
                  <ns1:close/>
                </ns1:path>
              </ns1:pathLst>
            </ns1:custGeom>
            <ns1:solidFill>
              <ns1:srgbClr val="FFFFFF"/>
            </ns1:solidFill>
            <ns1:ln w="19050" cap="sq">
              <ns1:solidFill>
                <ns1:srgbClr val="D8DEE8"/>
              </ns1:solidFill>
              <ns1:prstDash val="solid"/>
              <ns1:miter/>
            </ns1:ln>
          </ns0:spPr>
        </ns0:sp>
      </ns0:grpSp>
      <ns0:grpSp>
        <ns0:nvGrpSpPr>
          <ns0:cNvPr name="Group 10" id="10"/>
          <ns0:cNvGrpSpPr/>
          <ns0:nvPr/>
        </ns0:nvGrpSpPr>
        <ns0:grpSpPr>
          <ns1:xfrm rot="0">
            <ns1:off x="548640" y="1783080"/>
            <ns1:ext cx="123444" cy="2125980"/>
            <ns1:chOff x="0" y="0"/>
            <ns1:chExt cx="164592" cy="2834640"/>
          </ns1:xfrm>
        </ns0:grpSpPr>
        <ns0:sp>
          <ns0:nvSpPr>
            <ns0:cNvPr name="Freeform 11" id="11"/>
            <ns0:cNvSpPr/>
            <ns0:nvPr/>
          </ns0:nvSpPr>
          <ns0:spPr>
            <ns1:xfrm flipH="false" flipV="false" rot="0">
              <ns1:off x="0" y="0"/>
              <ns1:ext cx="164592" cy="2834640"/>
            </ns1:xfrm>
            <ns1:custGeom>
              <ns1:avLst/>
              <ns1:gdLst/>
              <ns1:ahLst/>
              <ns1:cxnLst/>
              <ns1:rect r="r" b="b" t="t" l="l"/>
              <ns1:pathLst>
                <ns1:path h="2834640" w="164592">
                  <ns1:moveTo>
                    <ns1:pt x="0" y="27432"/>
                  </ns1:moveTo>
                  <ns1:cubicBezTo>
                    <ns1:pt x="0" y="12319"/>
                    <ns1:pt x="12319" y="0"/>
                    <ns1:pt x="27432" y="0"/>
                  </ns1:cubicBezTo>
                  <ns1:lnTo>
                    <ns1:pt x="137160" y="0"/>
                  </ns1:lnTo>
                  <ns1:cubicBezTo>
                    <ns1:pt x="152273" y="0"/>
                    <ns1:pt x="164592" y="12319"/>
                    <ns1:pt x="164592" y="27432"/>
                  </ns1:cubicBezTo>
                  <ns1:lnTo>
                    <ns1:pt x="164592" y="2807208"/>
                  </ns1:lnTo>
                  <ns1:cubicBezTo>
                    <ns1:pt x="164592" y="2822321"/>
                    <ns1:pt x="152273" y="2834640"/>
                    <ns1:pt x="137160" y="2834640"/>
                  </ns1:cubicBezTo>
                  <ns1:lnTo>
                    <ns1:pt x="27432" y="2834640"/>
                  </ns1:lnTo>
                  <ns1:cubicBezTo>
                    <ns1:pt x="12319" y="2834640"/>
                    <ns1:pt x="0" y="2822321"/>
                    <ns1:pt x="0" y="2807208"/>
                  </ns1:cubicBezTo>
                  <ns1:close/>
                </ns1:path>
              </ns1:pathLst>
            </ns1:custGeom>
            <ns1:solidFill>
              <ns1:srgbClr val="B3261E"/>
            </ns1:solidFill>
          </ns0:spPr>
        </ns0:sp>
      </ns0:grpSp>
      <ns0:grpSp>
        <ns0:nvGrpSpPr>
          <ns0:cNvPr name="Group 12" id="12"/>
          <ns0:cNvGrpSpPr/>
          <ns0:nvPr/>
        </ns0:nvGrpSpPr>
        <ns0:grpSpPr>
          <ns1:xfrm rot="0">
            <ns1:off x="932688" y="1947672"/>
            <ns1:ext cx="8298180" cy="444336"/>
            <ns1:chOff x="0" y="0"/>
            <ns1:chExt cx="11064240" cy="592448"/>
          </ns1:xfrm>
        </ns0:grpSpPr>
        <ns0:sp>
          <ns0:nvSpPr>
            <ns0:cNvPr name="Freeform 13" id="13"/>
            <ns0:cNvSpPr/>
            <ns0:nvPr/>
          </ns0:nvSpPr>
          <ns0:spPr>
            <ns1:xfrm flipH="false" flipV="false" rot="0">
              <ns1:off x="0" y="0"/>
              <ns1:ext cx="11064240" cy="592448"/>
            </ns1:xfrm>
            <ns1:custGeom>
              <ns1:avLst/>
              <ns1:gdLst/>
              <ns1:ahLst/>
              <ns1:cxnLst/>
              <ns1:rect r="r" b="b" t="t" l="l"/>
              <ns1:pathLst>
                <ns1:path h="592448" w="11064240">
                  <ns1:moveTo>
                    <ns1:pt x="0" y="0"/>
                  </ns1:moveTo>
                  <ns1:lnTo>
                    <ns1:pt x="11064240" y="0"/>
                  </ns1:lnTo>
                  <ns1:lnTo>
                    <ns1:pt x="11064240" y="592448"/>
                  </ns1:lnTo>
                  <ns1:lnTo>
                    <ns1:pt x="0" y="592448"/>
                  </ns1:lnTo>
                  <ns1:close/>
                </ns1:path>
              </ns1:pathLst>
            </ns1:custGeom>
            <ns1:blipFill>
              <ns1:blip ns2:embed="rId3">
                <ns1:alphaModFix amt="0"/>
              </ns1:blip>
              <ns1:stretch>
                <ns1:fillRect l="0" t="-317589" r="0" b="-310194"/>
              </ns1:stretch>
            </ns1:blipFill>
          </ns0:spPr>
        </ns0:sp>
        <ns0:sp>
          <ns0:nvSpPr>
            <ns0:cNvPr name="TextBox 14" id="14"/>
            <ns0:cNvSpPr txBox="true"/>
            <ns0:nvPr/>
          </ns0:nvSpPr>
          <ns0:spPr>
            <ns1:xfrm>
              <ns1:off x="0" y="-47625"/>
              <ns1:ext cx="11064240" cy="640073"/>
            </ns1:xfrm>
            <ns1:prstGeom prst="rect">
              <ns1:avLst/>
            </ns1:prstGeom>
          </ns0:spPr>
          <ns0:txBody>
            <ns1:bodyPr anchor="ctr" rtlCol="false" tIns="0" lIns="0" bIns="0" rIns="0"/>
            <ns1:lstStyle/>
            <ns1:p>
              <ns1:pPr algn="l">
                <ns1:lnSpc>
                  <ns1:spcPts val="2699"/>
                </ns1:lnSpc>
              </ns1:pPr>
              <ns1:r>
                <ns1:rPr lang="en-US" sz="2249" b="true">
                  <ns1:solidFill>
                    <ns1:srgbClr val="0B2545"/>
                  </ns1:solidFill>
                  <ns1:latin typeface="Calibri (MS) Bold"/>
                  <ns1:ea typeface="Calibri (MS) Bold"/>
                  <ns1:cs typeface="Calibri (MS) Bold"/>
                  <ns1:sym typeface="Calibri (MS) Bold"/>
                </ns1:rPr>
                <ns1:t>Real-world issue</ns1:t>
              </ns1:r>
            </ns1:p>
          </ns0:txBody>
        </ns0:sp>
      </ns0:grpSp>
      <ns0:sp>
        <ns0:nvSpPr>
          <ns0:cNvPr name="TextBox 15" id="15"/>
          <ns0:cNvSpPr txBox="true"/>
          <ns0:nvPr/>
        </ns0:nvSpPr>
        <ns0:spPr>
          <ns1:xfrm rot="0">
            <ns1:off x="932688" y="2329434"/>
            <ns1:ext cx="8298180" cy="948804"/>
          </ns1:xfrm>
          <ns1:prstGeom prst="rect">
            <ns1:avLst/>
          </ns1:prstGeom>
        </ns0:spPr>
        <ns0:txBody>
          <ns1:bodyPr anchor="t" rtlCol="false" tIns="0" lIns="0" bIns="0" rIns="0">
            <ns1:spAutoFit/>
          </ns1:bodyPr>
          <ns1:lstStyle/>
          <ns1:p>
            <ns1:pPr algn="l">
              <ns1:lnSpc>
                <ns1:spcPts val="2429"/>
              </ns1:lnSpc>
            </ns1:pPr>
            <ns1:r>
              <ns1:rPr lang="en-US" sz="1874">
                <ns1:solidFill>
                  <ns1:srgbClr val="15263B"/>
                </ns1:solidFill>
                <ns1:latin typeface="Calibri (MS)"/>
                <ns1:ea typeface="Calibri (MS)"/>
                <ns1:cs typeface="Calibri (MS)"/>
                <ns1:sym typeface="Calibri (MS)"/>
              </ns1:rPr>
              <ns1:t>Citizens accessing Aaple Sarkar (500+ services) must manually submit redundant physical affidavits and duplicate scans because backend state databases (Mahabhumi, Vahan, Sarathi, MahaOnline) operate in isolated departmental silos, violating the IndEA 2.0 'Once-Only Principle' (OOP).</ns1:t>
            </ns1:r>
          </ns1:p>
        </ns0:txBody>
      </ns0:sp>
      <ns0:grpSp>
        <ns0:nvGrpSpPr>
          <ns0:cNvPr name="Group 16" id="16"/>
          <ns0:cNvGrpSpPr/>
          <ns0:nvPr/>
        </ns0:nvGrpSpPr>
        <ns0:grpSpPr>
          <ns1:xfrm rot="0">
            <ns1:off x="539115" y="4146423"/>
            <ns1:ext cx="9003030" cy="2145030"/>
            <ns1:chOff x="0" y="0"/>
            <ns1:chExt cx="12004040" cy="2860040"/>
          </ns1:xfrm>
        </ns0:grpSpPr>
        <ns0:sp>
          <ns0:nvSpPr>
            <ns0:cNvPr name="Freeform 17" id="17"/>
            <ns0:cNvSpPr/>
            <ns0:nvPr/>
          </ns0:nvSpPr>
          <ns0:spPr>
            <ns1:xfrm flipH="false" flipV="false" rot="0">
              <ns1:off x="0" y="0"/>
              <ns1:ext cx="12004040" cy="2860040"/>
            </ns1:xfrm>
            <ns1:custGeom>
              <ns1:avLst/>
              <ns1:gdLst/>
              <ns1:ahLst/>
              <ns1:cxnLst/>
              <ns1:rect r="r" b="b" t="t" l="l"/>
              <ns1:pathLst>
                <ns1:path h="2860040" w="12004040">
                  <ns1:moveTo>
                    <ns1:pt x="0" y="147574"/>
                  </ns1:moveTo>
                  <ns1:cubicBezTo>
                    <ns1:pt x="0" y="66040"/>
                    <ns1:pt x="66040" y="0"/>
                    <ns1:pt x="147574" y="0"/>
                  </ns1:cubicBezTo>
                  <ns1:lnTo>
                    <ns1:pt x="11856466" y="0"/>
                  </ns1:lnTo>
                  <ns1:cubicBezTo>
                    <ns1:pt x="11938000" y="0"/>
                    <ns1:pt x="12004040" y="66040"/>
                    <ns1:pt x="12004040" y="147574"/>
                  </ns1:cubicBezTo>
                  <ns1:lnTo>
                    <ns1:pt x="12004040" y="2712466"/>
                  </ns1:lnTo>
                  <ns1:cubicBezTo>
                    <ns1:pt x="12004040" y="2794000"/>
                    <ns1:pt x="11938000" y="2860040"/>
                    <ns1:pt x="11856466" y="2860040"/>
                  </ns1:cubicBezTo>
                  <ns1:lnTo>
                    <ns1:pt x="147574" y="2860040"/>
                  </ns1:lnTo>
                  <ns1:cubicBezTo>
                    <ns1:pt x="66040" y="2860040"/>
                    <ns1:pt x="0" y="2794000"/>
                    <ns1:pt x="0" y="2712466"/>
                  </ns1:cubicBezTo>
                  <ns1:close/>
                </ns1:path>
              </ns1:pathLst>
            </ns1:custGeom>
            <ns1:solidFill>
              <ns1:srgbClr val="FFFFFF"/>
            </ns1:solidFill>
            <ns1:ln w="19050" cap="sq">
              <ns1:solidFill>
                <ns1:srgbClr val="D8DEE8"/>
              </ns1:solidFill>
              <ns1:prstDash val="solid"/>
              <ns1:miter/>
            </ns1:ln>
          </ns0:spPr>
        </ns0:sp>
      </ns0:grpSp>
      <ns0:grpSp>
        <ns0:nvGrpSpPr>
          <ns0:cNvPr name="Group 18" id="18"/>
          <ns0:cNvGrpSpPr/>
          <ns0:nvPr/>
        </ns0:nvGrpSpPr>
        <ns0:grpSpPr>
          <ns1:xfrm rot="0">
            <ns1:off x="548640" y="4155948"/>
            <ns1:ext cx="123444" cy="2125980"/>
            <ns1:chOff x="0" y="0"/>
            <ns1:chExt cx="164592" cy="2834640"/>
          </ns1:xfrm>
        </ns0:grpSpPr>
        <ns0:sp>
          <ns0:nvSpPr>
            <ns0:cNvPr name="Freeform 19" id="19"/>
            <ns0:cNvSpPr/>
            <ns0:nvPr/>
          </ns0:nvSpPr>
          <ns0:spPr>
            <ns1:xfrm flipH="false" flipV="false" rot="0">
              <ns1:off x="0" y="0"/>
              <ns1:ext cx="164592" cy="2834640"/>
            </ns1:xfrm>
            <ns1:custGeom>
              <ns1:avLst/>
              <ns1:gdLst/>
              <ns1:ahLst/>
              <ns1:cxnLst/>
              <ns1:rect r="r" b="b" t="t" l="l"/>
              <ns1:pathLst>
                <ns1:path h="2834640" w="164592">
                  <ns1:moveTo>
                    <ns1:pt x="0" y="27432"/>
                  </ns1:moveTo>
                  <ns1:cubicBezTo>
                    <ns1:pt x="0" y="12319"/>
                    <ns1:pt x="12319" y="0"/>
                    <ns1:pt x="27432" y="0"/>
                  </ns1:cubicBezTo>
                  <ns1:lnTo>
                    <ns1:pt x="137160" y="0"/>
                  </ns1:lnTo>
                  <ns1:cubicBezTo>
                    <ns1:pt x="152273" y="0"/>
                    <ns1:pt x="164592" y="12319"/>
                    <ns1:pt x="164592" y="27432"/>
                  </ns1:cubicBezTo>
                  <ns1:lnTo>
                    <ns1:pt x="164592" y="2807208"/>
                  </ns1:lnTo>
                  <ns1:cubicBezTo>
                    <ns1:pt x="164592" y="2822321"/>
                    <ns1:pt x="152273" y="2834640"/>
                    <ns1:pt x="137160" y="2834640"/>
                  </ns1:cubicBezTo>
                  <ns1:lnTo>
                    <ns1:pt x="27432" y="2834640"/>
                  </ns1:lnTo>
                  <ns1:cubicBezTo>
                    <ns1:pt x="12319" y="2834640"/>
                    <ns1:pt x="0" y="2822321"/>
                    <ns1:pt x="0" y="2807208"/>
                  </ns1:cubicBezTo>
                  <ns1:close/>
                </ns1:path>
              </ns1:pathLst>
            </ns1:custGeom>
            <ns1:solidFill>
              <ns1:srgbClr val="D98E04"/>
            </ns1:solidFill>
          </ns0:spPr>
        </ns0:sp>
      </ns0:grpSp>
      <ns0:grpSp>
        <ns0:nvGrpSpPr>
          <ns0:cNvPr name="Group 20" id="20"/>
          <ns0:cNvGrpSpPr/>
          <ns0:nvPr/>
        </ns0:nvGrpSpPr>
        <ns0:grpSpPr>
          <ns1:xfrm rot="0">
            <ns1:off x="932688" y="4320540"/>
            <ns1:ext cx="8298180" cy="444336"/>
            <ns1:chOff x="0" y="0"/>
            <ns1:chExt cx="11064240" cy="592448"/>
          </ns1:xfrm>
        </ns0:grpSpPr>
        <ns0:sp>
          <ns0:nvSpPr>
            <ns0:cNvPr name="Freeform 21" id="21"/>
            <ns0:cNvSpPr/>
            <ns0:nvPr/>
          </ns0:nvSpPr>
          <ns0:spPr>
            <ns1:xfrm flipH="false" flipV="false" rot="0">
              <ns1:off x="0" y="0"/>
              <ns1:ext cx="11064240" cy="592448"/>
            </ns1:xfrm>
            <ns1:custGeom>
              <ns1:avLst/>
              <ns1:gdLst/>
              <ns1:ahLst/>
              <ns1:cxnLst/>
              <ns1:rect r="r" b="b" t="t" l="l"/>
              <ns1:pathLst>
                <ns1:path h="592448" w="11064240">
                  <ns1:moveTo>
                    <ns1:pt x="0" y="0"/>
                  </ns1:moveTo>
                  <ns1:lnTo>
                    <ns1:pt x="11064240" y="0"/>
                  </ns1:lnTo>
                  <ns1:lnTo>
                    <ns1:pt x="11064240" y="592448"/>
                  </ns1:lnTo>
                  <ns1:lnTo>
                    <ns1:pt x="0" y="592448"/>
                  </ns1:lnTo>
                  <ns1:close/>
                </ns1:path>
              </ns1:pathLst>
            </ns1:custGeom>
            <ns1:blipFill>
              <ns1:blip ns2:embed="rId3">
                <ns1:alphaModFix amt="0"/>
              </ns1:blip>
              <ns1:stretch>
                <ns1:fillRect l="0" t="-317589" r="0" b="-310194"/>
              </ns1:stretch>
            </ns1:blipFill>
          </ns0:spPr>
        </ns0:sp>
        <ns0:sp>
          <ns0:nvSpPr>
            <ns0:cNvPr name="TextBox 22" id="22"/>
            <ns0:cNvSpPr txBox="true"/>
            <ns0:nvPr/>
          </ns0:nvSpPr>
          <ns0:spPr>
            <ns1:xfrm>
              <ns1:off x="0" y="-47625"/>
              <ns1:ext cx="11064240" cy="640073"/>
            </ns1:xfrm>
            <ns1:prstGeom prst="rect">
              <ns1:avLst/>
            </ns1:prstGeom>
          </ns0:spPr>
          <ns0:txBody>
            <ns1:bodyPr anchor="ctr" rtlCol="false" tIns="0" lIns="0" bIns="0" rIns="0"/>
            <ns1:lstStyle/>
            <ns1:p>
              <ns1:pPr algn="l">
                <ns1:lnSpc>
                  <ns1:spcPts val="2699"/>
                </ns1:lnSpc>
              </ns1:pPr>
              <ns1:r>
                <ns1:rPr lang="en-US" sz="2249" b="true">
                  <ns1:solidFill>
                    <ns1:srgbClr val="0B2545"/>
                  </ns1:solidFill>
                  <ns1:latin typeface="Calibri (MS) Bold"/>
                  <ns1:ea typeface="Calibri (MS) Bold"/>
                  <ns1:cs typeface="Calibri (MS) Bold"/>
                  <ns1:sym typeface="Calibri (MS) Bold"/>
                </ns1:rPr>
                <ns1:t>Why it matters</ns1:t>
              </ns1:r>
            </ns1:p>
          </ns0:txBody>
        </ns0:sp>
      </ns0:grpSp>
      <ns0:sp>
        <ns0:nvSpPr>
          <ns0:cNvPr name="TextBox 23" id="23"/>
          <ns0:cNvSpPr txBox="true"/>
          <ns0:nvPr/>
        </ns0:nvSpPr>
        <ns0:spPr>
          <ns1:xfrm rot="0">
            <ns1:off x="932688" y="4702302"/>
            <ns1:ext cx="8298180" cy="948804"/>
          </ns1:xfrm>
          <ns1:prstGeom prst="rect">
            <ns1:avLst/>
          </ns1:prstGeom>
        </ns0:spPr>
        <ns0:txBody>
          <ns1:bodyPr anchor="t" rtlCol="false" tIns="0" lIns="0" bIns="0" rIns="0">
            <ns1:spAutoFit/>
          </ns1:bodyPr>
          <ns1:lstStyle/>
          <ns1:p>
            <ns1:pPr algn="l">
              <ns1:lnSpc>
                <ns1:spcPts val="2429"/>
              </ns1:lnSpc>
            </ns1:pPr>
            <ns1:r>
              <ns1:rPr lang="en-US" sz="1874">
                <ns1:solidFill>
                  <ns1:srgbClr val="15263B"/>
                </ns1:solidFill>
                <ns1:latin typeface="Calibri (MS)"/>
                <ns1:ea typeface="Calibri (MS)"/>
                <ns1:cs typeface="Calibri (MS)"/>
                <ns1:sym typeface="Calibri (MS)"/>
              </ns1:rPr>
              <ns1:t>CAG State Audit revealed 67% of key citizen services remain functionally fragmented at the backend, with 33 lakh pending applications. MSDP-2024 officially established the State Data Authority (SDA) specifically to eliminate this multi-hundred-crore vendor lock-in and inter-departmental barrier.</ns1:t>
            </ns1:r>
          </ns1:p>
        </ns0:txBody>
      </ns0:sp>
      <ns0:grpSp>
        <ns0:nvGrpSpPr>
          <ns0:cNvPr name="Group 24" id="24"/>
          <ns0:cNvGrpSpPr/>
          <ns0:nvPr/>
        </ns0:nvGrpSpPr>
        <ns0:grpSpPr>
          <ns1:xfrm rot="0">
            <ns1:off x="539115" y="6519291"/>
            <ns1:ext cx="9003030" cy="2145030"/>
            <ns1:chOff x="0" y="0"/>
            <ns1:chExt cx="12004040" cy="2860040"/>
          </ns1:xfrm>
        </ns0:grpSpPr>
        <ns0:sp>
          <ns0:nvSpPr>
            <ns0:cNvPr name="Freeform 25" id="25"/>
            <ns0:cNvSpPr/>
            <ns0:nvPr/>
          </ns0:nvSpPr>
          <ns0:spPr>
            <ns1:xfrm flipH="false" flipV="false" rot="0">
              <ns1:off x="0" y="0"/>
              <ns1:ext cx="12004040" cy="2860040"/>
            </ns1:xfrm>
            <ns1:custGeom>
              <ns1:avLst/>
              <ns1:gdLst/>
              <ns1:ahLst/>
              <ns1:cxnLst/>
              <ns1:rect r="r" b="b" t="t" l="l"/>
              <ns1:pathLst>
                <ns1:path h="2860040" w="12004040">
                  <ns1:moveTo>
                    <ns1:pt x="0" y="147574"/>
                  </ns1:moveTo>
                  <ns1:cubicBezTo>
                    <ns1:pt x="0" y="66040"/>
                    <ns1:pt x="66040" y="0"/>
                    <ns1:pt x="147574" y="0"/>
                  </ns1:cubicBezTo>
                  <ns1:lnTo>
                    <ns1:pt x="11856466" y="0"/>
                  </ns1:lnTo>
                  <ns1:cubicBezTo>
                    <ns1:pt x="11938000" y="0"/>
                    <ns1:pt x="12004040" y="66040"/>
                    <ns1:pt x="12004040" y="147574"/>
                  </ns1:cubicBezTo>
                  <ns1:lnTo>
                    <ns1:pt x="12004040" y="2712466"/>
                  </ns1:lnTo>
                  <ns1:cubicBezTo>
                    <ns1:pt x="12004040" y="2794000"/>
                    <ns1:pt x="11938000" y="2860040"/>
                    <ns1:pt x="11856466" y="2860040"/>
                  </ns1:cubicBezTo>
                  <ns1:lnTo>
                    <ns1:pt x="147574" y="2860040"/>
                  </ns1:lnTo>
                  <ns1:cubicBezTo>
                    <ns1:pt x="66040" y="2860040"/>
                    <ns1:pt x="0" y="2794000"/>
                    <ns1:pt x="0" y="2712466"/>
                  </ns1:cubicBezTo>
                  <ns1:close/>
                </ns1:path>
              </ns1:pathLst>
            </ns1:custGeom>
            <ns1:solidFill>
              <ns1:srgbClr val="FFFFFF"/>
            </ns1:solidFill>
            <ns1:ln w="19050" cap="sq">
              <ns1:solidFill>
                <ns1:srgbClr val="D8DEE8"/>
              </ns1:solidFill>
              <ns1:prstDash val="solid"/>
              <ns1:miter/>
            </ns1:ln>
          </ns0:spPr>
        </ns0:sp>
      </ns0:grpSp>
      <ns0:grpSp>
        <ns0:nvGrpSpPr>
          <ns0:cNvPr name="Group 26" id="26"/>
          <ns0:cNvGrpSpPr/>
          <ns0:nvPr/>
        </ns0:nvGrpSpPr>
        <ns0:grpSpPr>
          <ns1:xfrm rot="0">
            <ns1:off x="548640" y="6528816"/>
            <ns1:ext cx="123444" cy="2125980"/>
            <ns1:chOff x="0" y="0"/>
            <ns1:chExt cx="164592" cy="2834640"/>
          </ns1:xfrm>
        </ns0:grpSpPr>
        <ns0:sp>
          <ns0:nvSpPr>
            <ns0:cNvPr name="Freeform 27" id="27"/>
            <ns0:cNvSpPr/>
            <ns0:nvPr/>
          </ns0:nvSpPr>
          <ns0:spPr>
            <ns1:xfrm flipH="false" flipV="false" rot="0">
              <ns1:off x="0" y="0"/>
              <ns1:ext cx="164592" cy="2834640"/>
            </ns1:xfrm>
            <ns1:custGeom>
              <ns1:avLst/>
              <ns1:gdLst/>
              <ns1:ahLst/>
              <ns1:cxnLst/>
              <ns1:rect r="r" b="b" t="t" l="l"/>
              <ns1:pathLst>
                <ns1:path h="2834640" w="164592">
                  <ns1:moveTo>
                    <ns1:pt x="0" y="27432"/>
                  </ns1:moveTo>
                  <ns1:cubicBezTo>
                    <ns1:pt x="0" y="12319"/>
                    <ns1:pt x="12319" y="0"/>
                    <ns1:pt x="27432" y="0"/>
                  </ns1:cubicBezTo>
                  <ns1:lnTo>
                    <ns1:pt x="137160" y="0"/>
                  </ns1:lnTo>
                  <ns1:cubicBezTo>
                    <ns1:pt x="152273" y="0"/>
                    <ns1:pt x="164592" y="12319"/>
                    <ns1:pt x="164592" y="27432"/>
                  </ns1:cubicBezTo>
                  <ns1:lnTo>
                    <ns1:pt x="164592" y="2807208"/>
                  </ns1:lnTo>
                  <ns1:cubicBezTo>
                    <ns1:pt x="164592" y="2822321"/>
                    <ns1:pt x="152273" y="2834640"/>
                    <ns1:pt x="137160" y="2834640"/>
                  </ns1:cubicBezTo>
                  <ns1:lnTo>
                    <ns1:pt x="27432" y="2834640"/>
                  </ns1:lnTo>
                  <ns1:cubicBezTo>
                    <ns1:pt x="12319" y="2834640"/>
                    <ns1:pt x="0" y="2822321"/>
                    <ns1:pt x="0" y="2807208"/>
                  </ns1:cubicBezTo>
                  <ns1:close/>
                </ns1:path>
              </ns1:pathLst>
            </ns1:custGeom>
            <ns1:solidFill>
              <ns1:srgbClr val="1E7A46"/>
            </ns1:solidFill>
          </ns0:spPr>
        </ns0:sp>
      </ns0:grpSp>
      <ns0:grpSp>
        <ns0:nvGrpSpPr>
          <ns0:cNvPr name="Group 28" id="28"/>
          <ns0:cNvGrpSpPr/>
          <ns0:nvPr/>
        </ns0:nvGrpSpPr>
        <ns0:grpSpPr>
          <ns1:xfrm rot="0">
            <ns1:off x="932688" y="6693408"/>
            <ns1:ext cx="8298180" cy="444336"/>
            <ns1:chOff x="0" y="0"/>
            <ns1:chExt cx="11064240" cy="592448"/>
          </ns1:xfrm>
        </ns0:grpSpPr>
        <ns0:sp>
          <ns0:nvSpPr>
            <ns0:cNvPr name="Freeform 29" id="29"/>
            <ns0:cNvSpPr/>
            <ns0:nvPr/>
          </ns0:nvSpPr>
          <ns0:spPr>
            <ns1:xfrm flipH="false" flipV="false" rot="0">
              <ns1:off x="0" y="0"/>
              <ns1:ext cx="11064240" cy="592448"/>
            </ns1:xfrm>
            <ns1:custGeom>
              <ns1:avLst/>
              <ns1:gdLst/>
              <ns1:ahLst/>
              <ns1:cxnLst/>
              <ns1:rect r="r" b="b" t="t" l="l"/>
              <ns1:pathLst>
                <ns1:path h="592448" w="11064240">
                  <ns1:moveTo>
                    <ns1:pt x="0" y="0"/>
                  </ns1:moveTo>
                  <ns1:lnTo>
                    <ns1:pt x="11064240" y="0"/>
                  </ns1:lnTo>
                  <ns1:lnTo>
                    <ns1:pt x="11064240" y="592448"/>
                  </ns1:lnTo>
                  <ns1:lnTo>
                    <ns1:pt x="0" y="592448"/>
                  </ns1:lnTo>
                  <ns1:close/>
                </ns1:path>
              </ns1:pathLst>
            </ns1:custGeom>
            <ns1:blipFill>
              <ns1:blip ns2:embed="rId3">
                <ns1:alphaModFix amt="0"/>
              </ns1:blip>
              <ns1:stretch>
                <ns1:fillRect l="0" t="-317589" r="0" b="-310194"/>
              </ns1:stretch>
            </ns1:blipFill>
          </ns0:spPr>
        </ns0:sp>
        <ns0:sp>
          <ns0:nvSpPr>
            <ns0:cNvPr name="TextBox 30" id="30"/>
            <ns0:cNvSpPr txBox="true"/>
            <ns0:nvPr/>
          </ns0:nvSpPr>
          <ns0:spPr>
            <ns1:xfrm>
              <ns1:off x="0" y="-47625"/>
              <ns1:ext cx="11064240" cy="640073"/>
            </ns1:xfrm>
            <ns1:prstGeom prst="rect">
              <ns1:avLst/>
            </ns1:prstGeom>
          </ns0:spPr>
          <ns0:txBody>
            <ns1:bodyPr anchor="ctr" rtlCol="false" tIns="0" lIns="0" bIns="0" rIns="0"/>
            <ns1:lstStyle/>
            <ns1:p>
              <ns1:pPr algn="l">
                <ns1:lnSpc>
                  <ns1:spcPts val="2699"/>
                </ns1:lnSpc>
              </ns1:pPr>
              <ns1:r>
                <ns1:rPr lang="en-US" sz="2249" b="true">
                  <ns1:solidFill>
                    <ns1:srgbClr val="0B2545"/>
                  </ns1:solidFill>
                  <ns1:latin typeface="Calibri (MS) Bold"/>
                  <ns1:ea typeface="Calibri (MS) Bold"/>
                  <ns1:cs typeface="Calibri (MS) Bold"/>
                  <ns1:sym typeface="Calibri (MS) Bold"/>
                </ns1:rPr>
                <ns1:t>Our solution</ns1:t>
              </ns1:r>
            </ns1:p>
          </ns0:txBody>
        </ns0:sp>
      </ns0:grpSp>
      <ns0:sp>
        <ns0:nvSpPr>
          <ns0:cNvPr name="TextBox 31" id="31"/>
          <ns0:cNvSpPr txBox="true"/>
          <ns0:nvPr/>
        </ns0:nvSpPr>
        <ns0:spPr>
          <ns1:xfrm rot="0">
            <ns1:off x="932688" y="7075170"/>
            <ns1:ext cx="8298180" cy="948804"/>
          </ns1:xfrm>
          <ns1:prstGeom prst="rect">
            <ns1:avLst/>
          </ns1:prstGeom>
        </ns0:spPr>
        <ns0:txBody>
          <ns1:bodyPr anchor="t" rtlCol="false" tIns="0" lIns="0" bIns="0" rIns="0">
            <ns1:spAutoFit/>
          </ns1:bodyPr>
          <ns1:lstStyle/>
          <ns1:p>
            <ns1:pPr algn="l">
              <ns1:lnSpc>
                <ns1:spcPts val="2429"/>
              </ns1:lnSpc>
            </ns1:pPr>
            <ns1:r>
              <ns1:rPr lang="en-US" sz="1874">
                <ns1:solidFill>
                  <ns1:srgbClr val="15263B"/>
                </ns1:solidFill>
                <ns1:latin typeface="Calibri (MS)"/>
                <ns1:ea typeface="Calibri (MS)"/>
                <ns1:cs typeface="Calibri (MS)"/>
                <ns1:sym typeface="Calibri (MS)"/>
              </ns1:rPr>
              <ns1:t>MahaLink: A State-Level Federated Interoperability &amp; DEPA Consent Middleware deployed at State Data Centre (SDC Mahape). It wraps departmental legacy backends with DMZ adapters over MSWAN, enabling automated machine-to-machine data verification under DPDP Act 2023 compliance.</ns1:t>
            </ns1:r>
          </ns1:p>
        </ns0:txBody>
      </ns0:sp>
      <ns0:grpSp>
        <ns0:nvGrpSpPr>
          <ns0:cNvPr name="Group 32" id="32"/>
          <ns0:cNvGrpSpPr/>
          <ns0:nvPr/>
        </ns0:nvGrpSpPr>
        <ns0:grpSpPr>
          <ns1:xfrm rot="0">
            <ns1:off x="9944100" y="1783080"/>
            <ns1:ext cx="7749540" cy="438912"/>
            <ns1:chOff x="0" y="0"/>
            <ns1:chExt cx="10332720" cy="585216"/>
          </ns1:xfrm>
        </ns0:grpSpPr>
        <ns0:sp>
          <ns0:nvSpPr>
            <ns0:cNvPr name="Freeform 33" id="33"/>
            <ns0:cNvSpPr/>
            <ns0:nvPr/>
          </ns0:nvSpPr>
          <ns0:spPr>
            <ns1:xfrm flipH="false" flipV="false" rot="0">
              <ns1:off x="0" y="0"/>
              <ns1:ext cx="10332720" cy="585216"/>
            </ns1:xfrm>
            <ns1:custGeom>
              <ns1:avLst/>
              <ns1:gdLst/>
              <ns1:ahLst/>
              <ns1:cxnLst/>
              <ns1:rect r="r" b="b" t="t" l="l"/>
              <ns1:pathLst>
                <ns1:path h="585216" w="10332720">
                  <ns1:moveTo>
                    <ns1:pt x="0" y="0"/>
                  </ns1:moveTo>
                  <ns1:lnTo>
                    <ns1:pt x="10332720" y="0"/>
                  </ns1:lnTo>
                  <ns1:lnTo>
                    <ns1:pt x="10332720" y="585216"/>
                  </ns1:lnTo>
                  <ns1:lnTo>
                    <ns1:pt x="0" y="585216"/>
                  </ns1:lnTo>
                  <ns1:close/>
                </ns1:path>
              </ns1:pathLst>
            </ns1:custGeom>
            <ns1:blipFill>
              <ns1:blip ns2:embed="rId3">
                <ns1:alphaModFix amt="0"/>
              </ns1:blip>
              <ns1:stretch>
                <ns1:fillRect l="0" t="-294032" r="0" b="-294032"/>
              </ns1:stretch>
            </ns1:blipFill>
          </ns0:spPr>
        </ns0:sp>
        <ns0:sp>
          <ns0:nvSpPr>
            <ns0:cNvPr name="TextBox 34" id="34"/>
            <ns0:cNvSpPr txBox="true"/>
            <ns0:nvPr/>
          </ns0:nvSpPr>
          <ns0:spPr>
            <ns1:xfrm>
              <ns1:off x="0" y="-38100"/>
              <ns1:ext cx="10332720" cy="623316"/>
            </ns1:xfrm>
            <ns1:prstGeom prst="rect">
              <ns1:avLst/>
            </ns1:prstGeom>
          </ns0:spPr>
          <ns0:txBody>
            <ns1:bodyPr anchor="ctr" rtlCol="false" tIns="0" lIns="0" bIns="0" rIns="0"/>
            <ns1:lstStyle/>
            <ns1:p>
              <ns1:pPr algn="l">
                <ns1:lnSpc>
                  <ns1:spcPts val="2160"/>
                </ns1:lnSpc>
              </ns1:pPr>
              <ns1:r>
                <ns1:rPr lang="en-US" sz="1800" b="true">
                  <ns1:solidFill>
                    <ns1:srgbClr val="5B6B82"/>
                  </ns1:solidFill>
                  <ns1:latin typeface="Calibri (MS) Bold"/>
                  <ns1:ea typeface="Calibri (MS) Bold"/>
                  <ns1:cs typeface="Calibri (MS) Bold"/>
                  <ns1:sym typeface="Calibri (MS) Bold"/>
                </ns1:rPr>
                <ns1:t>RISK  →  SOLUTION</ns1:t>
              </ns1:r>
            </ns1:p>
          </ns0:txBody>
        </ns0:sp>
      </ns0:grpSp>
      <ns0:grpSp>
        <ns0:nvGrpSpPr>
          <ns0:cNvPr name="Group 35" id="35"/>
          <ns0:cNvGrpSpPr/>
          <ns0:nvPr/>
        </ns0:nvGrpSpPr>
        <ns0:grpSpPr>
          <ns1:xfrm rot="0">
            <ns1:off x="9934575" y="2294763"/>
            <ns1:ext cx="7768590" cy="1596390"/>
            <ns1:chOff x="0" y="0"/>
            <ns1:chExt cx="10358120" cy="2128520"/>
          </ns1:xfrm>
        </ns0:grpSpPr>
        <ns0:sp>
          <ns0:nvSpPr>
            <ns0:cNvPr name="Freeform 36" id="36"/>
            <ns0:cNvSpPr/>
            <ns0:nvPr/>
          </ns0:nvSpPr>
          <ns0:spPr>
            <ns1:xfrm flipH="false" flipV="false" rot="0">
              <ns1:off x="0" y="0"/>
              <ns1:ext cx="10358120" cy="2128520"/>
            </ns1:xfrm>
            <ns1:custGeom>
              <ns1:avLst/>
              <ns1:gdLst/>
              <ns1:ahLst/>
              <ns1:cxnLst/>
              <ns1:rect r="r" b="b" t="t" l="l"/>
              <ns1:pathLst>
                <ns1:path h="2128520" w="10358120">
                  <ns1:moveTo>
                    <ns1:pt x="0" y="148082"/>
                  </ns1:moveTo>
                  <ns1:cubicBezTo>
                    <ns1:pt x="0" y="66294"/>
                    <ns1:pt x="66294" y="0"/>
                    <ns1:pt x="148082" y="0"/>
                  </ns1:cubicBezTo>
                  <ns1:lnTo>
                    <ns1:pt x="10210038" y="0"/>
                  </ns1:lnTo>
                  <ns1:cubicBezTo>
                    <ns1:pt x="10291826" y="0"/>
                    <ns1:pt x="10358120" y="66294"/>
                    <ns1:pt x="10358120" y="148082"/>
                  </ns1:cubicBezTo>
                  <ns1:lnTo>
                    <ns1:pt x="10358120" y="1980438"/>
                  </ns1:lnTo>
                  <ns1:cubicBezTo>
                    <ns1:pt x="10358120" y="2062226"/>
                    <ns1:pt x="10291826" y="2128520"/>
                    <ns1:pt x="10210038" y="2128520"/>
                  </ns1:cubicBezTo>
                  <ns1:lnTo>
                    <ns1:pt x="148082" y="2128520"/>
                  </ns1:lnTo>
                  <ns1:cubicBezTo>
                    <ns1:pt x="66294" y="2128520"/>
                    <ns1:pt x="0" y="2062226"/>
                    <ns1:pt x="0" y="1980438"/>
                  </ns1:cubicBezTo>
                  <ns1:close/>
                </ns1:path>
              </ns1:pathLst>
            </ns1:custGeom>
            <ns1:solidFill>
              <ns1:srgbClr val="FFFFFF"/>
            </ns1:solidFill>
            <ns1:ln w="19050" cap="sq">
              <ns1:solidFill>
                <ns1:srgbClr val="D8DEE8"/>
              </ns1:solidFill>
              <ns1:prstDash val="solid"/>
              <ns1:miter/>
            </ns1:ln>
          </ns0:spPr>
        </ns0:sp>
      </ns0:grpSp>
      <ns0:grpSp>
        <ns0:nvGrpSpPr>
          <ns0:cNvPr name="Group 37" id="37"/>
          <ns0:cNvGrpSpPr/>
          <ns0:nvPr/>
        </ns0:nvGrpSpPr>
        <ns0:grpSpPr>
          <ns1:xfrm rot="0">
            <ns1:off x="10190988" y="2496312"/>
            <ns1:ext cx="7255764" cy="576072"/>
            <ns1:chOff x="0" y="0"/>
            <ns1:chExt cx="9674352" cy="768096"/>
          </ns1:xfrm>
        </ns0:grpSpPr>
        <ns0:sp>
          <ns0:nvSpPr>
            <ns0:cNvPr name="Freeform 38" id="38"/>
            <ns0:cNvSpPr/>
            <ns0:nvPr/>
          </ns0:nvSpPr>
          <ns0:spPr>
            <ns1:xfrm flipH="false" flipV="false" rot="0">
              <ns1:off x="0" y="0"/>
              <ns1:ext cx="9674352" cy="768096"/>
            </ns1:xfrm>
            <ns1:custGeom>
              <ns1:avLst/>
              <ns1:gdLst/>
              <ns1:ahLst/>
              <ns1:cxnLst/>
              <ns1:rect r="r" b="b" t="t" l="l"/>
              <ns1:pathLst>
                <ns1:path h="768096" w="9674352">
                  <ns1:moveTo>
                    <ns1:pt x="0" y="109728"/>
                  </ns1:moveTo>
                  <ns1:cubicBezTo>
                    <ns1:pt x="0" y="49149"/>
                    <ns1:pt x="49149" y="0"/>
                    <ns1:pt x="109728" y="0"/>
                  </ns1:cubicBezTo>
                  <ns1:lnTo>
                    <ns1:pt x="9564624" y="0"/>
                  </ns1:lnTo>
                  <ns1:cubicBezTo>
                    <ns1:pt x="9625203" y="0"/>
                    <ns1:pt x="9674352" y="49149"/>
                    <ns1:pt x="9674352" y="109728"/>
                  </ns1:cubicBezTo>
                  <ns1:lnTo>
                    <ns1:pt x="9674352" y="658368"/>
                  </ns1:lnTo>
                  <ns1:cubicBezTo>
                    <ns1:pt x="9674352" y="718947"/>
                    <ns1:pt x="9625203" y="768096"/>
                    <ns1:pt x="9564624" y="768096"/>
                  </ns1:cubicBezTo>
                  <ns1:lnTo>
                    <ns1:pt x="109728" y="768096"/>
                  </ns1:lnTo>
                  <ns1:cubicBezTo>
                    <ns1:pt x="49149" y="768096"/>
                    <ns1:pt x="0" y="718947"/>
                    <ns1:pt x="0" y="658368"/>
                  </ns1:cubicBezTo>
                  <ns1:close/>
                </ns1:path>
              </ns1:pathLst>
            </ns1:custGeom>
            <ns1:solidFill>
              <ns1:srgbClr val="FBEAE9"/>
            </ns1:solidFill>
          </ns0:spPr>
        </ns0:sp>
      </ns0:grpSp>
      <ns0:grpSp>
        <ns0:nvGrpSpPr>
          <ns0:cNvPr name="Group 39" id="39"/>
          <ns0:cNvGrpSpPr/>
          <ns0:nvPr/>
        </ns0:nvGrpSpPr>
        <ns0:grpSpPr>
          <ns1:xfrm rot="0">
            <ns1:off x="10355580" y="2496312"/>
            <ns1:ext cx="6926580" cy="576072"/>
            <ns1:chOff x="0" y="0"/>
            <ns1:chExt cx="9235440" cy="768096"/>
          </ns1:xfrm>
        </ns0:grpSpPr>
        <ns0:sp>
          <ns0:nvSpPr>
            <ns0:cNvPr name="Freeform 40" id="40"/>
            <ns0:cNvSpPr/>
            <ns0:nvPr/>
          </ns0:nvSpPr>
          <ns0:spPr>
            <ns1:xfrm flipH="false" flipV="false" rot="0">
              <ns1:off x="0" y="0"/>
              <ns1:ext cx="9235440" cy="768096"/>
            </ns1:xfrm>
            <ns1:custGeom>
              <ns1:avLst/>
              <ns1:gdLst/>
              <ns1:ahLst/>
              <ns1:cxnLst/>
              <ns1:rect r="r" b="b" t="t" l="l"/>
              <ns1:pathLst>
                <ns1:path h="768096" w="9235440">
                  <ns1:moveTo>
                    <ns1:pt x="0" y="0"/>
                  </ns1:moveTo>
                  <ns1:lnTo>
                    <ns1:pt x="9235440" y="0"/>
                  </ns1:lnTo>
                  <ns1:lnTo>
                    <ns1:pt x="9235440" y="768096"/>
                  </ns1:lnTo>
                  <ns1:lnTo>
                    <ns1:pt x="0" y="768096"/>
                  </ns1:lnTo>
                  <ns1:close/>
                </ns1:path>
              </ns1:pathLst>
            </ns1:custGeom>
            <ns1:blipFill>
              <ns1:blip ns2:embed="rId3">
                <ns1:alphaModFix amt="0"/>
              </ns1:blip>
              <ns1:stretch>
                <ns1:fillRect l="0" t="-184284" r="0" b="-184284"/>
              </ns1:stretch>
            </ns1:blipFill>
          </ns0:spPr>
        </ns0:sp>
        <ns0:sp>
          <ns0:nvSpPr>
            <ns0:cNvPr name="TextBox 41" id="41"/>
            <ns0:cNvSpPr txBox="true"/>
            <ns0:nvPr/>
          </ns0:nvSpPr>
          <ns0:spPr>
            <ns1:xfrm>
              <ns1:off x="0" y="-38100"/>
              <ns1:ext cx="9235440" cy="806196"/>
            </ns1:xfrm>
            <ns1:prstGeom prst="rect">
              <ns1:avLst/>
            </ns1:prstGeom>
          </ns0:spPr>
          <ns0:txBody>
            <ns1:bodyPr anchor="ctr" rtlCol="false" tIns="0" lIns="0" bIns="0" rIns="0"/>
            <ns1:lstStyle/>
            <ns1:p>
              <ns1:pPr algn="l">
                <ns1:lnSpc>
                  <ns1:spcPts val="1800"/>
                </ns1:lnSpc>
              </ns1:pPr>
              <ns1:r>
                <ns1:rPr lang="en-US" sz="1500">
                  <ns1:solidFill>
                    <ns1:srgbClr val="B3261E"/>
                  </ns1:solidFill>
                  <ns1:latin typeface="Calibri (MS)"/>
                  <ns1:ea typeface="Calibri (MS)"/>
                  <ns1:cs typeface="Calibri (MS)"/>
                  <ns1:sym typeface="Calibri (MS)"/>
                </ns1:rPr>
                <ns1:t>Siloed Portals &amp; Repetitive Paperwork</ns1:t>
              </ns1:r>
            </ns1:p>
          </ns0:txBody>
        </ns0:sp>
      </ns0:grpSp>
      <ns0:grpSp>
        <ns0:nvGrpSpPr>
          <ns0:cNvPr name="Group 42" id="42"/>
          <ns0:cNvGrpSpPr/>
          <ns0:nvPr/>
        </ns0:nvGrpSpPr>
        <ns0:grpSpPr>
          <ns1:xfrm rot="0">
            <ns1:off x="10190988" y="3127248"/>
            <ns1:ext cx="7255764" cy="576072"/>
            <ns1:chOff x="0" y="0"/>
            <ns1:chExt cx="9674352" cy="768096"/>
          </ns1:xfrm>
        </ns0:grpSpPr>
        <ns0:sp>
          <ns0:nvSpPr>
            <ns0:cNvPr name="Freeform 43" id="43"/>
            <ns0:cNvSpPr/>
            <ns0:nvPr/>
          </ns0:nvSpPr>
          <ns0:spPr>
            <ns1:xfrm flipH="false" flipV="false" rot="0">
              <ns1:off x="0" y="0"/>
              <ns1:ext cx="9674352" cy="768096"/>
            </ns1:xfrm>
            <ns1:custGeom>
              <ns1:avLst/>
              <ns1:gdLst/>
              <ns1:ahLst/>
              <ns1:cxnLst/>
              <ns1:rect r="r" b="b" t="t" l="l"/>
              <ns1:pathLst>
                <ns1:path h="768096" w="9674352">
                  <ns1:moveTo>
                    <ns1:pt x="0" y="109728"/>
                  </ns1:moveTo>
                  <ns1:cubicBezTo>
                    <ns1:pt x="0" y="49149"/>
                    <ns1:pt x="49149" y="0"/>
                    <ns1:pt x="109728" y="0"/>
                  </ns1:cubicBezTo>
                  <ns1:lnTo>
                    <ns1:pt x="9564624" y="0"/>
                  </ns1:lnTo>
                  <ns1:cubicBezTo>
                    <ns1:pt x="9625203" y="0"/>
                    <ns1:pt x="9674352" y="49149"/>
                    <ns1:pt x="9674352" y="109728"/>
                  </ns1:cubicBezTo>
                  <ns1:lnTo>
                    <ns1:pt x="9674352" y="658368"/>
                  </ns1:lnTo>
                  <ns1:cubicBezTo>
                    <ns1:pt x="9674352" y="718947"/>
                    <ns1:pt x="9625203" y="768096"/>
                    <ns1:pt x="9564624" y="768096"/>
                  </ns1:cubicBezTo>
                  <ns1:lnTo>
                    <ns1:pt x="109728" y="768096"/>
                  </ns1:lnTo>
                  <ns1:cubicBezTo>
                    <ns1:pt x="49149" y="768096"/>
                    <ns1:pt x="0" y="718947"/>
                    <ns1:pt x="0" y="658368"/>
                  </ns1:cubicBezTo>
                  <ns1:close/>
                </ns1:path>
              </ns1:pathLst>
            </ns1:custGeom>
            <ns1:solidFill>
              <ns1:srgbClr val="E4F3EA"/>
            </ns1:solidFill>
          </ns0:spPr>
        </ns0:sp>
      </ns0:grpSp>
      <ns0:grpSp>
        <ns0:nvGrpSpPr>
          <ns0:cNvPr name="Group 44" id="44"/>
          <ns0:cNvGrpSpPr/>
          <ns0:nvPr/>
        </ns0:nvGrpSpPr>
        <ns0:grpSpPr>
          <ns1:xfrm rot="0">
            <ns1:off x="10355580" y="3127248"/>
            <ns1:ext cx="6926580" cy="576072"/>
            <ns1:chOff x="0" y="0"/>
            <ns1:chExt cx="9235440" cy="768096"/>
          </ns1:xfrm>
        </ns0:grpSpPr>
        <ns0:sp>
          <ns0:nvSpPr>
            <ns0:cNvPr name="Freeform 45" id="45"/>
            <ns0:cNvSpPr/>
            <ns0:nvPr/>
          </ns0:nvSpPr>
          <ns0:spPr>
            <ns1:xfrm flipH="false" flipV="false" rot="0">
              <ns1:off x="0" y="0"/>
              <ns1:ext cx="9235440" cy="768096"/>
            </ns1:xfrm>
            <ns1:custGeom>
              <ns1:avLst/>
              <ns1:gdLst/>
              <ns1:ahLst/>
              <ns1:cxnLst/>
              <ns1:rect r="r" b="b" t="t" l="l"/>
              <ns1:pathLst>
                <ns1:path h="768096" w="9235440">
                  <ns1:moveTo>
                    <ns1:pt x="0" y="0"/>
                  </ns1:moveTo>
                  <ns1:lnTo>
                    <ns1:pt x="9235440" y="0"/>
                  </ns1:lnTo>
                  <ns1:lnTo>
                    <ns1:pt x="9235440" y="768096"/>
                  </ns1:lnTo>
                  <ns1:lnTo>
                    <ns1:pt x="0" y="768096"/>
                  </ns1:lnTo>
                  <ns1:close/>
                </ns1:path>
              </ns1:pathLst>
            </ns1:custGeom>
            <ns1:blipFill>
              <ns1:blip ns2:embed="rId3">
                <ns1:alphaModFix amt="0"/>
              </ns1:blip>
              <ns1:stretch>
                <ns1:fillRect l="0" t="-184284" r="0" b="-184284"/>
              </ns1:stretch>
            </ns1:blipFill>
          </ns0:spPr>
        </ns0:sp>
        <ns0:sp>
          <ns0:nvSpPr>
            <ns0:cNvPr name="TextBox 46" id="46"/>
            <ns0:cNvSpPr txBox="true"/>
            <ns0:nvPr/>
          </ns0:nvSpPr>
          <ns0:spPr>
            <ns1:xfrm>
              <ns1:off x="0" y="-38100"/>
              <ns1:ext cx="9235440" cy="806196"/>
            </ns1:xfrm>
            <ns1:prstGeom prst="rect">
              <ns1:avLst/>
            </ns1:prstGeom>
          </ns0:spPr>
          <ns0:txBody>
            <ns1:bodyPr anchor="ctr" rtlCol="false" tIns="0" lIns="0" bIns="0" rIns="0"/>
            <ns1:lstStyle/>
            <ns1:p>
              <ns1:pPr algn="l">
                <ns1:lnSpc>
                  <ns1:spcPts val="1800"/>
                </ns1:lnSpc>
              </ns1:pPr>
              <ns1:r>
                <ns1:rPr lang="en-US" sz="1500">
                  <ns1:solidFill>
                    <ns1:srgbClr val="1E7A46"/>
                  </ns1:solidFill>
                  <ns1:latin typeface="Calibri (MS)"/>
                  <ns1:ea typeface="Calibri (MS)"/>
                  <ns1:cs typeface="Calibri (MS)"/>
                  <ns1:sym typeface="Calibri (MS)"/>
                </ns1:rPr>
                <ns1:t>Meri Pehchaan (NSSO) + Once-Only Auto-Fill</ns1:t>
              </ns1:r>
            </ns1:p>
          </ns0:txBody>
        </ns0:sp>
      </ns0:grpSp>
      <ns0:grpSp>
        <ns0:nvGrpSpPr>
          <ns0:cNvPr name="Group 47" id="47"/>
          <ns0:cNvGrpSpPr/>
          <ns0:nvPr/>
        </ns0:nvGrpSpPr>
        <ns0:grpSpPr>
          <ns1:xfrm rot="0">
            <ns1:off x="9934575" y="4050411"/>
            <ns1:ext cx="7768590" cy="1596390"/>
            <ns1:chOff x="0" y="0"/>
            <ns1:chExt cx="10358120" cy="2128520"/>
          </ns1:xfrm>
        </ns0:grpSpPr>
        <ns0:sp>
          <ns0:nvSpPr>
            <ns0:cNvPr name="Freeform 48" id="48"/>
            <ns0:cNvSpPr/>
            <ns0:nvPr/>
          </ns0:nvSpPr>
          <ns0:spPr>
            <ns1:xfrm flipH="false" flipV="false" rot="0">
              <ns1:off x="0" y="0"/>
              <ns1:ext cx="10358120" cy="2128520"/>
            </ns1:xfrm>
            <ns1:custGeom>
              <ns1:avLst/>
              <ns1:gdLst/>
              <ns1:ahLst/>
              <ns1:cxnLst/>
              <ns1:rect r="r" b="b" t="t" l="l"/>
              <ns1:pathLst>
                <ns1:path h="2128520" w="10358120">
                  <ns1:moveTo>
                    <ns1:pt x="0" y="148082"/>
                  </ns1:moveTo>
                  <ns1:cubicBezTo>
                    <ns1:pt x="0" y="66294"/>
                    <ns1:pt x="66294" y="0"/>
                    <ns1:pt x="148082" y="0"/>
                  </ns1:cubicBezTo>
                  <ns1:lnTo>
                    <ns1:pt x="10210038" y="0"/>
                  </ns1:lnTo>
                  <ns1:cubicBezTo>
                    <ns1:pt x="10291826" y="0"/>
                    <ns1:pt x="10358120" y="66294"/>
                    <ns1:pt x="10358120" y="148082"/>
                  </ns1:cubicBezTo>
                  <ns1:lnTo>
                    <ns1:pt x="10358120" y="1980438"/>
                  </ns1:lnTo>
                  <ns1:cubicBezTo>
                    <ns1:pt x="10358120" y="2062226"/>
                    <ns1:pt x="10291826" y="2128520"/>
                    <ns1:pt x="10210038" y="2128520"/>
                  </ns1:cubicBezTo>
                  <ns1:lnTo>
                    <ns1:pt x="148082" y="2128520"/>
                  </ns1:lnTo>
                  <ns1:cubicBezTo>
                    <ns1:pt x="66294" y="2128520"/>
                    <ns1:pt x="0" y="2062226"/>
                    <ns1:pt x="0" y="1980438"/>
                  </ns1:cubicBezTo>
                  <ns1:close/>
                </ns1:path>
              </ns1:pathLst>
            </ns1:custGeom>
            <ns1:solidFill>
              <ns1:srgbClr val="FFFFFF"/>
            </ns1:solidFill>
            <ns1:ln w="19050" cap="sq">
              <ns1:solidFill>
                <ns1:srgbClr val="D8DEE8"/>
              </ns1:solidFill>
              <ns1:prstDash val="solid"/>
              <ns1:miter/>
            </ns1:ln>
          </ns0:spPr>
        </ns0:sp>
      </ns0:grpSp>
      <ns0:grpSp>
        <ns0:nvGrpSpPr>
          <ns0:cNvPr name="Group 49" id="49"/>
          <ns0:cNvGrpSpPr/>
          <ns0:nvPr/>
        </ns0:nvGrpSpPr>
        <ns0:grpSpPr>
          <ns1:xfrm rot="0">
            <ns1:off x="10190988" y="4251960"/>
            <ns1:ext cx="7255764" cy="576072"/>
            <ns1:chOff x="0" y="0"/>
            <ns1:chExt cx="9674352" cy="768096"/>
          </ns1:xfrm>
        </ns0:grpSpPr>
        <ns0:sp>
          <ns0:nvSpPr>
            <ns0:cNvPr name="Freeform 50" id="50"/>
            <ns0:cNvSpPr/>
            <ns0:nvPr/>
          </ns0:nvSpPr>
          <ns0:spPr>
            <ns1:xfrm flipH="false" flipV="false" rot="0">
              <ns1:off x="0" y="0"/>
              <ns1:ext cx="9674352" cy="768096"/>
            </ns1:xfrm>
            <ns1:custGeom>
              <ns1:avLst/>
              <ns1:gdLst/>
              <ns1:ahLst/>
              <ns1:cxnLst/>
              <ns1:rect r="r" b="b" t="t" l="l"/>
              <ns1:pathLst>
                <ns1:path h="768096" w="9674352">
                  <ns1:moveTo>
                    <ns1:pt x="0" y="109728"/>
                  </ns1:moveTo>
                  <ns1:cubicBezTo>
                    <ns1:pt x="0" y="49149"/>
                    <ns1:pt x="49149" y="0"/>
                    <ns1:pt x="109728" y="0"/>
                  </ns1:cubicBezTo>
                  <ns1:lnTo>
                    <ns1:pt x="9564624" y="0"/>
                  </ns1:lnTo>
                  <ns1:cubicBezTo>
                    <ns1:pt x="9625203" y="0"/>
                    <ns1:pt x="9674352" y="49149"/>
                    <ns1:pt x="9674352" y="109728"/>
                  </ns1:cubicBezTo>
                  <ns1:lnTo>
                    <ns1:pt x="9674352" y="658368"/>
                  </ns1:lnTo>
                  <ns1:cubicBezTo>
                    <ns1:pt x="9674352" y="718947"/>
                    <ns1:pt x="9625203" y="768096"/>
                    <ns1:pt x="9564624" y="768096"/>
                  </ns1:cubicBezTo>
                  <ns1:lnTo>
                    <ns1:pt x="109728" y="768096"/>
                  </ns1:lnTo>
                  <ns1:cubicBezTo>
                    <ns1:pt x="49149" y="768096"/>
                    <ns1:pt x="0" y="718947"/>
                    <ns1:pt x="0" y="658368"/>
                  </ns1:cubicBezTo>
                  <ns1:close/>
                </ns1:path>
              </ns1:pathLst>
            </ns1:custGeom>
            <ns1:solidFill>
              <ns1:srgbClr val="FBEAE9"/>
            </ns1:solidFill>
          </ns0:spPr>
        </ns0:sp>
      </ns0:grpSp>
      <ns0:grpSp>
        <ns0:nvGrpSpPr>
          <ns0:cNvPr name="Group 51" id="51"/>
          <ns0:cNvGrpSpPr/>
          <ns0:nvPr/>
        </ns0:nvGrpSpPr>
        <ns0:grpSpPr>
          <ns1:xfrm rot="0">
            <ns1:off x="10355580" y="4251960"/>
            <ns1:ext cx="6926580" cy="576072"/>
            <ns1:chOff x="0" y="0"/>
            <ns1:chExt cx="9235440" cy="768096"/>
          </ns1:xfrm>
        </ns0:grpSpPr>
        <ns0:sp>
          <ns0:nvSpPr>
            <ns0:cNvPr name="Freeform 52" id="52"/>
            <ns0:cNvSpPr/>
            <ns0:nvPr/>
          </ns0:nvSpPr>
          <ns0:spPr>
            <ns1:xfrm flipH="false" flipV="false" rot="0">
              <ns1:off x="0" y="0"/>
              <ns1:ext cx="9235440" cy="768096"/>
            </ns1:xfrm>
            <ns1:custGeom>
              <ns1:avLst/>
              <ns1:gdLst/>
              <ns1:ahLst/>
              <ns1:cxnLst/>
              <ns1:rect r="r" b="b" t="t" l="l"/>
              <ns1:pathLst>
                <ns1:path h="768096" w="9235440">
                  <ns1:moveTo>
                    <ns1:pt x="0" y="0"/>
                  </ns1:moveTo>
                  <ns1:lnTo>
                    <ns1:pt x="9235440" y="0"/>
                  </ns1:lnTo>
                  <ns1:lnTo>
                    <ns1:pt x="9235440" y="768096"/>
                  </ns1:lnTo>
                  <ns1:lnTo>
                    <ns1:pt x="0" y="768096"/>
                  </ns1:lnTo>
                  <ns1:close/>
                </ns1:path>
              </ns1:pathLst>
            </ns1:custGeom>
            <ns1:blipFill>
              <ns1:blip ns2:embed="rId3">
                <ns1:alphaModFix amt="0"/>
              </ns1:blip>
              <ns1:stretch>
                <ns1:fillRect l="0" t="-184284" r="0" b="-184284"/>
              </ns1:stretch>
            </ns1:blipFill>
          </ns0:spPr>
        </ns0:sp>
        <ns0:sp>
          <ns0:nvSpPr>
            <ns0:cNvPr name="TextBox 53" id="53"/>
            <ns0:cNvSpPr txBox="true"/>
            <ns0:nvPr/>
          </ns0:nvSpPr>
          <ns0:spPr>
            <ns1:xfrm>
              <ns1:off x="0" y="-38100"/>
              <ns1:ext cx="9235440" cy="806196"/>
            </ns1:xfrm>
            <ns1:prstGeom prst="rect">
              <ns1:avLst/>
            </ns1:prstGeom>
          </ns0:spPr>
          <ns0:txBody>
            <ns1:bodyPr anchor="ctr" rtlCol="false" tIns="0" lIns="0" bIns="0" rIns="0"/>
            <ns1:lstStyle/>
            <ns1:p>
              <ns1:pPr algn="l">
                <ns1:lnSpc>
                  <ns1:spcPts val="1800"/>
                </ns1:lnSpc>
              </ns1:pPr>
              <ns1:r>
                <ns1:rPr lang="en-US" sz="1500">
                  <ns1:solidFill>
                    <ns1:srgbClr val="B3261E"/>
                  </ns1:solidFill>
                  <ns1:latin typeface="Calibri (MS)"/>
                  <ns1:ea typeface="Calibri (MS)"/>
                  <ns1:cs typeface="Calibri (MS)"/>
                  <ns1:sym typeface="Calibri (MS)"/>
                </ns1:rPr>
                <ns1:t>DPDP Act Compliance &amp; Snooping Risks</ns1:t>
              </ns1:r>
            </ns1:p>
          </ns0:txBody>
        </ns0:sp>
      </ns0:grpSp>
      <ns0:grpSp>
        <ns0:nvGrpSpPr>
          <ns0:cNvPr name="Group 54" id="54"/>
          <ns0:cNvGrpSpPr/>
          <ns0:nvPr/>
        </ns0:nvGrpSpPr>
        <ns0:grpSpPr>
          <ns1:xfrm rot="0">
            <ns1:off x="10190988" y="4882896"/>
            <ns1:ext cx="7255764" cy="576072"/>
            <ns1:chOff x="0" y="0"/>
            <ns1:chExt cx="9674352" cy="768096"/>
          </ns1:xfrm>
        </ns0:grpSpPr>
        <ns0:sp>
          <ns0:nvSpPr>
            <ns0:cNvPr name="Freeform 55" id="55"/>
            <ns0:cNvSpPr/>
            <ns0:nvPr/>
          </ns0:nvSpPr>
          <ns0:spPr>
            <ns1:xfrm flipH="false" flipV="false" rot="0">
              <ns1:off x="0" y="0"/>
              <ns1:ext cx="9674352" cy="768096"/>
            </ns1:xfrm>
            <ns1:custGeom>
              <ns1:avLst/>
              <ns1:gdLst/>
              <ns1:ahLst/>
              <ns1:cxnLst/>
              <ns1:rect r="r" b="b" t="t" l="l"/>
              <ns1:pathLst>
                <ns1:path h="768096" w="9674352">
                  <ns1:moveTo>
                    <ns1:pt x="0" y="109728"/>
                  </ns1:moveTo>
                  <ns1:cubicBezTo>
                    <ns1:pt x="0" y="49149"/>
                    <ns1:pt x="49149" y="0"/>
                    <ns1:pt x="109728" y="0"/>
                  </ns1:cubicBezTo>
                  <ns1:lnTo>
                    <ns1:pt x="9564624" y="0"/>
                  </ns1:lnTo>
                  <ns1:cubicBezTo>
                    <ns1:pt x="9625203" y="0"/>
                    <ns1:pt x="9674352" y="49149"/>
                    <ns1:pt x="9674352" y="109728"/>
                  </ns1:cubicBezTo>
                  <ns1:lnTo>
                    <ns1:pt x="9674352" y="658368"/>
                  </ns1:lnTo>
                  <ns1:cubicBezTo>
                    <ns1:pt x="9674352" y="718947"/>
                    <ns1:pt x="9625203" y="768096"/>
                    <ns1:pt x="9564624" y="768096"/>
                  </ns1:cubicBezTo>
                  <ns1:lnTo>
                    <ns1:pt x="109728" y="768096"/>
                  </ns1:lnTo>
                  <ns1:cubicBezTo>
                    <ns1:pt x="49149" y="768096"/>
                    <ns1:pt x="0" y="718947"/>
                    <ns1:pt x="0" y="658368"/>
                  </ns1:cubicBezTo>
                  <ns1:close/>
                </ns1:path>
              </ns1:pathLst>
            </ns1:custGeom>
            <ns1:solidFill>
              <ns1:srgbClr val="E4F3EA"/>
            </ns1:solidFill>
          </ns0:spPr>
        </ns0:sp>
      </ns0:grpSp>
      <ns0:grpSp>
        <ns0:nvGrpSpPr>
          <ns0:cNvPr name="Group 56" id="56"/>
          <ns0:cNvGrpSpPr/>
          <ns0:nvPr/>
        </ns0:nvGrpSpPr>
        <ns0:grpSpPr>
          <ns1:xfrm rot="0">
            <ns1:off x="10355580" y="4882896"/>
            <ns1:ext cx="6926580" cy="576072"/>
            <ns1:chOff x="0" y="0"/>
            <ns1:chExt cx="9235440" cy="768096"/>
          </ns1:xfrm>
        </ns0:grpSpPr>
        <ns0:sp>
          <ns0:nvSpPr>
            <ns0:cNvPr name="Freeform 57" id="57"/>
            <ns0:cNvSpPr/>
            <ns0:nvPr/>
          </ns0:nvSpPr>
          <ns0:spPr>
            <ns1:xfrm flipH="false" flipV="false" rot="0">
              <ns1:off x="0" y="0"/>
              <ns1:ext cx="9235440" cy="768096"/>
            </ns1:xfrm>
            <ns1:custGeom>
              <ns1:avLst/>
              <ns1:gdLst/>
              <ns1:ahLst/>
              <ns1:cxnLst/>
              <ns1:rect r="r" b="b" t="t" l="l"/>
              <ns1:pathLst>
                <ns1:path h="768096" w="9235440">
                  <ns1:moveTo>
                    <ns1:pt x="0" y="0"/>
                  </ns1:moveTo>
                  <ns1:lnTo>
                    <ns1:pt x="9235440" y="0"/>
                  </ns1:lnTo>
                  <ns1:lnTo>
                    <ns1:pt x="9235440" y="768096"/>
                  </ns1:lnTo>
                  <ns1:lnTo>
                    <ns1:pt x="0" y="768096"/>
                  </ns1:lnTo>
                  <ns1:close/>
                </ns1:path>
              </ns1:pathLst>
            </ns1:custGeom>
            <ns1:blipFill>
              <ns1:blip ns2:embed="rId3">
                <ns1:alphaModFix amt="0"/>
              </ns1:blip>
              <ns1:stretch>
                <ns1:fillRect l="0" t="-184284" r="0" b="-184284"/>
              </ns1:stretch>
            </ns1:blipFill>
          </ns0:spPr>
        </ns0:sp>
        <ns0:sp>
          <ns0:nvSpPr>
            <ns0:cNvPr name="TextBox 58" id="58"/>
            <ns0:cNvSpPr txBox="true"/>
            <ns0:nvPr/>
          </ns0:nvSpPr>
          <ns0:spPr>
            <ns1:xfrm>
              <ns1:off x="0" y="-38100"/>
              <ns1:ext cx="9235440" cy="806196"/>
            </ns1:xfrm>
            <ns1:prstGeom prst="rect">
              <ns1:avLst/>
            </ns1:prstGeom>
          </ns0:spPr>
          <ns0:txBody>
            <ns1:bodyPr anchor="ctr" rtlCol="false" tIns="0" lIns="0" bIns="0" rIns="0"/>
            <ns1:lstStyle/>
            <ns1:p>
              <ns1:pPr algn="l">
                <ns1:lnSpc>
                  <ns1:spcPts val="1800"/>
                </ns1:lnSpc>
              </ns1:pPr>
              <ns1:r>
                <ns1:rPr lang="en-US" sz="1500">
                  <ns1:solidFill>
                    <ns1:srgbClr val="1E7A46"/>
                  </ns1:solidFill>
                  <ns1:latin typeface="Calibri (MS)"/>
                  <ns1:ea typeface="Calibri (MS)"/>
                  <ns1:cs typeface="Calibri (MS)"/>
                  <ns1:sym typeface="Calibri (MS)"/>
                </ns1:rPr>
                <ns1:t>DEPA Consent Artifacts + SHA-256 Block Ledger</ns1:t>
              </ns1:r>
            </ns1:p>
          </ns0:txBody>
        </ns0:sp>
      </ns0:grpSp>
      <ns0:grpSp>
        <ns0:nvGrpSpPr>
          <ns0:cNvPr name="Group 59" id="59"/>
          <ns0:cNvGrpSpPr/>
          <ns0:nvPr/>
        </ns0:nvGrpSpPr>
        <ns0:grpSpPr>
          <ns1:xfrm rot="0">
            <ns1:off x="9934575" y="5806059"/>
            <ns1:ext cx="7768590" cy="1596390"/>
            <ns1:chOff x="0" y="0"/>
            <ns1:chExt cx="10358120" cy="2128520"/>
          </ns1:xfrm>
        </ns0:grpSpPr>
        <ns0:sp>
          <ns0:nvSpPr>
            <ns0:cNvPr name="Freeform 60" id="60"/>
            <ns0:cNvSpPr/>
            <ns0:nvPr/>
          </ns0:nvSpPr>
          <ns0:spPr>
            <ns1:xfrm flipH="false" flipV="false" rot="0">
              <ns1:off x="0" y="0"/>
              <ns1:ext cx="10358120" cy="2128520"/>
            </ns1:xfrm>
            <ns1:custGeom>
              <ns1:avLst/>
              <ns1:gdLst/>
              <ns1:ahLst/>
              <ns1:cxnLst/>
              <ns1:rect r="r" b="b" t="t" l="l"/>
              <ns1:pathLst>
                <ns1:path h="2128520" w="10358120">
                  <ns1:moveTo>
                    <ns1:pt x="0" y="148082"/>
                  </ns1:moveTo>
                  <ns1:cubicBezTo>
                    <ns1:pt x="0" y="66294"/>
                    <ns1:pt x="66294" y="0"/>
                    <ns1:pt x="148082" y="0"/>
                  </ns1:cubicBezTo>
                  <ns1:lnTo>
                    <ns1:pt x="10210038" y="0"/>
                  </ns1:lnTo>
                  <ns1:cubicBezTo>
                    <ns1:pt x="10291826" y="0"/>
                    <ns1:pt x="10358120" y="66294"/>
                    <ns1:pt x="10358120" y="148082"/>
                  </ns1:cubicBezTo>
                  <ns1:lnTo>
                    <ns1:pt x="10358120" y="1980438"/>
                  </ns1:lnTo>
                  <ns1:cubicBezTo>
                    <ns1:pt x="10358120" y="2062226"/>
                    <ns1:pt x="10291826" y="2128520"/>
                    <ns1:pt x="10210038" y="2128520"/>
                  </ns1:cubicBezTo>
                  <ns1:lnTo>
                    <ns1:pt x="148082" y="2128520"/>
                  </ns1:lnTo>
                  <ns1:cubicBezTo>
                    <ns1:pt x="66294" y="2128520"/>
                    <ns1:pt x="0" y="2062226"/>
                    <ns1:pt x="0" y="1980438"/>
                  </ns1:cubicBezTo>
                  <ns1:close/>
                </ns1:path>
              </ns1:pathLst>
            </ns1:custGeom>
            <ns1:solidFill>
              <ns1:srgbClr val="FFFFFF"/>
            </ns1:solidFill>
            <ns1:ln w="19050" cap="sq">
              <ns1:solidFill>
                <ns1:srgbClr val="D8DEE8"/>
              </ns1:solidFill>
              <ns1:prstDash val="solid"/>
              <ns1:miter/>
            </ns1:ln>
          </ns0:spPr>
        </ns0:sp>
      </ns0:grpSp>
      <ns0:grpSp>
        <ns0:nvGrpSpPr>
          <ns0:cNvPr name="Group 61" id="61"/>
          <ns0:cNvGrpSpPr/>
          <ns0:nvPr/>
        </ns0:nvGrpSpPr>
        <ns0:grpSpPr>
          <ns1:xfrm rot="0">
            <ns1:off x="10190988" y="6007608"/>
            <ns1:ext cx="7255764" cy="576072"/>
            <ns1:chOff x="0" y="0"/>
            <ns1:chExt cx="9674352" cy="768096"/>
          </ns1:xfrm>
        </ns0:grpSpPr>
        <ns0:sp>
          <ns0:nvSpPr>
            <ns0:cNvPr name="Freeform 62" id="62"/>
            <ns0:cNvSpPr/>
            <ns0:nvPr/>
          </ns0:nvSpPr>
          <ns0:spPr>
            <ns1:xfrm flipH="false" flipV="false" rot="0">
              <ns1:off x="0" y="0"/>
              <ns1:ext cx="9674352" cy="768096"/>
            </ns1:xfrm>
            <ns1:custGeom>
              <ns1:avLst/>
              <ns1:gdLst/>
              <ns1:ahLst/>
              <ns1:cxnLst/>
              <ns1:rect r="r" b="b" t="t" l="l"/>
              <ns1:pathLst>
                <ns1:path h="768096" w="9674352">
                  <ns1:moveTo>
                    <ns1:pt x="0" y="109728"/>
                  </ns1:moveTo>
                  <ns1:cubicBezTo>
                    <ns1:pt x="0" y="49149"/>
                    <ns1:pt x="49149" y="0"/>
                    <ns1:pt x="109728" y="0"/>
                  </ns1:cubicBezTo>
                  <ns1:lnTo>
                    <ns1:pt x="9564624" y="0"/>
                  </ns1:lnTo>
                  <ns1:cubicBezTo>
                    <ns1:pt x="9625203" y="0"/>
                    <ns1:pt x="9674352" y="49149"/>
                    <ns1:pt x="9674352" y="109728"/>
                  </ns1:cubicBezTo>
                  <ns1:lnTo>
                    <ns1:pt x="9674352" y="658368"/>
                  </ns1:lnTo>
                  <ns1:cubicBezTo>
                    <ns1:pt x="9674352" y="718947"/>
                    <ns1:pt x="9625203" y="768096"/>
                    <ns1:pt x="9564624" y="768096"/>
                  </ns1:cubicBezTo>
                  <ns1:lnTo>
                    <ns1:pt x="109728" y="768096"/>
                  </ns1:lnTo>
                  <ns1:cubicBezTo>
                    <ns1:pt x="49149" y="768096"/>
                    <ns1:pt x="0" y="718947"/>
                    <ns1:pt x="0" y="658368"/>
                  </ns1:cubicBezTo>
                  <ns1:close/>
                </ns1:path>
              </ns1:pathLst>
            </ns1:custGeom>
            <ns1:solidFill>
              <ns1:srgbClr val="FBEAE9"/>
            </ns1:solidFill>
          </ns0:spPr>
        </ns0:sp>
      </ns0:grpSp>
      <ns0:grpSp>
        <ns0:nvGrpSpPr>
          <ns0:cNvPr name="Group 63" id="63"/>
          <ns0:cNvGrpSpPr/>
          <ns0:nvPr/>
        </ns0:nvGrpSpPr>
        <ns0:grpSpPr>
          <ns1:xfrm rot="0">
            <ns1:off x="10355580" y="6007608"/>
            <ns1:ext cx="6926580" cy="576072"/>
            <ns1:chOff x="0" y="0"/>
            <ns1:chExt cx="9235440" cy="768096"/>
          </ns1:xfrm>
        </ns0:grpSpPr>
        <ns0:sp>
          <ns0:nvSpPr>
            <ns0:cNvPr name="Freeform 64" id="64"/>
            <ns0:cNvSpPr/>
            <ns0:nvPr/>
          </ns0:nvSpPr>
          <ns0:spPr>
            <ns1:xfrm flipH="false" flipV="false" rot="0">
              <ns1:off x="0" y="0"/>
              <ns1:ext cx="9235440" cy="768096"/>
            </ns1:xfrm>
            <ns1:custGeom>
              <ns1:avLst/>
              <ns1:gdLst/>
              <ns1:ahLst/>
              <ns1:cxnLst/>
              <ns1:rect r="r" b="b" t="t" l="l"/>
              <ns1:pathLst>
                <ns1:path h="768096" w="9235440">
                  <ns1:moveTo>
                    <ns1:pt x="0" y="0"/>
                  </ns1:moveTo>
                  <ns1:lnTo>
                    <ns1:pt x="9235440" y="0"/>
                  </ns1:lnTo>
                  <ns1:lnTo>
                    <ns1:pt x="9235440" y="768096"/>
                  </ns1:lnTo>
                  <ns1:lnTo>
                    <ns1:pt x="0" y="768096"/>
                  </ns1:lnTo>
                  <ns1:close/>
                </ns1:path>
              </ns1:pathLst>
            </ns1:custGeom>
            <ns1:blipFill>
              <ns1:blip ns2:embed="rId3">
                <ns1:alphaModFix amt="0"/>
              </ns1:blip>
              <ns1:stretch>
                <ns1:fillRect l="0" t="-184284" r="0" b="-184284"/>
              </ns1:stretch>
            </ns1:blipFill>
          </ns0:spPr>
        </ns0:sp>
        <ns0:sp>
          <ns0:nvSpPr>
            <ns0:cNvPr name="TextBox 65" id="65"/>
            <ns0:cNvSpPr txBox="true"/>
            <ns0:nvPr/>
          </ns0:nvSpPr>
          <ns0:spPr>
            <ns1:xfrm>
              <ns1:off x="0" y="-38100"/>
              <ns1:ext cx="9235440" cy="806196"/>
            </ns1:xfrm>
            <ns1:prstGeom prst="rect">
              <ns1:avLst/>
            </ns1:prstGeom>
          </ns0:spPr>
          <ns0:txBody>
            <ns1:bodyPr anchor="ctr" rtlCol="false" tIns="0" lIns="0" bIns="0" rIns="0"/>
            <ns1:lstStyle/>
            <ns1:p>
              <ns1:pPr algn="l">
                <ns1:lnSpc>
                  <ns1:spcPts val="1800"/>
                </ns1:lnSpc>
              </ns1:pPr>
              <ns1:r>
                <ns1:rPr lang="en-US" sz="1500">
                  <ns1:solidFill>
                    <ns1:srgbClr val="B3261E"/>
                  </ns1:solidFill>
                  <ns1:latin typeface="Calibri (MS)"/>
                  <ns1:ea typeface="Calibri (MS)"/>
                  <ns1:cs typeface="Calibri (MS)"/>
                  <ns1:sym typeface="Calibri (MS)"/>
                </ns1:rPr>
                <ns1:t>Vendor Resistance &amp; Closed Databases</ns1:t>
              </ns1:r>
            </ns1:p>
          </ns0:txBody>
        </ns0:sp>
      </ns0:grpSp>
      <ns0:grpSp>
        <ns0:nvGrpSpPr>
          <ns0:cNvPr name="Group 66" id="66"/>
          <ns0:cNvGrpSpPr/>
          <ns0:nvPr/>
        </ns0:nvGrpSpPr>
        <ns0:grpSpPr>
          <ns1:xfrm rot="0">
            <ns1:off x="10190988" y="6638544"/>
            <ns1:ext cx="7255764" cy="576072"/>
            <ns1:chOff x="0" y="0"/>
            <ns1:chExt cx="9674352" cy="768096"/>
          </ns1:xfrm>
        </ns0:grpSpPr>
        <ns0:sp>
          <ns0:nvSpPr>
            <ns0:cNvPr name="Freeform 67" id="67"/>
            <ns0:cNvSpPr/>
            <ns0:nvPr/>
          </ns0:nvSpPr>
          <ns0:spPr>
            <ns1:xfrm flipH="false" flipV="false" rot="0">
              <ns1:off x="0" y="0"/>
              <ns1:ext cx="9674352" cy="768096"/>
            </ns1:xfrm>
            <ns1:custGeom>
              <ns1:avLst/>
              <ns1:gdLst/>
              <ns1:ahLst/>
              <ns1:cxnLst/>
              <ns1:rect r="r" b="b" t="t" l="l"/>
              <ns1:pathLst>
                <ns1:path h="768096" w="9674352">
                  <ns1:moveTo>
                    <ns1:pt x="0" y="109728"/>
                  </ns1:moveTo>
                  <ns1:cubicBezTo>
                    <ns1:pt x="0" y="49149"/>
                    <ns1:pt x="49149" y="0"/>
                    <ns1:pt x="109728" y="0"/>
                  </ns1:cubicBezTo>
                  <ns1:lnTo>
                    <ns1:pt x="9564624" y="0"/>
                  </ns1:lnTo>
                  <ns1:cubicBezTo>
                    <ns1:pt x="9625203" y="0"/>
                    <ns1:pt x="9674352" y="49149"/>
                    <ns1:pt x="9674352" y="109728"/>
                  </ns1:cubicBezTo>
                  <ns1:lnTo>
                    <ns1:pt x="9674352" y="658368"/>
                  </ns1:lnTo>
                  <ns1:cubicBezTo>
                    <ns1:pt x="9674352" y="718947"/>
                    <ns1:pt x="9625203" y="768096"/>
                    <ns1:pt x="9564624" y="768096"/>
                  </ns1:cubicBezTo>
                  <ns1:lnTo>
                    <ns1:pt x="109728" y="768096"/>
                  </ns1:lnTo>
                  <ns1:cubicBezTo>
                    <ns1:pt x="49149" y="768096"/>
                    <ns1:pt x="0" y="718947"/>
                    <ns1:pt x="0" y="658368"/>
                  </ns1:cubicBezTo>
                  <ns1:close/>
                </ns1:path>
              </ns1:pathLst>
            </ns1:custGeom>
            <ns1:solidFill>
              <ns1:srgbClr val="E4F3EA"/>
            </ns1:solidFill>
          </ns0:spPr>
        </ns0:sp>
      </ns0:grpSp>
      <ns0:grpSp>
        <ns0:nvGrpSpPr>
          <ns0:cNvPr name="Group 68" id="68"/>
          <ns0:cNvGrpSpPr/>
          <ns0:nvPr/>
        </ns0:nvGrpSpPr>
        <ns0:grpSpPr>
          <ns1:xfrm rot="0">
            <ns1:off x="10355580" y="6638544"/>
            <ns1:ext cx="6926580" cy="576072"/>
            <ns1:chOff x="0" y="0"/>
            <ns1:chExt cx="9235440" cy="768096"/>
          </ns1:xfrm>
        </ns0:grpSpPr>
        <ns0:sp>
          <ns0:nvSpPr>
            <ns0:cNvPr name="Freeform 69" id="69"/>
            <ns0:cNvSpPr/>
            <ns0:nvPr/>
          </ns0:nvSpPr>
          <ns0:spPr>
            <ns1:xfrm flipH="false" flipV="false" rot="0">
              <ns1:off x="0" y="0"/>
              <ns1:ext cx="9235440" cy="768096"/>
            </ns1:xfrm>
            <ns1:custGeom>
              <ns1:avLst/>
              <ns1:gdLst/>
              <ns1:ahLst/>
              <ns1:cxnLst/>
              <ns1:rect r="r" b="b" t="t" l="l"/>
              <ns1:pathLst>
                <ns1:path h="768096" w="9235440">
                  <ns1:moveTo>
                    <ns1:pt x="0" y="0"/>
                  </ns1:moveTo>
                  <ns1:lnTo>
                    <ns1:pt x="9235440" y="0"/>
                  </ns1:lnTo>
                  <ns1:lnTo>
                    <ns1:pt x="9235440" y="768096"/>
                  </ns1:lnTo>
                  <ns1:lnTo>
                    <ns1:pt x="0" y="768096"/>
                  </ns1:lnTo>
                  <ns1:close/>
                </ns1:path>
              </ns1:pathLst>
            </ns1:custGeom>
            <ns1:blipFill>
              <ns1:blip ns2:embed="rId3">
                <ns1:alphaModFix amt="0"/>
              </ns1:blip>
              <ns1:stretch>
                <ns1:fillRect l="0" t="-184284" r="0" b="-184284"/>
              </ns1:stretch>
            </ns1:blipFill>
          </ns0:spPr>
        </ns0:sp>
        <ns0:sp>
          <ns0:nvSpPr>
            <ns0:cNvPr name="TextBox 70" id="70"/>
            <ns0:cNvSpPr txBox="true"/>
            <ns0:nvPr/>
          </ns0:nvSpPr>
          <ns0:spPr>
            <ns1:xfrm>
              <ns1:off x="0" y="-38100"/>
              <ns1:ext cx="9235440" cy="806196"/>
            </ns1:xfrm>
            <ns1:prstGeom prst="rect">
              <ns1:avLst/>
            </ns1:prstGeom>
          </ns0:spPr>
          <ns0:txBody>
            <ns1:bodyPr anchor="ctr" rtlCol="false" tIns="0" lIns="0" bIns="0" rIns="0"/>
            <ns1:lstStyle/>
            <ns1:p>
              <ns1:pPr algn="l">
                <ns1:lnSpc>
                  <ns1:spcPts val="1800"/>
                </ns1:lnSpc>
              </ns1:pPr>
              <ns1:r>
                <ns1:rPr lang="en-US" sz="1500">
                  <ns1:solidFill>
                    <ns1:srgbClr val="1E7A46"/>
                  </ns1:solidFill>
                  <ns1:latin typeface="Calibri (MS)"/>
                  <ns1:ea typeface="Calibri (MS)"/>
                  <ns1:cs typeface="Calibri (MS)"/>
                  <ns1:sym typeface="Calibri (MS)"/>
                </ns1:rPr>
                <ns1:t>Estonian X-Road DMZ Security Server Adapters</ns1:t>
              </ns1:r>
            </ns1:p>
          </ns0:txBody>
        </ns0:sp>
      </ns0:grpSp>
      <ns0:grpSp>
        <ns0:nvGrpSpPr>
          <ns0:cNvPr name="Group 71" id="71"/>
          <ns0:cNvGrpSpPr/>
          <ns0:nvPr/>
        </ns0:nvGrpSpPr>
        <ns0:grpSpPr>
          <ns1:xfrm rot="0">
            <ns1:off x="9934575" y="7561707"/>
            <ns1:ext cx="7768590" cy="1596390"/>
            <ns1:chOff x="0" y="0"/>
            <ns1:chExt cx="10358120" cy="2128520"/>
          </ns1:xfrm>
        </ns0:grpSpPr>
        <ns0:sp>
          <ns0:nvSpPr>
            <ns0:cNvPr name="Freeform 72" id="72"/>
            <ns0:cNvSpPr/>
            <ns0:nvPr/>
          </ns0:nvSpPr>
          <ns0:spPr>
            <ns1:xfrm flipH="false" flipV="false" rot="0">
              <ns1:off x="0" y="0"/>
              <ns1:ext cx="10358120" cy="2128520"/>
            </ns1:xfrm>
            <ns1:custGeom>
              <ns1:avLst/>
              <ns1:gdLst/>
              <ns1:ahLst/>
              <ns1:cxnLst/>
              <ns1:rect r="r" b="b" t="t" l="l"/>
              <ns1:pathLst>
                <ns1:path h="2128520" w="10358120">
                  <ns1:moveTo>
                    <ns1:pt x="0" y="148082"/>
                  </ns1:moveTo>
                  <ns1:cubicBezTo>
                    <ns1:pt x="0" y="66294"/>
                    <ns1:pt x="66294" y="0"/>
                    <ns1:pt x="148082" y="0"/>
                  </ns1:cubicBezTo>
                  <ns1:lnTo>
                    <ns1:pt x="10210038" y="0"/>
                  </ns1:lnTo>
                  <ns1:cubicBezTo>
                    <ns1:pt x="10291826" y="0"/>
                    <ns1:pt x="10358120" y="66294"/>
                    <ns1:pt x="10358120" y="148082"/>
                  </ns1:cubicBezTo>
                  <ns1:lnTo>
                    <ns1:pt x="10358120" y="1980438"/>
                  </ns1:lnTo>
                  <ns1:cubicBezTo>
                    <ns1:pt x="10358120" y="2062226"/>
                    <ns1:pt x="10291826" y="2128520"/>
                    <ns1:pt x="10210038" y="2128520"/>
                  </ns1:cubicBezTo>
                  <ns1:lnTo>
                    <ns1:pt x="148082" y="2128520"/>
                  </ns1:lnTo>
                  <ns1:cubicBezTo>
                    <ns1:pt x="66294" y="2128520"/>
                    <ns1:pt x="0" y="2062226"/>
                    <ns1:pt x="0" y="1980438"/>
                  </ns1:cubicBezTo>
                  <ns1:close/>
                </ns1:path>
              </ns1:pathLst>
            </ns1:custGeom>
            <ns1:solidFill>
              <ns1:srgbClr val="FFFFFF"/>
            </ns1:solidFill>
            <ns1:ln w="19050" cap="sq">
              <ns1:solidFill>
                <ns1:srgbClr val="D8DEE8"/>
              </ns1:solidFill>
              <ns1:prstDash val="solid"/>
              <ns1:miter/>
            </ns1:ln>
          </ns0:spPr>
        </ns0:sp>
      </ns0:grpSp>
      <ns0:grpSp>
        <ns0:nvGrpSpPr>
          <ns0:cNvPr name="Group 73" id="73"/>
          <ns0:cNvGrpSpPr/>
          <ns0:nvPr/>
        </ns0:nvGrpSpPr>
        <ns0:grpSpPr>
          <ns1:xfrm rot="0">
            <ns1:off x="10190988" y="7763256"/>
            <ns1:ext cx="7255764" cy="576072"/>
            <ns1:chOff x="0" y="0"/>
            <ns1:chExt cx="9674352" cy="768096"/>
          </ns1:xfrm>
        </ns0:grpSpPr>
        <ns0:sp>
          <ns0:nvSpPr>
            <ns0:cNvPr name="Freeform 74" id="74"/>
            <ns0:cNvSpPr/>
            <ns0:nvPr/>
          </ns0:nvSpPr>
          <ns0:spPr>
            <ns1:xfrm flipH="false" flipV="false" rot="0">
              <ns1:off x="0" y="0"/>
              <ns1:ext cx="9674352" cy="768096"/>
            </ns1:xfrm>
            <ns1:custGeom>
              <ns1:avLst/>
              <ns1:gdLst/>
              <ns1:ahLst/>
              <ns1:cxnLst/>
              <ns1:rect r="r" b="b" t="t" l="l"/>
              <ns1:pathLst>
                <ns1:path h="768096" w="9674352">
                  <ns1:moveTo>
                    <ns1:pt x="0" y="109728"/>
                  </ns1:moveTo>
                  <ns1:cubicBezTo>
                    <ns1:pt x="0" y="49149"/>
                    <ns1:pt x="49149" y="0"/>
                    <ns1:pt x="109728" y="0"/>
                  </ns1:cubicBezTo>
                  <ns1:lnTo>
                    <ns1:pt x="9564624" y="0"/>
                  </ns1:lnTo>
                  <ns1:cubicBezTo>
                    <ns1:pt x="9625203" y="0"/>
                    <ns1:pt x="9674352" y="49149"/>
                    <ns1:pt x="9674352" y="109728"/>
                  </ns1:cubicBezTo>
                  <ns1:lnTo>
                    <ns1:pt x="9674352" y="658368"/>
                  </ns1:lnTo>
                  <ns1:cubicBezTo>
                    <ns1:pt x="9674352" y="718947"/>
                    <ns1:pt x="9625203" y="768096"/>
                    <ns1:pt x="9564624" y="768096"/>
                  </ns1:cubicBezTo>
                  <ns1:lnTo>
                    <ns1:pt x="109728" y="768096"/>
                  </ns1:lnTo>
                  <ns1:cubicBezTo>
                    <ns1:pt x="49149" y="768096"/>
                    <ns1:pt x="0" y="718947"/>
                    <ns1:pt x="0" y="658368"/>
                  </ns1:cubicBezTo>
                  <ns1:close/>
                </ns1:path>
              </ns1:pathLst>
            </ns1:custGeom>
            <ns1:solidFill>
              <ns1:srgbClr val="FBEAE9"/>
            </ns1:solidFill>
          </ns0:spPr>
        </ns0:sp>
      </ns0:grpSp>
      <ns0:grpSp>
        <ns0:nvGrpSpPr>
          <ns0:cNvPr name="Group 75" id="75"/>
          <ns0:cNvGrpSpPr/>
          <ns0:nvPr/>
        </ns0:nvGrpSpPr>
        <ns0:grpSpPr>
          <ns1:xfrm rot="0">
            <ns1:off x="10355580" y="7763256"/>
            <ns1:ext cx="6926580" cy="576072"/>
            <ns1:chOff x="0" y="0"/>
            <ns1:chExt cx="9235440" cy="768096"/>
          </ns1:xfrm>
        </ns0:grpSpPr>
        <ns0:sp>
          <ns0:nvSpPr>
            <ns0:cNvPr name="Freeform 76" id="76"/>
            <ns0:cNvSpPr/>
            <ns0:nvPr/>
          </ns0:nvSpPr>
          <ns0:spPr>
            <ns1:xfrm flipH="false" flipV="false" rot="0">
              <ns1:off x="0" y="0"/>
              <ns1:ext cx="9235440" cy="768096"/>
            </ns1:xfrm>
            <ns1:custGeom>
              <ns1:avLst/>
              <ns1:gdLst/>
              <ns1:ahLst/>
              <ns1:cxnLst/>
              <ns1:rect r="r" b="b" t="t" l="l"/>
              <ns1:pathLst>
                <ns1:path h="768096" w="9235440">
                  <ns1:moveTo>
                    <ns1:pt x="0" y="0"/>
                  </ns1:moveTo>
                  <ns1:lnTo>
                    <ns1:pt x="9235440" y="0"/>
                  </ns1:lnTo>
                  <ns1:lnTo>
                    <ns1:pt x="9235440" y="768096"/>
                  </ns1:lnTo>
                  <ns1:lnTo>
                    <ns1:pt x="0" y="768096"/>
                  </ns1:lnTo>
                  <ns1:close/>
                </ns1:path>
              </ns1:pathLst>
            </ns1:custGeom>
            <ns1:blipFill>
              <ns1:blip ns2:embed="rId3">
                <ns1:alphaModFix amt="0"/>
              </ns1:blip>
              <ns1:stretch>
                <ns1:fillRect l="0" t="-184284" r="0" b="-184284"/>
              </ns1:stretch>
            </ns1:blipFill>
          </ns0:spPr>
        </ns0:sp>
        <ns0:sp>
          <ns0:nvSpPr>
            <ns0:cNvPr name="TextBox 77" id="77"/>
            <ns0:cNvSpPr txBox="true"/>
            <ns0:nvPr/>
          </ns0:nvSpPr>
          <ns0:spPr>
            <ns1:xfrm>
              <ns1:off x="0" y="-38100"/>
              <ns1:ext cx="9235440" cy="806196"/>
            </ns1:xfrm>
            <ns1:prstGeom prst="rect">
              <ns1:avLst/>
            </ns1:prstGeom>
          </ns0:spPr>
          <ns0:txBody>
            <ns1:bodyPr anchor="ctr" rtlCol="false" tIns="0" lIns="0" bIns="0" rIns="0"/>
            <ns1:lstStyle/>
            <ns1:p>
              <ns1:pPr algn="l">
                <ns1:lnSpc>
                  <ns1:spcPts val="1800"/>
                </ns1:lnSpc>
              </ns1:pPr>
              <ns1:r>
                <ns1:rPr lang="en-US" sz="1500">
                  <ns1:solidFill>
                    <ns1:srgbClr val="B3261E"/>
                  </ns1:solidFill>
                  <ns1:latin typeface="Calibri (MS)"/>
                  <ns1:ea typeface="Calibri (MS)"/>
                  <ns1:cs typeface="Calibri (MS)"/>
                  <ns1:sym typeface="Calibri (MS)"/>
                </ns1:rPr>
                <ns1:t>₹250 Cr Central Database Breach Liability</ns1:t>
              </ns1:r>
            </ns1:p>
          </ns0:txBody>
        </ns0:sp>
      </ns0:grpSp>
      <ns0:grpSp>
        <ns0:nvGrpSpPr>
          <ns0:cNvPr name="Group 78" id="78"/>
          <ns0:cNvGrpSpPr/>
          <ns0:nvPr/>
        </ns0:nvGrpSpPr>
        <ns0:grpSpPr>
          <ns1:xfrm rot="0">
            <ns1:off x="10190988" y="8394192"/>
            <ns1:ext cx="7255764" cy="576072"/>
            <ns1:chOff x="0" y="0"/>
            <ns1:chExt cx="9674352" cy="768096"/>
          </ns1:xfrm>
        </ns0:grpSpPr>
        <ns0:sp>
          <ns0:nvSpPr>
            <ns0:cNvPr name="Freeform 79" id="79"/>
            <ns0:cNvSpPr/>
            <ns0:nvPr/>
          </ns0:nvSpPr>
          <ns0:spPr>
            <ns1:xfrm flipH="false" flipV="false" rot="0">
              <ns1:off x="0" y="0"/>
              <ns1:ext cx="9674352" cy="768096"/>
            </ns1:xfrm>
            <ns1:custGeom>
              <ns1:avLst/>
              <ns1:gdLst/>
              <ns1:ahLst/>
              <ns1:cxnLst/>
              <ns1:rect r="r" b="b" t="t" l="l"/>
              <ns1:pathLst>
                <ns1:path h="768096" w="9674352">
                  <ns1:moveTo>
                    <ns1:pt x="0" y="109728"/>
                  </ns1:moveTo>
                  <ns1:cubicBezTo>
                    <ns1:pt x="0" y="49149"/>
                    <ns1:pt x="49149" y="0"/>
                    <ns1:pt x="109728" y="0"/>
                  </ns1:cubicBezTo>
                  <ns1:lnTo>
                    <ns1:pt x="9564624" y="0"/>
                  </ns1:lnTo>
                  <ns1:cubicBezTo>
                    <ns1:pt x="9625203" y="0"/>
                    <ns1:pt x="9674352" y="49149"/>
                    <ns1:pt x="9674352" y="109728"/>
                  </ns1:cubicBezTo>
                  <ns1:lnTo>
                    <ns1:pt x="9674352" y="658368"/>
                  </ns1:lnTo>
                  <ns1:cubicBezTo>
                    <ns1:pt x="9674352" y="718947"/>
                    <ns1:pt x="9625203" y="768096"/>
                    <ns1:pt x="9564624" y="768096"/>
                  </ns1:cubicBezTo>
                  <ns1:lnTo>
                    <ns1:pt x="109728" y="768096"/>
                  </ns1:lnTo>
                  <ns1:cubicBezTo>
                    <ns1:pt x="49149" y="768096"/>
                    <ns1:pt x="0" y="718947"/>
                    <ns1:pt x="0" y="658368"/>
                  </ns1:cubicBezTo>
                  <ns1:close/>
                </ns1:path>
              </ns1:pathLst>
            </ns1:custGeom>
            <ns1:solidFill>
              <ns1:srgbClr val="E4F3EA"/>
            </ns1:solidFill>
          </ns0:spPr>
        </ns0:sp>
      </ns0:grpSp>
      <ns0:grpSp>
        <ns0:nvGrpSpPr>
          <ns0:cNvPr name="Group 80" id="80"/>
          <ns0:cNvGrpSpPr/>
          <ns0:nvPr/>
        </ns0:nvGrpSpPr>
        <ns0:grpSpPr>
          <ns1:xfrm rot="0">
            <ns1:off x="10355580" y="8394192"/>
            <ns1:ext cx="6926580" cy="576072"/>
            <ns1:chOff x="0" y="0"/>
            <ns1:chExt cx="9235440" cy="768096"/>
          </ns1:xfrm>
        </ns0:grpSpPr>
        <ns0:sp>
          <ns0:nvSpPr>
            <ns0:cNvPr name="Freeform 81" id="81"/>
            <ns0:cNvSpPr/>
            <ns0:nvPr/>
          </ns0:nvSpPr>
          <ns0:spPr>
            <ns1:xfrm flipH="false" flipV="false" rot="0">
              <ns1:off x="0" y="0"/>
              <ns1:ext cx="9235440" cy="768096"/>
            </ns1:xfrm>
            <ns1:custGeom>
              <ns1:avLst/>
              <ns1:gdLst/>
              <ns1:ahLst/>
              <ns1:cxnLst/>
              <ns1:rect r="r" b="b" t="t" l="l"/>
              <ns1:pathLst>
                <ns1:path h="768096" w="9235440">
                  <ns1:moveTo>
                    <ns1:pt x="0" y="0"/>
                  </ns1:moveTo>
                  <ns1:lnTo>
                    <ns1:pt x="9235440" y="0"/>
                  </ns1:lnTo>
                  <ns1:lnTo>
                    <ns1:pt x="9235440" y="768096"/>
                  </ns1:lnTo>
                  <ns1:lnTo>
                    <ns1:pt x="0" y="768096"/>
                  </ns1:lnTo>
                  <ns1:close/>
                </ns1:path>
              </ns1:pathLst>
            </ns1:custGeom>
            <ns1:blipFill>
              <ns1:blip ns2:embed="rId3">
                <ns1:alphaModFix amt="0"/>
              </ns1:blip>
              <ns1:stretch>
                <ns1:fillRect l="0" t="-184284" r="0" b="-184284"/>
              </ns1:stretch>
            </ns1:blipFill>
          </ns0:spPr>
        </ns0:sp>
        <ns0:sp>
          <ns0:nvSpPr>
            <ns0:cNvPr name="TextBox 82" id="82"/>
            <ns0:cNvSpPr txBox="true"/>
            <ns0:nvPr/>
          </ns0:nvSpPr>
          <ns0:spPr>
            <ns1:xfrm>
              <ns1:off x="0" y="-38100"/>
              <ns1:ext cx="9235440" cy="806196"/>
            </ns1:xfrm>
            <ns1:prstGeom prst="rect">
              <ns1:avLst/>
            </ns1:prstGeom>
          </ns0:spPr>
          <ns0:txBody>
            <ns1:bodyPr anchor="ctr" rtlCol="false" tIns="0" lIns="0" bIns="0" rIns="0"/>
            <ns1:lstStyle/>
            <ns1:p>
              <ns1:pPr algn="l">
                <ns1:lnSpc>
                  <ns1:spcPts val="1800"/>
                </ns1:lnSpc>
              </ns1:pPr>
              <ns1:r>
                <ns1:rPr lang="en-US" sz="1500">
                  <ns1:solidFill>
                    <ns1:srgbClr val="1E7A46"/>
                  </ns1:solidFill>
                  <ns1:latin typeface="Calibri (MS)"/>
                  <ns1:ea typeface="Calibri (MS)"/>
                  <ns1:cs typeface="Calibri (MS)"/>
                  <ns1:sym typeface="Calibri (MS)"/>
                </ns1:rPr>
                <ns1:t>Zero-Persistence: Data Stays at Source Depts</ns1:t>
              </ns1:r>
            </ns1:p>
          </ns0:txBody>
        </ns0:sp>
      </ns0:grpSp>
      <ns0:grpSp>
        <ns0:nvGrpSpPr>
          <ns0:cNvPr name="Group 83" id="83"/>
          <ns0:cNvGrpSpPr/>
          <ns0:nvPr/>
        </ns0:nvGrpSpPr>
        <ns0:grpSpPr>
          <ns1:xfrm rot="0">
            <ns1:off x="0" y="9793224"/>
            <ns1:ext cx="18283428" cy="493776"/>
            <ns1:chOff x="0" y="0"/>
            <ns1:chExt cx="24377904" cy="658368"/>
          </ns1:xfrm>
        </ns0:grpSpPr>
        <ns0:sp>
          <ns0:nvSpPr>
            <ns0:cNvPr name="Freeform 84" id="84"/>
            <ns0:cNvSpPr/>
            <ns0:nvPr/>
          </ns0:nvSpPr>
          <ns0:spPr>
            <ns1:xfrm flipH="false" flipV="false" rot="0">
              <ns1:off x="0" y="0"/>
              <ns1:ext cx="24377904" cy="658368"/>
            </ns1:xfrm>
            <ns1:custGeom>
              <ns1:avLst/>
              <ns1:gdLst/>
              <ns1:ahLst/>
              <ns1:cxnLst/>
              <ns1:rect r="r" b="b" t="t" l="l"/>
              <ns1:pathLst>
                <ns1:path h="658368" w="24377904">
                  <ns1:moveTo>
                    <ns1:pt x="0" y="0"/>
                  </ns1:moveTo>
                  <ns1:lnTo>
                    <ns1:pt x="24377904" y="0"/>
                  </ns1:lnTo>
                  <ns1:lnTo>
                    <ns1:pt x="24377904" y="658368"/>
                  </ns1:lnTo>
                  <ns1:lnTo>
                    <ns1:pt x="0" y="658368"/>
                  </ns1:lnTo>
                  <ns1:close/>
                </ns1:path>
              </ns1:pathLst>
            </ns1:custGeom>
            <ns1:solidFill>
              <ns1:srgbClr val="081B33"/>
            </ns1:solidFill>
          </ns0:spPr>
        </ns0:sp>
      </ns0:grpSp>
      <ns0:grpSp>
        <ns0:nvGrpSpPr>
          <ns0:cNvPr name="Group 85" id="85"/>
          <ns0:cNvGrpSpPr/>
          <ns0:nvPr/>
        </ns0:nvGrpSpPr>
        <ns0:grpSpPr>
          <ns1:xfrm rot="0">
            <ns1:off x="7891599" y="9793224"/>
            <ns1:ext cx="4005942" cy="493776"/>
            <ns1:chOff x="0" y="0"/>
            <ns1:chExt cx="5341257" cy="658368"/>
          </ns1:xfrm>
        </ns0:grpSpPr>
        <ns0:sp>
          <ns0:nvSpPr>
            <ns0:cNvPr name="Freeform 86" id="86"/>
            <ns0:cNvSpPr/>
            <ns0:nvPr/>
          </ns0:nvSpPr>
          <ns0:spPr>
            <ns1:xfrm flipH="false" flipV="false" rot="0">
              <ns1:off x="0" y="0"/>
              <ns1:ext cx="5341257" cy="658368"/>
            </ns1:xfrm>
            <ns1:custGeom>
              <ns1:avLst/>
              <ns1:gdLst/>
              <ns1:ahLst/>
              <ns1:cxnLst/>
              <ns1:rect r="r" b="b" t="t" l="l"/>
              <ns1:pathLst>
                <ns1:path h="658368" w="5341257">
                  <ns1:moveTo>
                    <ns1:pt x="0" y="0"/>
                  </ns1:moveTo>
                  <ns1:lnTo>
                    <ns1:pt x="5341257" y="0"/>
                  </ns1:lnTo>
                  <ns1:lnTo>
                    <ns1:pt x="5341257" y="658368"/>
                  </ns1:lnTo>
                  <ns1:lnTo>
                    <ns1:pt x="0" y="658368"/>
                  </ns1:lnTo>
                  <ns1:close/>
                </ns1:path>
              </ns1:pathLst>
            </ns1:custGeom>
            <ns1:blipFill>
              <ns1:blip ns2:embed="rId3">
                <ns1:alphaModFix amt="0"/>
              </ns1:blip>
              <ns1:stretch>
                <ns1:fillRect l="0" t="-383000" r="-173913" b="-383000"/>
              </ns1:stretch>
            </ns1:blipFill>
          </ns0:spPr>
        </ns0:sp>
        <ns0:sp>
          <ns0:nvSpPr>
            <ns0:cNvPr name="TextBox 87" id="87"/>
            <ns0:cNvSpPr txBox="true"/>
            <ns0:nvPr/>
          </ns0:nvSpPr>
          <ns0:spPr>
            <ns1:xfrm>
              <ns1:off x="0" y="-38100"/>
              <ns1:ext cx="5341257" cy="696468"/>
            </ns1:xfrm>
            <ns1:prstGeom prst="rect">
              <ns1:avLst/>
            </ns1:prstGeom>
          </ns0:spPr>
          <ns0:txBody>
            <ns1:bodyPr anchor="ctr" rtlCol="false" tIns="0" lIns="0" bIns="0" rIns="0"/>
            <ns1:lstStyle/>
            <ns1:p>
              <ns1:pPr algn="l">
                <ns1:lnSpc>
                  <ns1:spcPts val="1800"/>
                </ns1:lnSpc>
              </ns1:pPr>
            </ns1:p>
          </ns0:txBody>
        </ns0:sp>
      </ns0:grpSp>
      <ns0:grpSp>
        <ns0:nvGrpSpPr>
          <ns0:cNvPr name="Group 88" id="88"/>
          <ns0:cNvGrpSpPr/>
          <ns0:nvPr/>
        </ns0:nvGrpSpPr>
        <ns0:grpSpPr>
          <ns1:xfrm rot="0">
            <ns1:off x="17282160" y="9793224"/>
            <ns1:ext cx="685800" cy="493776"/>
            <ns1:chOff x="0" y="0"/>
            <ns1:chExt cx="914400" cy="658368"/>
          </ns1:xfrm>
        </ns0:grpSpPr>
        <ns0:sp>
          <ns0:nvSpPr>
            <ns0:cNvPr name="Freeform 89" id="89"/>
            <ns0:cNvSpPr/>
            <ns0:nvPr/>
          </ns0:nvSpPr>
          <ns0:spPr>
            <ns1:xfrm flipH="false" flipV="false" rot="0">
              <ns1:off x="0" y="0"/>
              <ns1:ext cx="914400" cy="658368"/>
            </ns1:xfrm>
            <ns1:custGeom>
              <ns1:avLst/>
              <ns1:gdLst/>
              <ns1:ahLst/>
              <ns1:cxnLst/>
              <ns1:rect r="r" b="b" t="t" l="l"/>
              <ns1:pathLst>
                <ns1:path h="658368" w="914400">
                  <ns1:moveTo>
                    <ns1:pt x="0" y="0"/>
                  </ns1:moveTo>
                  <ns1:lnTo>
                    <ns1:pt x="914400" y="0"/>
                  </ns1:lnTo>
                  <ns1:lnTo>
                    <ns1:pt x="914400" y="658368"/>
                  </ns1:lnTo>
                  <ns1:lnTo>
                    <ns1:pt x="0" y="658368"/>
                  </ns1:lnTo>
                  <ns1:close/>
                </ns1:path>
              </ns1:pathLst>
            </ns1:custGeom>
            <ns1:blipFill>
              <ns1:blip ns2:embed="rId3">
                <ns1:alphaModFix amt="0"/>
              </ns1:blip>
              <ns1:stretch>
                <ns1:fillRect l="-42378" t="0" r="-42378" b="0"/>
              </ns1:stretch>
            </ns1:blipFill>
          </ns0:spPr>
        </ns0:sp>
        <ns0:sp>
          <ns0:nvSpPr>
            <ns0:cNvPr name="TextBox 90" id="90"/>
            <ns0:cNvSpPr txBox="true"/>
            <ns0:nvPr/>
          </ns0:nvSpPr>
          <ns0:spPr>
            <ns1:xfrm>
              <ns1:off x="0" y="-38100"/>
              <ns1:ext cx="914400" cy="696468"/>
            </ns1:xfrm>
            <ns1:prstGeom prst="rect">
              <ns1:avLst/>
            </ns1:prstGeom>
          </ns0:spPr>
          <ns0:txBody>
            <ns1:bodyPr anchor="ctr" rtlCol="false" tIns="0" lIns="0" bIns="0" rIns="0"/>
            <ns1:lstStyle/>
            <ns1:p>
              <ns1:pPr algn="r">
                <ns1:lnSpc>
                  <ns1:spcPts val="1800"/>
                </ns1:lnSpc>
              </ns1:pPr>
              <ns1:r>
                <ns1:rPr lang="en-US" sz="1500">
                  <ns1:solidFill>
                    <ns1:srgbClr val="AFC3DA"/>
                  </ns1:solidFill>
                  <ns1:latin typeface="Calibri (MS)"/>
                  <ns1:ea typeface="Calibri (MS)"/>
                  <ns1:cs typeface="Calibri (MS)"/>
                  <ns1:sym typeface="Calibri (MS)"/>
                </ns1:rPr>
                <ns1:t>2</ns1:t>
              </ns1:r>
            </ns1:p>
          </ns0:txBody>
        </ns0:sp>
      </ns0:grpSp>
      <ns0:sp>
        <ns0:nvSpPr>
          <ns0:cNvPr name="TextBox 91" id="91"/>
          <ns0:cNvSpPr txBox="true"/>
          <ns0:nvPr/>
        </ns0:nvSpPr>
        <ns0:spPr>
          <ns1:xfrm rot="0">
            <ns1:off x="7269823" y="9863880"/>
            <ns1:ext cx="3743782" cy="314363"/>
          </ns1:xfrm>
          <ns1:prstGeom prst="rect">
            <ns1:avLst/>
          </ns1:prstGeom>
        </ns0:spPr>
        <ns0:txBody>
          <ns1:bodyPr anchor="t" rtlCol="false" tIns="0" lIns="0" bIns="0" rIns="0">
            <ns1:spAutoFit/>
          </ns1:bodyPr>
          <ns1:lstStyle/>
          <ns1:p>
            <ns1:pPr algn="ctr">
              <ns1:lnSpc>
                <ns1:spcPts val="2249"/>
              </ns1:lnSpc>
              <ns1:spcBef>
                <ns1:spcPct val="0"/>
              </ns1:spcBef>
            </ns1:pPr>
            <ns1:r>
              <ns1:rPr lang="en-US" sz="1874">
                <ns1:solidFill>
                  <ns1:srgbClr val="AFC3DA"/>
                </ns1:solidFill>
                <ns1:latin typeface="Calibri (MS)"/>
                <ns1:ea typeface="Calibri (MS)"/>
                <ns1:cs typeface="Calibri (MS)"/>
                <ns1:sym typeface="Calibri (MS)"/>
              </ns1:rPr>
              <ns1:t>SIH 2026</ns1:t>
            </ns1:r>
            <ns1:r>
              <ns1:rPr lang="en-US" sz="1874">
                <ns1:solidFill>
                  <ns1:srgbClr val="AFC3DA"/>
                </ns1:solidFill>
                <ns1:latin typeface="Calibri (MS)"/>
                <ns1:ea typeface="Calibri (MS)"/>
                <ns1:cs typeface="Calibri (MS)"/>
                <ns1:sym typeface="Calibri (MS)"/>
              </ns1:rPr>
              <ns1:t> Idea Submission — MahaLink</ns1:t>
            </ns1:r>
          </ns1:p>
        </ns0:txBody>
      </ns0:sp>
    </ns0:spTree>
  </ns0:cSld>
  <ns0:clrMapOvr>
    <ns1:masterClrMapping/>
  </ns0:clrMapOvr>
</ns0:sld>
</file>

<file path=ppt/slides/slide3.xml><?xml version="1.0" encoding="utf-8"?>
<ns0:sld xmlns:ns0="http://schemas.openxmlformats.org/presentationml/2006/main" xmlns:ns1="http://schemas.openxmlformats.org/drawingml/2006/main" xmlns:ns2="http://schemas.openxmlformats.org/officeDocument/2006/relationships">
  <ns0:cSld>
    <ns0:bg>
      <ns0:bgPr>
        <ns1:solidFill>
          <ns1:srgbClr val="F4F6F9"/>
        </ns1:solidFill>
      </ns0:bgPr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grpSp>
        <ns0:nvGrpSpPr>
          <ns0:cNvPr name="Group 2" id="2"/>
          <ns0:cNvGrpSpPr/>
          <ns0:nvPr/>
        </ns0:nvGrpSpPr>
        <ns0:grpSpPr>
          <ns1:xfrm rot="0">
            <ns1:off x="470535" y="401955"/>
            <ns1:ext cx="2076450" cy="869442"/>
            <ns1:chOff x="0" y="0"/>
            <ns1:chExt cx="2768600" cy="1159256"/>
          </ns1:xfrm>
        </ns0:grpSpPr>
        <ns0:sp>
          <ns0:nvSpPr>
            <ns0:cNvPr name="Freeform 3" id="3"/>
            <ns0:cNvSpPr/>
            <ns0:nvPr/>
          </ns0:nvSpPr>
          <ns0:spPr>
            <ns1:xfrm flipH="false" flipV="false" rot="0">
              <ns1:off x="0" y="0"/>
              <ns1:ext cx="2768600" cy="1159256"/>
            </ns1:xfrm>
            <ns1:custGeom>
              <ns1:avLst/>
              <ns1:gdLst/>
              <ns1:ahLst/>
              <ns1:cxnLst/>
              <ns1:rect r="r" b="b" t="t" l="l"/>
              <ns1:pathLst>
                <ns1:path h="1159256" w="2768600">
                  <ns1:moveTo>
                    <ns1:pt x="0" y="186944"/>
                  </ns1:moveTo>
                  <ns1:cubicBezTo>
                    <ns1:pt x="0" y="83693"/>
                    <ns1:pt x="83693" y="0"/>
                    <ns1:pt x="186944" y="0"/>
                  </ns1:cubicBezTo>
                  <ns1:lnTo>
                    <ns1:pt x="2581656" y="0"/>
                  </ns1:lnTo>
                  <ns1:cubicBezTo>
                    <ns1:pt x="2684907" y="0"/>
                    <ns1:pt x="2768600" y="83693"/>
                    <ns1:pt x="2768600" y="186944"/>
                  </ns1:cubicBezTo>
                  <ns1:lnTo>
                    <ns1:pt x="2768600" y="972312"/>
                  </ns1:lnTo>
                  <ns1:cubicBezTo>
                    <ns1:pt x="2768600" y="1075563"/>
                    <ns1:pt x="2684907" y="1159256"/>
                    <ns1:pt x="2581656" y="1159256"/>
                  </ns1:cubicBezTo>
                  <ns1:lnTo>
                    <ns1:pt x="186944" y="1159256"/>
                  </ns1:lnTo>
                  <ns1:cubicBezTo>
                    <ns1:pt x="83693" y="1159256"/>
                    <ns1:pt x="0" y="1075563"/>
                    <ns1:pt x="0" y="972312"/>
                  </ns1:cubicBezTo>
                  <ns1:close/>
                </ns1:path>
              </ns1:pathLst>
            </ns1:custGeom>
            <ns1:solidFill>
              <ns1:srgbClr val="FFFFFF"/>
            </ns1:solidFill>
            <ns1:ln w="19050" cap="sq">
              <ns1:solidFill>
                <ns1:srgbClr val="1C7293"/>
              </ns1:solidFill>
              <ns1:prstDash val="solid"/>
              <ns1:miter/>
            </ns1:ln>
          </ns0:spPr>
        </ns0:sp>
      </ns0:grpSp>
      <ns0:grpSp>
        <ns0:nvGrpSpPr>
          <ns0:cNvPr name="Group 4" id="4"/>
          <ns0:cNvGrpSpPr/>
          <ns0:nvPr/>
        </ns0:nvGrpSpPr>
        <ns0:grpSpPr>
          <ns1:xfrm rot="0">
            <ns1:off x="480060" y="411480"/>
            <ns1:ext cx="2057400" cy="850392"/>
            <ns1:chOff x="0" y="0"/>
            <ns1:chExt cx="2743200" cy="1133856"/>
          </ns1:xfrm>
        </ns0:grpSpPr>
        <ns0:sp>
          <ns0:nvSpPr>
            <ns0:cNvPr name="Freeform 5" id="5"/>
            <ns0:cNvSpPr/>
            <ns0:nvPr/>
          </ns0:nvSpPr>
          <ns0:spPr>
            <ns1:xfrm flipH="false" flipV="false" rot="0">
              <ns1:off x="0" y="0"/>
              <ns1:ext cx="2743200" cy="1133856"/>
            </ns1:xfrm>
            <ns1:custGeom>
              <ns1:avLst/>
              <ns1:gdLst/>
              <ns1:ahLst/>
              <ns1:cxnLst/>
              <ns1:rect r="r" b="b" t="t" l="l"/>
              <ns1:pathLst>
                <ns1:path h="1133856" w="2743200">
                  <ns1:moveTo>
                    <ns1:pt x="0" y="0"/>
                  </ns1:moveTo>
                  <ns1:lnTo>
                    <ns1:pt x="2743200" y="0"/>
                  </ns1:lnTo>
                  <ns1:lnTo>
                    <ns1:pt x="2743200" y="1133856"/>
                  </ns1:lnTo>
                  <ns1:lnTo>
                    <ns1:pt x="0" y="1133856"/>
                  </ns1:lnTo>
                  <ns1:close/>
                </ns1:path>
              </ns1:pathLst>
            </ns1:custGeom>
            <ns1:blipFill>
              <ns1:blip ns2:embed="rId3">
                <ns1:alphaModFix amt="0"/>
              </ns1:blip>
              <ns1:stretch>
                <ns1:fillRect l="-3032" t="0" r="-3032" b="0"/>
              </ns1:stretch>
            </ns1:blipFill>
          </ns0:spPr>
        </ns0:sp>
        <ns0:sp>
          <ns0:nvSpPr>
            <ns0:cNvPr name="TextBox 6" id="6"/>
            <ns0:cNvSpPr txBox="true"/>
            <ns0:nvPr/>
          </ns0:nvSpPr>
          <ns0:spPr>
            <ns1:xfrm>
              <ns1:off x="0" y="-47625"/>
              <ns1:ext cx="2743200" cy="1181481"/>
            </ns1:xfrm>
            <ns1:prstGeom prst="rect">
              <ns1:avLst/>
            </ns1:prstGeom>
          </ns0:spPr>
          <ns0:txBody>
            <ns1:bodyPr anchor="ctr" rtlCol="false" tIns="0" lIns="0" bIns="0" rIns="0"/>
            <ns1:lstStyle/>
            <ns1:p>
              <ns1:pPr algn="ctr">
                <ns1:lnSpc>
                  <ns1:spcPts val="2519"/>
                </ns1:lnSpc>
              </ns1:pPr>
              <ns1:r>
                <ns1:rPr lang="en-US" b="true" sz="2099">
                  <ns1:gradFill>
                    <ns1:gsLst>
                      <ns1:gs pos="0">
                        <ns1:srgbClr val="091E27">
                          <ns1:alpha val="100000"/>
                        </ns1:srgbClr>
                      </ns1:gs>
                      <ns1:gs pos="100000">
                        <ns1:srgbClr val="48F0E7">
                          <ns1:alpha val="100000"/>
                        </ns1:srgbClr>
                      </ns1:gs>
                    </ns1:gsLst>
                    <ns1:lin ang="18900000"/>
                  </ns1:gradFill>
                  <ns1:latin typeface="Calibri (MS) Bold"/>
                  <ns1:ea typeface="Calibri (MS) Bold"/>
                  <ns1:cs typeface="Calibri (MS) Bold"/>
                  <ns1:sym typeface="Calibri (MS) Bold"/>
                </ns1:rPr>
                <ns1:t>INFERNO VI</ns1:t>
              </ns1:r>
            </ns1:p>
          </ns0:txBody>
        </ns0:sp>
      </ns0:grpSp>
      <ns0:grpSp>
        <ns0:nvGrpSpPr>
          <ns0:cNvPr name="Group 7" id="7"/>
          <ns0:cNvGrpSpPr/>
          <ns0:nvPr/>
        </ns0:nvGrpSpPr>
        <ns0:grpSpPr>
          <ns1:xfrm rot="0">
            <ns1:off x="6349365" y="438912"/>
            <ns1:ext cx="12344400" cy="822960"/>
            <ns1:chOff x="0" y="0"/>
            <ns1:chExt cx="16459200" cy="1097280"/>
          </ns1:xfrm>
        </ns0:grpSpPr>
        <ns0:sp>
          <ns0:nvSpPr>
            <ns0:cNvPr name="Freeform 8" id="8"/>
            <ns0:cNvSpPr/>
            <ns0:nvPr/>
          </ns0:nvSpPr>
          <ns0:spPr>
            <ns1:xfrm flipH="false" flipV="false" rot="0">
              <ns1:off x="0" y="0"/>
              <ns1:ext cx="16459200" cy="1097280"/>
            </ns1:xfrm>
            <ns1:custGeom>
              <ns1:avLst/>
              <ns1:gdLst/>
              <ns1:ahLst/>
              <ns1:cxnLst/>
              <ns1:rect r="r" b="b" t="t" l="l"/>
              <ns1:pathLst>
                <ns1:path h="1097280" w="16459200">
                  <ns1:moveTo>
                    <ns1:pt x="0" y="0"/>
                  </ns1:moveTo>
                  <ns1:lnTo>
                    <ns1:pt x="16459200" y="0"/>
                  </ns1:lnTo>
                  <ns1:lnTo>
                    <ns1:pt x="16459200" y="1097280"/>
                  </ns1:lnTo>
                  <ns1:lnTo>
                    <ns1:pt x="0" y="1097280"/>
                  </ns1:lnTo>
                  <ns1:close/>
                </ns1:path>
              </ns1:pathLst>
            </ns1:custGeom>
            <ns1:blipFill>
              <ns1:blip ns2:embed="rId3">
                <ns1:alphaModFix amt="0"/>
              </ns1:blip>
              <ns1:stretch>
                <ns1:fillRect l="0" t="-242275" r="0" b="-242275"/>
              </ns1:stretch>
            </ns1:blipFill>
          </ns0:spPr>
        </ns0:sp>
        <ns0:sp>
          <ns0:nvSpPr>
            <ns0:cNvPr name="TextBox 9" id="9"/>
            <ns0:cNvSpPr txBox="true"/>
            <ns0:nvPr/>
          </ns0:nvSpPr>
          <ns0:spPr>
            <ns1:xfrm>
              <ns1:off x="0" y="0"/>
              <ns1:ext cx="16459200" cy="1097280"/>
            </ns1:xfrm>
            <ns1:prstGeom prst="rect">
              <ns1:avLst/>
            </ns1:prstGeom>
          </ns0:spPr>
          <ns0:txBody>
            <ns1:bodyPr anchor="ctr" rtlCol="false" tIns="0" lIns="0" bIns="0" rIns="0"/>
            <ns1:lstStyle/>
            <ns1:p>
              <ns1:pPr algn="l">
                <ns1:lnSpc>
                  <ns1:spcPts val="4680"/>
                </ns1:lnSpc>
              </ns1:pPr>
              <ns1:r>
                <ns1:rPr lang="en-US" sz="3900" b="true">
                  <ns1:solidFill>
                    <ns1:srgbClr val="0B2545"/>
                  </ns1:solidFill>
                  <ns1:latin typeface="Cambria Bold"/>
                  <ns1:ea typeface="Cambria Bold"/>
                  <ns1:cs typeface="Cambria Bold"/>
                  <ns1:sym typeface="Cambria Bold"/>
                </ns1:rPr>
                <ns1:t>TECHNICAL APPROACH</ns1:t>
              </ns1:r>
            </ns1:p>
          </ns0:txBody>
        </ns0:sp>
      </ns0:grpSp>
      <ns0:grpSp>
        <ns0:nvGrpSpPr>
          <ns0:cNvPr name="Group 10" id="10"/>
          <ns0:cNvGrpSpPr/>
          <ns0:nvPr/>
        </ns0:nvGrpSpPr>
        <ns0:grpSpPr>
          <ns1:xfrm rot="0">
            <ns1:off x="6626042" y="2315647"/>
            <ns1:ext cx="4518568" cy="419086"/>
            <ns1:chOff x="0" y="0"/>
            <ns1:chExt cx="6024757" cy="558781"/>
          </ns1:xfrm>
        </ns0:grpSpPr>
        <ns0:sp>
          <ns0:nvSpPr>
            <ns0:cNvPr name="Freeform 11" id="11"/>
            <ns0:cNvSpPr/>
            <ns0:nvPr/>
          </ns0:nvSpPr>
          <ns0:spPr>
            <ns1:xfrm flipH="false" flipV="false" rot="0">
              <ns1:off x="0" y="0"/>
              <ns1:ext cx="6024757" cy="558781"/>
            </ns1:xfrm>
            <ns1:custGeom>
              <ns1:avLst/>
              <ns1:gdLst/>
              <ns1:ahLst/>
              <ns1:cxnLst/>
              <ns1:rect r="r" b="b" t="t" l="l"/>
              <ns1:pathLst>
                <ns1:path h="558781" w="6024757">
                  <ns1:moveTo>
                    <ns1:pt x="0" y="0"/>
                  </ns1:moveTo>
                  <ns1:lnTo>
                    <ns1:pt x="6024757" y="0"/>
                  </ns1:lnTo>
                  <ns1:lnTo>
                    <ns1:pt x="6024757" y="558781"/>
                  </ns1:lnTo>
                  <ns1:lnTo>
                    <ns1:pt x="0" y="558781"/>
                  </ns1:lnTo>
                  <ns1:close/>
                </ns1:path>
              </ns1:pathLst>
            </ns1:custGeom>
            <ns1:blipFill>
              <ns1:blip ns2:embed="rId3">
                <ns1:alphaModFix amt="0"/>
              </ns1:blip>
              <ns1:stretch>
                <ns1:fillRect l="0" t="-183673" r="-10794" b="-181858"/>
              </ns1:stretch>
            </ns1:blipFill>
          </ns0:spPr>
        </ns0:sp>
        <ns0:sp>
          <ns0:nvSpPr>
            <ns0:cNvPr name="TextBox 12" id="12"/>
            <ns0:cNvSpPr txBox="true"/>
            <ns0:nvPr/>
          </ns0:nvSpPr>
          <ns0:spPr>
            <ns1:xfrm>
              <ns1:off x="0" y="-47625"/>
              <ns1:ext cx="6024757" cy="606406"/>
            </ns1:xfrm>
            <ns1:prstGeom prst="rect">
              <ns1:avLst/>
            </ns1:prstGeom>
          </ns0:spPr>
          <ns0:txBody>
            <ns1:bodyPr anchor="ctr" rtlCol="false" tIns="0" lIns="0" bIns="0" rIns="0"/>
            <ns1:lstStyle/>
            <ns1:p>
              <ns1:pPr algn="ctr">
                <ns1:lnSpc>
                  <ns1:spcPts val="2549"/>
                </ns1:lnSpc>
              </ns1:pPr>
              <ns1:r>
                <ns1:rPr lang="en-US" sz="2124" b="true">
                  <ns1:solidFill>
                    <ns1:srgbClr val="5B6B82"/>
                  </ns1:solidFill>
                  <ns1:latin typeface="Calibri (MS) Bold"/>
                  <ns1:ea typeface="Calibri (MS) Bold"/>
                  <ns1:cs typeface="Calibri (MS) Bold"/>
                  <ns1:sym typeface="Calibri (MS) Bold"/>
                </ns1:rPr>
                <ns1:t>STATEWIDE ENTERPRISE ARCHITECTURE</ns1:t>
              </ns1:r>
            </ns1:p>
          </ns0:txBody>
        </ns0:sp>
      </ns0:grpSp>
      <ns0:grpSp>
        <ns0:nvGrpSpPr>
          <ns0:cNvPr name="Group 13" id="13"/>
          <ns0:cNvGrpSpPr/>
          <ns0:nvPr/>
        </ns0:nvGrpSpPr>
        <ns0:grpSpPr>
          <ns1:xfrm rot="0">
            <ns1:off x="6579619" y="2818260"/>
            <ns1:ext cx="4542640" cy="798797"/>
            <ns1:chOff x="0" y="0"/>
            <ns1:chExt cx="6056853" cy="1065063"/>
          </ns1:xfrm>
        </ns0:grpSpPr>
        <ns0:sp>
          <ns0:nvSpPr>
            <ns0:cNvPr name="Freeform 14" id="14"/>
            <ns0:cNvSpPr/>
            <ns0:nvPr/>
          </ns0:nvSpPr>
          <ns0:spPr>
            <ns1:xfrm flipH="false" flipV="false" rot="0">
              <ns1:off x="0" y="0"/>
              <ns1:ext cx="6056853" cy="1065063"/>
            </ns1:xfrm>
            <ns1:custGeom>
              <ns1:avLst/>
              <ns1:gdLst/>
              <ns1:ahLst/>
              <ns1:cxnLst/>
              <ns1:rect r="r" b="b" t="t" l="l"/>
              <ns1:pathLst>
                <ns1:path h="1065063" w="6056853">
                  <ns1:moveTo>
                    <ns1:pt x="0" y="141969"/>
                  </ns1:moveTo>
                  <ns1:cubicBezTo>
                    <ns1:pt x="0" y="63522"/>
                    <ns1:pt x="60981" y="0"/>
                    <ns1:pt x="136291" y="0"/>
                  </ns1:cubicBezTo>
                  <ns1:lnTo>
                    <ns1:pt x="5920562" y="0"/>
                  </ns1:lnTo>
                  <ns1:cubicBezTo>
                    <ns1:pt x="5995872" y="0"/>
                    <ns1:pt x="6056853" y="63522"/>
                    <ns1:pt x="6056853" y="141969"/>
                  </ns1:cubicBezTo>
                  <ns1:lnTo>
                    <ns1:pt x="6056853" y="923094"/>
                  </ns1:lnTo>
                  <ns1:cubicBezTo>
                    <ns1:pt x="6056853" y="1001541"/>
                    <ns1:pt x="5995872" y="1065063"/>
                    <ns1:pt x="5920562" y="1065063"/>
                  </ns1:cubicBezTo>
                  <ns1:lnTo>
                    <ns1:pt x="136291" y="1065063"/>
                  </ns1:lnTo>
                  <ns1:cubicBezTo>
                    <ns1:pt x="60981" y="1065063"/>
                    <ns1:pt x="0" y="1001541"/>
                    <ns1:pt x="0" y="923094"/>
                  </ns1:cubicBezTo>
                  <ns1:close/>
                </ns1:path>
              </ns1:pathLst>
            </ns1:custGeom>
            <ns1:solidFill>
              <ns1:srgbClr val="99FFCE"/>
            </ns1:solidFill>
            <ns1:ln w="26670" cap="sq">
              <ns1:solidFill>
                <ns1:srgbClr val="0B2545"/>
              </ns1:solidFill>
              <ns1:prstDash val="solid"/>
              <ns1:miter/>
            </ns1:ln>
          </ns0:spPr>
        </ns0:sp>
      </ns0:grpSp>
      <ns0:grpSp>
        <ns0:nvGrpSpPr>
          <ns0:cNvPr name="Group 15" id="15"/>
          <ns0:cNvGrpSpPr/>
          <ns0:nvPr/>
        </ns0:nvGrpSpPr>
        <ns0:grpSpPr>
          <ns1:xfrm rot="0">
            <ns1:off x="6777349" y="2908169"/>
            <ns1:ext cx="4147179" cy="361071"/>
            <ns1:chOff x="0" y="0"/>
            <ns1:chExt cx="5529572" cy="481428"/>
          </ns1:xfrm>
        </ns0:grpSpPr>
        <ns0:sp>
          <ns0:nvSpPr>
            <ns0:cNvPr name="Freeform 16" id="16"/>
            <ns0:cNvSpPr/>
            <ns0:nvPr/>
          </ns0:nvSpPr>
          <ns0:spPr>
            <ns1:xfrm flipH="false" flipV="false" rot="0">
              <ns1:off x="0" y="0"/>
              <ns1:ext cx="5529572" cy="481428"/>
            </ns1:xfrm>
            <ns1:custGeom>
              <ns1:avLst/>
              <ns1:gdLst/>
              <ns1:ahLst/>
              <ns1:cxnLst/>
              <ns1:rect r="r" b="b" t="t" l="l"/>
              <ns1:pathLst>
                <ns1:path h="481428" w="5529572">
                  <ns1:moveTo>
                    <ns1:pt x="0" y="0"/>
                  </ns1:moveTo>
                  <ns1:lnTo>
                    <ns1:pt x="5529572" y="0"/>
                  </ns1:lnTo>
                  <ns1:lnTo>
                    <ns1:pt x="5529572" y="481428"/>
                  </ns1:lnTo>
                  <ns1:lnTo>
                    <ns1:pt x="0" y="481428"/>
                  </ns1:lnTo>
                  <ns1:close/>
                </ns1:path>
              </ns1:pathLst>
            </ns1:custGeom>
            <ns1:blipFill>
              <ns1:blip ns2:embed="rId3">
                <ns1:alphaModFix amt="0"/>
              </ns1:blip>
              <ns1:stretch>
                <ns1:fillRect l="0" t="-194777" r="-10794" b="-201141"/>
              </ns1:stretch>
            </ns1:blipFill>
          </ns0:spPr>
        </ns0:sp>
        <ns0:sp>
          <ns0:nvSpPr>
            <ns0:cNvPr name="TextBox 17" id="17"/>
            <ns0:cNvSpPr txBox="true"/>
            <ns0:nvPr/>
          </ns0:nvSpPr>
          <ns0:spPr>
            <ns1:xfrm>
              <ns1:off x="0" y="-28575"/>
              <ns1:ext cx="5529572" cy="510003"/>
            </ns1:xfrm>
            <ns1:prstGeom prst="rect">
              <ns1:avLst/>
            </ns1:prstGeom>
          </ns0:spPr>
          <ns0:txBody>
            <ns1:bodyPr anchor="ctr" rtlCol="false" tIns="0" lIns="0" bIns="0" rIns="0"/>
            <ns1:lstStyle/>
            <ns1:p>
              <ns1:pPr algn="ctr">
                <ns1:lnSpc>
                  <ns1:spcPts val="1980"/>
                </ns1:lnSpc>
              </ns1:pPr>
              <ns1:r>
                <ns1:rPr lang="en-US" sz="1650" b="true">
                  <ns1:solidFill>
                    <ns1:srgbClr val="0B2545"/>
                  </ns1:solidFill>
                  <ns1:latin typeface="Calibri (MS) Bold"/>
                  <ns1:ea typeface="Calibri (MS) Bold"/>
                  <ns1:cs typeface="Calibri (MS) Bold"/>
                  <ns1:sym typeface="Calibri (MS) Bold"/>
                </ns1:rPr>
                <ns1:t>Citizen Layer</ns1:t>
              </ns1:r>
            </ns1:p>
          </ns0:txBody>
        </ns0:sp>
      </ns0:grpSp>
      <ns0:grpSp>
        <ns0:nvGrpSpPr>
          <ns0:cNvPr name="Group 18" id="18"/>
          <ns0:cNvGrpSpPr/>
          <ns0:nvPr/>
        </ns0:nvGrpSpPr>
        <ns0:grpSpPr>
          <ns1:xfrm rot="0">
            <ns1:off x="6777349" y="3226992"/>
            <ns1:ext cx="4147179" cy="325946"/>
            <ns1:chOff x="0" y="0"/>
            <ns1:chExt cx="5529572" cy="434594"/>
          </ns1:xfrm>
        </ns0:grpSpPr>
        <ns0:sp>
          <ns0:nvSpPr>
            <ns0:cNvPr name="Freeform 19" id="19"/>
            <ns0:cNvSpPr/>
            <ns0:nvPr/>
          </ns0:nvSpPr>
          <ns0:spPr>
            <ns1:xfrm flipH="false" flipV="false" rot="0">
              <ns1:off x="0" y="0"/>
              <ns1:ext cx="5529572" cy="434594"/>
            </ns1:xfrm>
            <ns1:custGeom>
              <ns1:avLst/>
              <ns1:gdLst/>
              <ns1:ahLst/>
              <ns1:cxnLst/>
              <ns1:rect r="r" b="b" t="t" l="l"/>
              <ns1:pathLst>
                <ns1:path h="434594" w="5529572">
                  <ns1:moveTo>
                    <ns1:pt x="0" y="0"/>
                  </ns1:moveTo>
                  <ns1:lnTo>
                    <ns1:pt x="5529572" y="0"/>
                  </ns1:lnTo>
                  <ns1:lnTo>
                    <ns1:pt x="5529572" y="434594"/>
                  </ns1:lnTo>
                  <ns1:lnTo>
                    <ns1:pt x="0" y="434594"/>
                  </ns1:lnTo>
                  <ns1:close/>
                </ns1:path>
              </ns1:pathLst>
            </ns1:custGeom>
            <ns1:blipFill>
              <ns1:blip ns2:embed="rId3">
                <ns1:alphaModFix amt="0"/>
              </ns1:blip>
              <ns1:stretch>
                <ns1:fillRect l="0" t="-224183" r="-10794" b="-225177"/>
              </ns1:stretch>
            </ns1:blipFill>
          </ns0:spPr>
        </ns0:sp>
        <ns0:sp>
          <ns0:nvSpPr>
            <ns0:cNvPr name="TextBox 20" id="20"/>
            <ns0:cNvSpPr txBox="true"/>
            <ns0:nvPr/>
          </ns0:nvSpPr>
          <ns0:spPr>
            <ns1:xfrm>
              <ns1:off x="0" y="-38100"/>
              <ns1:ext cx="5529572" cy="472694"/>
            </ns1:xfrm>
            <ns1:prstGeom prst="rect">
              <ns1:avLst/>
            </ns1:prstGeom>
          </ns0:spPr>
          <ns0:txBody>
            <ns1:bodyPr anchor="ctr" rtlCol="false" tIns="0" lIns="0" bIns="0" rIns="0"/>
            <ns1:lstStyle/>
            <ns1:p>
              <ns1:pPr algn="ctr">
                <ns1:lnSpc>
                  <ns1:spcPts val="2079"/>
                </ns1:lnSpc>
              </ns1:pPr>
              <ns1:r>
                <ns1:rPr lang="en-US" sz="1650">
                  <ns1:solidFill>
                    <ns1:srgbClr val="15263B"/>
                  </ns1:solidFill>
                  <ns1:latin typeface="Calibri (MS)"/>
                  <ns1:ea typeface="Calibri (MS)"/>
                  <ns1:cs typeface="Calibri (MS)"/>
                  <ns1:sym typeface="Calibri (MS)"/>
                </ns1:rPr>
                <ns1:t>Aaple Sarkar 2.0 Web · Mobile Seva · CSC Terminals</ns1:t>
              </ns1:r>
            </ns1:p>
          </ns0:txBody>
        </ns0:sp>
      </ns0:grpSp>
      <ns0:grpSp>
        <ns0:nvGrpSpPr>
          <ns0:cNvPr name="Group 21" id="21"/>
          <ns0:cNvGrpSpPr/>
          <ns0:nvPr/>
        </ns0:nvGrpSpPr>
        <ns0:grpSpPr>
          <ns1:xfrm rot="0">
            <ns1:off x="6579619" y="4033905"/>
            <ns1:ext cx="4542640" cy="798797"/>
            <ns1:chOff x="0" y="0"/>
            <ns1:chExt cx="6056853" cy="1065063"/>
          </ns1:xfrm>
        </ns0:grpSpPr>
        <ns0:sp>
          <ns0:nvSpPr>
            <ns0:cNvPr name="Freeform 22" id="22"/>
            <ns0:cNvSpPr/>
            <ns0:nvPr/>
          </ns0:nvSpPr>
          <ns0:spPr>
            <ns1:xfrm flipH="false" flipV="false" rot="0">
              <ns1:off x="0" y="0"/>
              <ns1:ext cx="6056853" cy="1065063"/>
            </ns1:xfrm>
            <ns1:custGeom>
              <ns1:avLst/>
              <ns1:gdLst/>
              <ns1:ahLst/>
              <ns1:cxnLst/>
              <ns1:rect r="r" b="b" t="t" l="l"/>
              <ns1:pathLst>
                <ns1:path h="1065063" w="6056853">
                  <ns1:moveTo>
                    <ns1:pt x="0" y="141969"/>
                  </ns1:moveTo>
                  <ns1:cubicBezTo>
                    <ns1:pt x="0" y="63522"/>
                    <ns1:pt x="60981" y="0"/>
                    <ns1:pt x="136291" y="0"/>
                  </ns1:cubicBezTo>
                  <ns1:lnTo>
                    <ns1:pt x="5920562" y="0"/>
                  </ns1:lnTo>
                  <ns1:cubicBezTo>
                    <ns1:pt x="5995872" y="0"/>
                    <ns1:pt x="6056853" y="63522"/>
                    <ns1:pt x="6056853" y="141969"/>
                  </ns1:cubicBezTo>
                  <ns1:lnTo>
                    <ns1:pt x="6056853" y="923094"/>
                  </ns1:lnTo>
                  <ns1:cubicBezTo>
                    <ns1:pt x="6056853" y="1001541"/>
                    <ns1:pt x="5995872" y="1065063"/>
                    <ns1:pt x="5920562" y="1065063"/>
                  </ns1:cubicBezTo>
                  <ns1:lnTo>
                    <ns1:pt x="136291" y="1065063"/>
                  </ns1:lnTo>
                  <ns1:cubicBezTo>
                    <ns1:pt x="60981" y="1065063"/>
                    <ns1:pt x="0" y="1001541"/>
                    <ns1:pt x="0" y="923094"/>
                  </ns1:cubicBezTo>
                  <ns1:close/>
                </ns1:path>
              </ns1:pathLst>
            </ns1:custGeom>
            <ns1:solidFill>
              <ns1:srgbClr val="A7EFF1"/>
            </ns1:solidFill>
            <ns1:ln w="26670" cap="sq">
              <ns1:solidFill>
                <ns1:srgbClr val="1C7293"/>
              </ns1:solidFill>
              <ns1:prstDash val="solid"/>
              <ns1:miter/>
            </ns1:ln>
          </ns0:spPr>
        </ns0:sp>
      </ns0:grpSp>
      <ns0:grpSp>
        <ns0:nvGrpSpPr>
          <ns0:cNvPr name="Group 23" id="23"/>
          <ns0:cNvGrpSpPr/>
          <ns0:nvPr/>
        </ns0:nvGrpSpPr>
        <ns0:grpSpPr>
          <ns1:xfrm rot="0">
            <ns1:off x="6777349" y="4123815"/>
            <ns1:ext cx="4147179" cy="361071"/>
            <ns1:chOff x="0" y="0"/>
            <ns1:chExt cx="5529572" cy="481428"/>
          </ns1:xfrm>
        </ns0:grpSpPr>
        <ns0:sp>
          <ns0:nvSpPr>
            <ns0:cNvPr name="Freeform 24" id="24"/>
            <ns0:cNvSpPr/>
            <ns0:nvPr/>
          </ns0:nvSpPr>
          <ns0:spPr>
            <ns1:xfrm flipH="false" flipV="false" rot="0">
              <ns1:off x="0" y="0"/>
              <ns1:ext cx="5529572" cy="481428"/>
            </ns1:xfrm>
            <ns1:custGeom>
              <ns1:avLst/>
              <ns1:gdLst/>
              <ns1:ahLst/>
              <ns1:cxnLst/>
              <ns1:rect r="r" b="b" t="t" l="l"/>
              <ns1:pathLst>
                <ns1:path h="481428" w="5529572">
                  <ns1:moveTo>
                    <ns1:pt x="0" y="0"/>
                  </ns1:moveTo>
                  <ns1:lnTo>
                    <ns1:pt x="5529572" y="0"/>
                  </ns1:lnTo>
                  <ns1:lnTo>
                    <ns1:pt x="5529572" y="481428"/>
                  </ns1:lnTo>
                  <ns1:lnTo>
                    <ns1:pt x="0" y="481428"/>
                  </ns1:lnTo>
                  <ns1:close/>
                </ns1:path>
              </ns1:pathLst>
            </ns1:custGeom>
            <ns1:blipFill>
              <ns1:blip ns2:embed="rId3">
                <ns1:alphaModFix amt="0"/>
              </ns1:blip>
              <ns1:stretch>
                <ns1:fillRect l="0" t="-194777" r="-10794" b="-201141"/>
              </ns1:stretch>
            </ns1:blipFill>
          </ns0:spPr>
        </ns0:sp>
        <ns0:sp>
          <ns0:nvSpPr>
            <ns0:cNvPr name="TextBox 25" id="25"/>
            <ns0:cNvSpPr txBox="true"/>
            <ns0:nvPr/>
          </ns0:nvSpPr>
          <ns0:spPr>
            <ns1:xfrm>
              <ns1:off x="0" y="-28575"/>
              <ns1:ext cx="5529572" cy="510003"/>
            </ns1:xfrm>
            <ns1:prstGeom prst="rect">
              <ns1:avLst/>
            </ns1:prstGeom>
          </ns0:spPr>
          <ns0:txBody>
            <ns1:bodyPr anchor="ctr" rtlCol="false" tIns="0" lIns="0" bIns="0" rIns="0"/>
            <ns1:lstStyle/>
            <ns1:p>
              <ns1:pPr algn="ctr">
                <ns1:lnSpc>
                  <ns1:spcPts val="1980"/>
                </ns1:lnSpc>
              </ns1:pPr>
              <ns1:r>
                <ns1:rPr lang="en-US" sz="1650" b="true">
                  <ns1:solidFill>
                    <ns1:srgbClr val="1C7293"/>
                  </ns1:solidFill>
                  <ns1:latin typeface="Calibri (MS) Bold"/>
                  <ns1:ea typeface="Calibri (MS) Bold"/>
                  <ns1:cs typeface="Calibri (MS) Bold"/>
                  <ns1:sym typeface="Calibri (MS) Bold"/>
                </ns1:rPr>
                <ns1:t>Identity &amp; Trust Layer</ns1:t>
              </ns1:r>
            </ns1:p>
          </ns0:txBody>
        </ns0:sp>
      </ns0:grpSp>
      <ns0:grpSp>
        <ns0:nvGrpSpPr>
          <ns0:cNvPr name="Group 26" id="26"/>
          <ns0:cNvGrpSpPr/>
          <ns0:nvPr/>
        </ns0:nvGrpSpPr>
        <ns0:grpSpPr>
          <ns1:xfrm rot="0">
            <ns1:off x="6777349" y="4442638"/>
            <ns1:ext cx="4147179" cy="325946"/>
            <ns1:chOff x="0" y="0"/>
            <ns1:chExt cx="5529572" cy="434594"/>
          </ns1:xfrm>
        </ns0:grpSpPr>
        <ns0:sp>
          <ns0:nvSpPr>
            <ns0:cNvPr name="Freeform 27" id="27"/>
            <ns0:cNvSpPr/>
            <ns0:nvPr/>
          </ns0:nvSpPr>
          <ns0:spPr>
            <ns1:xfrm flipH="false" flipV="false" rot="0">
              <ns1:off x="0" y="0"/>
              <ns1:ext cx="5529572" cy="434594"/>
            </ns1:xfrm>
            <ns1:custGeom>
              <ns1:avLst/>
              <ns1:gdLst/>
              <ns1:ahLst/>
              <ns1:cxnLst/>
              <ns1:rect r="r" b="b" t="t" l="l"/>
              <ns1:pathLst>
                <ns1:path h="434594" w="5529572">
                  <ns1:moveTo>
                    <ns1:pt x="0" y="0"/>
                  </ns1:moveTo>
                  <ns1:lnTo>
                    <ns1:pt x="5529572" y="0"/>
                  </ns1:lnTo>
                  <ns1:lnTo>
                    <ns1:pt x="5529572" y="434594"/>
                  </ns1:lnTo>
                  <ns1:lnTo>
                    <ns1:pt x="0" y="434594"/>
                  </ns1:lnTo>
                  <ns1:close/>
                </ns1:path>
              </ns1:pathLst>
            </ns1:custGeom>
            <ns1:blipFill>
              <ns1:blip ns2:embed="rId3">
                <ns1:alphaModFix amt="0"/>
              </ns1:blip>
              <ns1:stretch>
                <ns1:fillRect l="0" t="-224183" r="-10794" b="-225177"/>
              </ns1:stretch>
            </ns1:blipFill>
          </ns0:spPr>
        </ns0:sp>
        <ns0:sp>
          <ns0:nvSpPr>
            <ns0:cNvPr name="TextBox 28" id="28"/>
            <ns0:cNvSpPr txBox="true"/>
            <ns0:nvPr/>
          </ns0:nvSpPr>
          <ns0:spPr>
            <ns1:xfrm>
              <ns1:off x="0" y="-38100"/>
              <ns1:ext cx="5529572" cy="472694"/>
            </ns1:xfrm>
            <ns1:prstGeom prst="rect">
              <ns1:avLst/>
            </ns1:prstGeom>
          </ns0:spPr>
          <ns0:txBody>
            <ns1:bodyPr anchor="ctr" rtlCol="false" tIns="0" lIns="0" bIns="0" rIns="0"/>
            <ns1:lstStyle/>
            <ns1:p>
              <ns1:pPr algn="ctr">
                <ns1:lnSpc>
                  <ns1:spcPts val="2079"/>
                </ns1:lnSpc>
              </ns1:pPr>
              <ns1:r>
                <ns1:rPr lang="en-US" sz="1650">
                  <ns1:solidFill>
                    <ns1:srgbClr val="15263B"/>
                  </ns1:solidFill>
                  <ns1:latin typeface="Calibri (MS)"/>
                  <ns1:ea typeface="Calibri (MS)"/>
                  <ns1:cs typeface="Calibri (MS)"/>
                  <ns1:sym typeface="Calibri (MS)"/>
                </ns1:rPr>
                <ns1:t>Meri Pehchaan (NSSO / Jan Parichay) + Aadhaar VID</ns1:t>
              </ns1:r>
            </ns1:p>
          </ns0:txBody>
        </ns0:sp>
      </ns0:grpSp>
      <ns0:grpSp>
        <ns0:nvGrpSpPr>
          <ns0:cNvPr name="Group 29" id="29"/>
          <ns0:cNvGrpSpPr/>
          <ns0:nvPr/>
        </ns0:nvGrpSpPr>
        <ns0:grpSpPr>
          <ns1:xfrm rot="0">
            <ns1:off x="6207267" y="5244689"/>
            <ns1:ext cx="5338924" cy="1121182"/>
            <ns1:chOff x="0" y="0"/>
            <ns1:chExt cx="7118566" cy="1494909"/>
          </ns1:xfrm>
        </ns0:grpSpPr>
        <ns0:sp>
          <ns0:nvSpPr>
            <ns0:cNvPr name="Freeform 30" id="30"/>
            <ns0:cNvSpPr/>
            <ns0:nvPr/>
          </ns0:nvSpPr>
          <ns0:spPr>
            <ns1:xfrm flipH="false" flipV="false" rot="0">
              <ns1:off x="0" y="0"/>
              <ns1:ext cx="7118566" cy="1494909"/>
            </ns1:xfrm>
            <ns1:custGeom>
              <ns1:avLst/>
              <ns1:gdLst/>
              <ns1:ahLst/>
              <ns1:cxnLst/>
              <ns1:rect r="r" b="b" t="t" l="l"/>
              <ns1:pathLst>
                <ns1:path h="1494909" w="7118566">
                  <ns1:moveTo>
                    <ns1:pt x="0" y="140655"/>
                  </ns1:moveTo>
                  <ns1:cubicBezTo>
                    <ns1:pt x="0" y="63044"/>
                    <ns1:pt x="71132" y="0"/>
                    <ns1:pt x="158699" y="0"/>
                  </ns1:cubicBezTo>
                  <ns1:lnTo>
                    <ns1:pt x="6959867" y="0"/>
                  </ns1:lnTo>
                  <ns1:cubicBezTo>
                    <ns1:pt x="7047569" y="0"/>
                    <ns1:pt x="7118566" y="63044"/>
                    <ns1:pt x="7118566" y="140655"/>
                  </ns1:cubicBezTo>
                  <ns1:lnTo>
                    <ns1:pt x="7118566" y="1354254"/>
                  </ns1:lnTo>
                  <ns1:cubicBezTo>
                    <ns1:pt x="7118566" y="1431984"/>
                    <ns1:pt x="7047434" y="1494909"/>
                    <ns1:pt x="6959867" y="1494909"/>
                  </ns1:cubicBezTo>
                  <ns1:lnTo>
                    <ns1:pt x="158699" y="1494909"/>
                  </ns1:lnTo>
                  <ns1:cubicBezTo>
                    <ns1:pt x="71132" y="1494909"/>
                    <ns1:pt x="0" y="1431865"/>
                    <ns1:pt x="0" y="1354254"/>
                  </ns1:cubicBezTo>
                  <ns1:close/>
                </ns1:path>
              </ns1:pathLst>
            </ns1:custGeom>
            <ns1:solidFill>
              <ns1:srgbClr val="FFFFFF"/>
            </ns1:solidFill>
            <ns1:ln w="26670" cap="sq">
              <ns1:solidFill>
                <ns1:srgbClr val="D98E04"/>
              </ns1:solidFill>
              <ns1:prstDash val="solid"/>
              <ns1:miter/>
            </ns1:ln>
          </ns0:spPr>
        </ns0:sp>
      </ns0:grpSp>
      <ns0:grpSp>
        <ns0:nvGrpSpPr>
          <ns0:cNvPr name="Group 31" id="31"/>
          <ns0:cNvGrpSpPr/>
          <ns0:nvPr/>
        </ns0:nvGrpSpPr>
        <ns0:grpSpPr>
          <ns1:xfrm rot="0">
            <ns1:off x="6952443" y="5264879"/>
            <ns1:ext cx="4147179" cy="444336"/>
            <ns1:chOff x="0" y="0"/>
            <ns1:chExt cx="5529572" cy="592448"/>
          </ns1:xfrm>
        </ns0:grpSpPr>
        <ns0:sp>
          <ns0:nvSpPr>
            <ns0:cNvPr name="Freeform 32" id="32"/>
            <ns0:cNvSpPr/>
            <ns0:nvPr/>
          </ns0:nvSpPr>
          <ns0:spPr>
            <ns1:xfrm flipH="false" flipV="false" rot="0">
              <ns1:off x="0" y="0"/>
              <ns1:ext cx="5529572" cy="592448"/>
            </ns1:xfrm>
            <ns1:custGeom>
              <ns1:avLst/>
              <ns1:gdLst/>
              <ns1:ahLst/>
              <ns1:cxnLst/>
              <ns1:rect r="r" b="b" t="t" l="l"/>
              <ns1:pathLst>
                <ns1:path h="592448" w="5529572">
                  <ns1:moveTo>
                    <ns1:pt x="0" y="0"/>
                  </ns1:moveTo>
                  <ns1:lnTo>
                    <ns1:pt x="5529572" y="0"/>
                  </ns1:lnTo>
                  <ns1:lnTo>
                    <ns1:pt x="5529572" y="592448"/>
                  </ns1:lnTo>
                  <ns1:lnTo>
                    <ns1:pt x="0" y="592448"/>
                  </ns1:lnTo>
                  <ns1:close/>
                </ns1:path>
              </ns1:pathLst>
            </ns1:custGeom>
            <ns1:blipFill>
              <ns1:blip ns2:embed="rId3">
                <ns1:alphaModFix amt="0"/>
              </ns1:blip>
              <ns1:stretch>
                <ns1:fillRect l="0" t="-158278" r="-10794" b="-144710"/>
              </ns1:stretch>
            </ns1:blipFill>
          </ns0:spPr>
        </ns0:sp>
        <ns0:sp>
          <ns0:nvSpPr>
            <ns0:cNvPr name="TextBox 33" id="33"/>
            <ns0:cNvSpPr txBox="true"/>
            <ns0:nvPr/>
          </ns0:nvSpPr>
          <ns0:spPr>
            <ns1:xfrm>
              <ns1:off x="0" y="-47625"/>
              <ns1:ext cx="5529572" cy="640073"/>
            </ns1:xfrm>
            <ns1:prstGeom prst="rect">
              <ns1:avLst/>
            </ns1:prstGeom>
          </ns0:spPr>
          <ns0:txBody>
            <ns1:bodyPr anchor="ctr" rtlCol="false" tIns="0" lIns="0" bIns="0" rIns="0"/>
            <ns1:lstStyle/>
            <ns1:p>
              <ns1:pPr algn="ctr">
                <ns1:lnSpc>
                  <ns1:spcPts val="2699"/>
                </ns1:lnSpc>
              </ns1:pPr>
              <ns1:r>
                <ns1:rPr lang="en-US" sz="2249" b="true">
                  <ns1:solidFill>
                    <ns1:srgbClr val="D98E04"/>
                  </ns1:solidFill>
                  <ns1:latin typeface="Calibri (MS) Bold"/>
                  <ns1:ea typeface="Calibri (MS) Bold"/>
                  <ns1:cs typeface="Calibri (MS) Bold"/>
                  <ns1:sym typeface="Calibri (MS) Bold"/>
                </ns1:rPr>
                <ns1:t>Middleware Core (SDC Mahape / Maha-IT Cloud)</ns1:t>
              </ns1:r>
            </ns1:p>
          </ns0:txBody>
        </ns0:sp>
      </ns0:grpSp>
      <ns0:grpSp>
        <ns0:nvGrpSpPr>
          <ns0:cNvPr name="Group 34" id="34"/>
          <ns0:cNvGrpSpPr/>
          <ns0:nvPr/>
        </ns0:nvGrpSpPr>
        <ns0:grpSpPr>
          <ns1:xfrm rot="0">
            <ns1:off x="6952443" y="5620456"/>
            <ns1:ext cx="4192167" cy="667580"/>
            <ns1:chOff x="0" y="0"/>
            <ns1:chExt cx="5589556" cy="890107"/>
          </ns1:xfrm>
        </ns0:grpSpPr>
        <ns0:sp>
          <ns0:nvSpPr>
            <ns0:cNvPr name="Freeform 35" id="35"/>
            <ns0:cNvSpPr/>
            <ns0:nvPr/>
          </ns0:nvSpPr>
          <ns0:spPr>
            <ns1:xfrm flipH="false" flipV="false" rot="0">
              <ns1:off x="0" y="0"/>
              <ns1:ext cx="5589556" cy="890107"/>
            </ns1:xfrm>
            <ns1:custGeom>
              <ns1:avLst/>
              <ns1:gdLst/>
              <ns1:ahLst/>
              <ns1:cxnLst/>
              <ns1:rect r="r" b="b" t="t" l="l"/>
              <ns1:pathLst>
                <ns1:path h="890107" w="5589556">
                  <ns1:moveTo>
                    <ns1:pt x="0" y="0"/>
                  </ns1:moveTo>
                  <ns1:lnTo>
                    <ns1:pt x="5589556" y="0"/>
                  </ns1:lnTo>
                  <ns1:lnTo>
                    <ns1:pt x="5589556" y="890107"/>
                  </ns1:lnTo>
                  <ns1:lnTo>
                    <ns1:pt x="0" y="890107"/>
                  </ns1:lnTo>
                  <ns1:close/>
                </ns1:path>
              </ns1:pathLst>
            </ns1:custGeom>
            <ns1:blipFill>
              <ns1:blip ns2:embed="rId3">
                <ns1:alphaModFix amt="0"/>
              </ns1:blip>
              <ns1:stretch>
                <ns1:fillRect l="0" t="-83775" r="-9605" b="-84450"/>
              </ns1:stretch>
            </ns1:blipFill>
          </ns0:spPr>
        </ns0:sp>
        <ns0:sp>
          <ns0:nvSpPr>
            <ns0:cNvPr name="TextBox 36" id="36"/>
            <ns0:cNvSpPr txBox="true"/>
            <ns0:nvPr/>
          </ns0:nvSpPr>
          <ns0:spPr>
            <ns1:xfrm>
              <ns1:off x="0" y="-57150"/>
              <ns1:ext cx="5589556" cy="947257"/>
            </ns1:xfrm>
            <ns1:prstGeom prst="rect">
              <ns1:avLst/>
            </ns1:prstGeom>
          </ns0:spPr>
          <ns0:txBody>
            <ns1:bodyPr anchor="ctr" rtlCol="false" tIns="0" lIns="0" bIns="0" rIns="0"/>
            <ns1:lstStyle/>
            <ns1:p>
              <ns1:pPr algn="ctr">
                <ns1:lnSpc>
                  <ns1:spcPts val="2330"/>
                </ns1:lnSpc>
              </ns1:pPr>
              <ns1:r>
                <ns1:rPr lang="en-US" sz="1849">
                  <ns1:solidFill>
                    <ns1:srgbClr val="15263B"/>
                  </ns1:solidFill>
                  <ns1:latin typeface="Calibri (MS)"/>
                  <ns1:ea typeface="Calibri (MS)"/>
                  <ns1:cs typeface="Calibri (MS)"/>
                  <ns1:sym typeface="Calibri (MS)"/>
                </ns1:rPr>
                <ns1:t>Zero-Trust Gateway · DEPA Engine · MGAS Normalizer · SHA-256 Ledger</ns1:t>
              </ns1:r>
            </ns1:p>
          </ns0:txBody>
        </ns0:sp>
      </ns0:grpSp>
      <ns0:grpSp>
        <ns0:nvGrpSpPr>
          <ns0:cNvPr name="Group 37" id="37"/>
          <ns0:cNvGrpSpPr/>
          <ns0:nvPr/>
        </ns0:nvGrpSpPr>
        <ns0:grpSpPr>
          <ns1:xfrm rot="0">
            <ns1:off x="5211980" y="7344539"/>
            <ns1:ext cx="3431159" cy="798797"/>
            <ns1:chOff x="0" y="0"/>
            <ns1:chExt cx="4574878" cy="1065063"/>
          </ns1:xfrm>
        </ns0:grpSpPr>
        <ns0:sp>
          <ns0:nvSpPr>
            <ns0:cNvPr name="Freeform 38" id="38"/>
            <ns0:cNvSpPr/>
            <ns0:nvPr/>
          </ns0:nvSpPr>
          <ns0:spPr>
            <ns1:xfrm flipH="false" flipV="false" rot="0">
              <ns1:off x="0" y="0"/>
              <ns1:ext cx="4574879" cy="1065063"/>
            </ns1:xfrm>
            <ns1:custGeom>
              <ns1:avLst/>
              <ns1:gdLst/>
              <ns1:ahLst/>
              <ns1:cxnLst/>
              <ns1:rect r="r" b="b" t="t" l="l"/>
              <ns1:pathLst>
                <ns1:path h="1065063" w="4574879">
                  <ns1:moveTo>
                    <ns1:pt x="0" y="141969"/>
                  </ns1:moveTo>
                  <ns1:cubicBezTo>
                    <ns1:pt x="0" y="63522"/>
                    <ns1:pt x="46060" y="0"/>
                    <ns1:pt x="102943" y="0"/>
                  </ns1:cubicBezTo>
                  <ns1:lnTo>
                    <ns1:pt x="4471935" y="0"/>
                  </ns1:lnTo>
                  <ns1:cubicBezTo>
                    <ns1:pt x="4528818" y="0"/>
                    <ns1:pt x="4574879" y="63522"/>
                    <ns1:pt x="4574879" y="141969"/>
                  </ns1:cubicBezTo>
                  <ns1:lnTo>
                    <ns1:pt x="4574879" y="923094"/>
                  </ns1:lnTo>
                  <ns1:cubicBezTo>
                    <ns1:pt x="4574879" y="1001541"/>
                    <ns1:pt x="4528818" y="1065063"/>
                    <ns1:pt x="4471935" y="1065063"/>
                  </ns1:cubicBezTo>
                  <ns1:lnTo>
                    <ns1:pt x="102943" y="1065063"/>
                  </ns1:lnTo>
                  <ns1:cubicBezTo>
                    <ns1:pt x="46060" y="1065063"/>
                    <ns1:pt x="0" y="1001541"/>
                    <ns1:pt x="0" y="923094"/>
                  </ns1:cubicBezTo>
                  <ns1:close/>
                </ns1:path>
              </ns1:pathLst>
            </ns1:custGeom>
            <ns1:solidFill>
              <ns1:srgbClr val="FFC2E8"/>
            </ns1:solidFill>
            <ns1:ln w="26670" cap="sq">
              <ns1:solidFill>
                <ns1:srgbClr val="1C7293"/>
              </ns1:solidFill>
              <ns1:prstDash val="solid"/>
              <ns1:miter/>
            </ns1:ln>
          </ns0:spPr>
        </ns0:sp>
      </ns0:grpSp>
      <ns0:grpSp>
        <ns0:nvGrpSpPr>
          <ns0:cNvPr name="Group 39" id="39"/>
          <ns0:cNvGrpSpPr/>
          <ns0:nvPr/>
        </ns0:nvGrpSpPr>
        <ns0:grpSpPr>
          <ns1:xfrm rot="0">
            <ns1:off x="4729551" y="7434448"/>
            <ns1:ext cx="4147179" cy="361071"/>
            <ns1:chOff x="0" y="0"/>
            <ns1:chExt cx="5529572" cy="481428"/>
          </ns1:xfrm>
        </ns0:grpSpPr>
        <ns0:sp>
          <ns0:nvSpPr>
            <ns0:cNvPr name="Freeform 40" id="40"/>
            <ns0:cNvSpPr/>
            <ns0:nvPr/>
          </ns0:nvSpPr>
          <ns0:spPr>
            <ns1:xfrm flipH="false" flipV="false" rot="0">
              <ns1:off x="0" y="0"/>
              <ns1:ext cx="5529572" cy="481428"/>
            </ns1:xfrm>
            <ns1:custGeom>
              <ns1:avLst/>
              <ns1:gdLst/>
              <ns1:ahLst/>
              <ns1:cxnLst/>
              <ns1:rect r="r" b="b" t="t" l="l"/>
              <ns1:pathLst>
                <ns1:path h="481428" w="5529572">
                  <ns1:moveTo>
                    <ns1:pt x="0" y="0"/>
                  </ns1:moveTo>
                  <ns1:lnTo>
                    <ns1:pt x="5529572" y="0"/>
                  </ns1:lnTo>
                  <ns1:lnTo>
                    <ns1:pt x="5529572" y="481428"/>
                  </ns1:lnTo>
                  <ns1:lnTo>
                    <ns1:pt x="0" y="481428"/>
                  </ns1:lnTo>
                  <ns1:close/>
                </ns1:path>
              </ns1:pathLst>
            </ns1:custGeom>
            <ns1:blipFill>
              <ns1:blip ns2:embed="rId3">
                <ns1:alphaModFix amt="0"/>
              </ns1:blip>
              <ns1:stretch>
                <ns1:fillRect l="0" t="-194777" r="-10794" b="-201141"/>
              </ns1:stretch>
            </ns1:blipFill>
          </ns0:spPr>
        </ns0:sp>
        <ns0:sp>
          <ns0:nvSpPr>
            <ns0:cNvPr name="TextBox 41" id="41"/>
            <ns0:cNvSpPr txBox="true"/>
            <ns0:nvPr/>
          </ns0:nvSpPr>
          <ns0:spPr>
            <ns1:xfrm>
              <ns1:off x="0" y="-28575"/>
              <ns1:ext cx="5529572" cy="510003"/>
            </ns1:xfrm>
            <ns1:prstGeom prst="rect">
              <ns1:avLst/>
            </ns1:prstGeom>
          </ns0:spPr>
          <ns0:txBody>
            <ns1:bodyPr anchor="ctr" rtlCol="false" tIns="0" lIns="0" bIns="0" rIns="0"/>
            <ns1:lstStyle/>
            <ns1:p>
              <ns1:pPr algn="ctr">
                <ns1:lnSpc>
                  <ns1:spcPts val="1980"/>
                </ns1:lnSpc>
              </ns1:pPr>
              <ns1:r>
                <ns1:rPr lang="en-US" sz="1650" b="true">
                  <ns1:solidFill>
                    <ns1:srgbClr val="1C7293"/>
                  </ns1:solidFill>
                  <ns1:latin typeface="Calibri (MS) Bold"/>
                  <ns1:ea typeface="Calibri (MS) Bold"/>
                  <ns1:cs typeface="Calibri (MS) Bold"/>
                  <ns1:sym typeface="Calibri (MS) Bold"/>
                </ns1:rPr>
                <ns1:t>Department DMZ Adapter Layer (MSWAN)</ns1:t>
              </ns1:r>
            </ns1:p>
          </ns0:txBody>
        </ns0:sp>
      </ns0:grpSp>
      <ns0:grpSp>
        <ns0:nvGrpSpPr>
          <ns0:cNvPr name="Group 42" id="42"/>
          <ns0:cNvGrpSpPr/>
          <ns0:nvPr/>
        </ns0:nvGrpSpPr>
        <ns0:grpSpPr>
          <ns1:xfrm rot="0">
            <ns1:off x="4729551" y="7753272"/>
            <ns1:ext cx="4147179" cy="325946"/>
            <ns1:chOff x="0" y="0"/>
            <ns1:chExt cx="5529572" cy="434594"/>
          </ns1:xfrm>
        </ns0:grpSpPr>
        <ns0:sp>
          <ns0:nvSpPr>
            <ns0:cNvPr name="Freeform 43" id="43"/>
            <ns0:cNvSpPr/>
            <ns0:nvPr/>
          </ns0:nvSpPr>
          <ns0:spPr>
            <ns1:xfrm flipH="false" flipV="false" rot="0">
              <ns1:off x="0" y="0"/>
              <ns1:ext cx="5529572" cy="434594"/>
            </ns1:xfrm>
            <ns1:custGeom>
              <ns1:avLst/>
              <ns1:gdLst/>
              <ns1:ahLst/>
              <ns1:cxnLst/>
              <ns1:rect r="r" b="b" t="t" l="l"/>
              <ns1:pathLst>
                <ns1:path h="434594" w="5529572">
                  <ns1:moveTo>
                    <ns1:pt x="0" y="0"/>
                  </ns1:moveTo>
                  <ns1:lnTo>
                    <ns1:pt x="5529572" y="0"/>
                  </ns1:lnTo>
                  <ns1:lnTo>
                    <ns1:pt x="5529572" y="434594"/>
                  </ns1:lnTo>
                  <ns1:lnTo>
                    <ns1:pt x="0" y="434594"/>
                  </ns1:lnTo>
                  <ns1:close/>
                </ns1:path>
              </ns1:pathLst>
            </ns1:custGeom>
            <ns1:blipFill>
              <ns1:blip ns2:embed="rId3">
                <ns1:alphaModFix amt="0"/>
              </ns1:blip>
              <ns1:stretch>
                <ns1:fillRect l="0" t="-224183" r="-10794" b="-225177"/>
              </ns1:stretch>
            </ns1:blipFill>
          </ns0:spPr>
        </ns0:sp>
        <ns0:sp>
          <ns0:nvSpPr>
            <ns0:cNvPr name="TextBox 44" id="44"/>
            <ns0:cNvSpPr txBox="true"/>
            <ns0:nvPr/>
          </ns0:nvSpPr>
          <ns0:spPr>
            <ns1:xfrm>
              <ns1:off x="0" y="-38100"/>
              <ns1:ext cx="5529572" cy="472694"/>
            </ns1:xfrm>
            <ns1:prstGeom prst="rect">
              <ns1:avLst/>
            </ns1:prstGeom>
          </ns0:spPr>
          <ns0:txBody>
            <ns1:bodyPr anchor="ctr" rtlCol="false" tIns="0" lIns="0" bIns="0" rIns="0"/>
            <ns1:lstStyle/>
            <ns1:p>
              <ns1:pPr algn="ctr">
                <ns1:lnSpc>
                  <ns1:spcPts val="2079"/>
                </ns1:lnSpc>
              </ns1:pPr>
              <ns1:r>
                <ns1:rPr lang="en-US" sz="1650">
                  <ns1:solidFill>
                    <ns1:srgbClr val="15263B"/>
                  </ns1:solidFill>
                  <ns1:latin typeface="Calibri (MS)"/>
                  <ns1:ea typeface="Calibri (MS)"/>
                  <ns1:cs typeface="Calibri (MS)"/>
                  <ns1:sym typeface="Calibri (MS)"/>
                </ns1:rPr>
                <ns1:t>Mahabhumi (7/12) · MoRTH Vahan 4.0 · MahaOnline Issuance Adapters</ns1:t>
              </ns1:r>
            </ns1:p>
          </ns0:txBody>
        </ns0:sp>
      </ns0:grpSp>
      <ns0:grpSp>
        <ns0:nvGrpSpPr>
          <ns0:cNvPr name="Group 45" id="45"/>
          <ns0:cNvGrpSpPr/>
          <ns0:nvPr/>
        </ns0:nvGrpSpPr>
        <ns0:grpSpPr>
          <ns1:xfrm rot="0">
            <ns1:off x="9163436" y="7353873"/>
            <ns1:ext cx="3135702" cy="798797"/>
            <ns1:chOff x="0" y="0"/>
            <ns1:chExt cx="4180936" cy="1065063"/>
          </ns1:xfrm>
        </ns0:grpSpPr>
        <ns0:sp>
          <ns0:nvSpPr>
            <ns0:cNvPr name="Freeform 46" id="46"/>
            <ns0:cNvSpPr/>
            <ns0:nvPr/>
          </ns0:nvSpPr>
          <ns0:spPr>
            <ns1:xfrm flipH="false" flipV="false" rot="0">
              <ns1:off x="0" y="0"/>
              <ns1:ext cx="4180936" cy="1065063"/>
            </ns1:xfrm>
            <ns1:custGeom>
              <ns1:avLst/>
              <ns1:gdLst/>
              <ns1:ahLst/>
              <ns1:cxnLst/>
              <ns1:rect r="r" b="b" t="t" l="l"/>
              <ns1:pathLst>
                <ns1:path h="1065063" w="4180936">
                  <ns1:moveTo>
                    <ns1:pt x="0" y="141969"/>
                  </ns1:moveTo>
                  <ns1:cubicBezTo>
                    <ns1:pt x="0" y="63522"/>
                    <ns1:pt x="42094" y="0"/>
                    <ns1:pt x="94079" y="0"/>
                  </ns1:cubicBezTo>
                  <ns1:lnTo>
                    <ns1:pt x="4086857" y="0"/>
                  </ns1:lnTo>
                  <ns1:cubicBezTo>
                    <ns1:pt x="4138842" y="0"/>
                    <ns1:pt x="4180936" y="63522"/>
                    <ns1:pt x="4180936" y="141969"/>
                  </ns1:cubicBezTo>
                  <ns1:lnTo>
                    <ns1:pt x="4180936" y="923094"/>
                  </ns1:lnTo>
                  <ns1:cubicBezTo>
                    <ns1:pt x="4180936" y="1001541"/>
                    <ns1:pt x="4138842" y="1065063"/>
                    <ns1:pt x="4086857" y="1065063"/>
                  </ns1:cubicBezTo>
                  <ns1:lnTo>
                    <ns1:pt x="94079" y="1065063"/>
                  </ns1:lnTo>
                  <ns1:cubicBezTo>
                    <ns1:pt x="42094" y="1065063"/>
                    <ns1:pt x="0" y="1001541"/>
                    <ns1:pt x="0" y="923094"/>
                  </ns1:cubicBezTo>
                  <ns1:close/>
                </ns1:path>
              </ns1:pathLst>
            </ns1:custGeom>
            <ns1:solidFill>
              <ns1:srgbClr val="FFF3C2"/>
            </ns1:solidFill>
            <ns1:ln w="26670" cap="sq">
              <ns1:solidFill>
                <ns1:srgbClr val="5B6B82"/>
              </ns1:solidFill>
              <ns1:prstDash val="solid"/>
              <ns1:miter/>
            </ns1:ln>
          </ns0:spPr>
        </ns0:sp>
      </ns0:grpSp>
      <ns0:grpSp>
        <ns0:nvGrpSpPr>
          <ns0:cNvPr name="Group 47" id="47"/>
          <ns0:cNvGrpSpPr/>
          <ns0:nvPr/>
        </ns0:nvGrpSpPr>
        <ns0:grpSpPr>
          <ns1:xfrm rot="0">
            <ns1:off x="8780913" y="7443782"/>
            <ns1:ext cx="4147179" cy="361071"/>
            <ns1:chOff x="0" y="0"/>
            <ns1:chExt cx="5529572" cy="481428"/>
          </ns1:xfrm>
        </ns0:grpSpPr>
        <ns0:sp>
          <ns0:nvSpPr>
            <ns0:cNvPr name="Freeform 48" id="48"/>
            <ns0:cNvSpPr/>
            <ns0:nvPr/>
          </ns0:nvSpPr>
          <ns0:spPr>
            <ns1:xfrm flipH="false" flipV="false" rot="0">
              <ns1:off x="0" y="0"/>
              <ns1:ext cx="5529572" cy="481428"/>
            </ns1:xfrm>
            <ns1:custGeom>
              <ns1:avLst/>
              <ns1:gdLst/>
              <ns1:ahLst/>
              <ns1:cxnLst/>
              <ns1:rect r="r" b="b" t="t" l="l"/>
              <ns1:pathLst>
                <ns1:path h="481428" w="5529572">
                  <ns1:moveTo>
                    <ns1:pt x="0" y="0"/>
                  </ns1:moveTo>
                  <ns1:lnTo>
                    <ns1:pt x="5529572" y="0"/>
                  </ns1:lnTo>
                  <ns1:lnTo>
                    <ns1:pt x="5529572" y="481428"/>
                  </ns1:lnTo>
                  <ns1:lnTo>
                    <ns1:pt x="0" y="481428"/>
                  </ns1:lnTo>
                  <ns1:close/>
                </ns1:path>
              </ns1:pathLst>
            </ns1:custGeom>
            <ns1:blipFill>
              <ns1:blip ns2:embed="rId3">
                <ns1:alphaModFix amt="0"/>
              </ns1:blip>
              <ns1:stretch>
                <ns1:fillRect l="0" t="-194777" r="-10794" b="-201141"/>
              </ns1:stretch>
            </ns1:blipFill>
          </ns0:spPr>
        </ns0:sp>
        <ns0:sp>
          <ns0:nvSpPr>
            <ns0:cNvPr name="TextBox 49" id="49"/>
            <ns0:cNvSpPr txBox="true"/>
            <ns0:nvPr/>
          </ns0:nvSpPr>
          <ns0:spPr>
            <ns1:xfrm>
              <ns1:off x="0" y="-28575"/>
              <ns1:ext cx="5529572" cy="510003"/>
            </ns1:xfrm>
            <ns1:prstGeom prst="rect">
              <ns1:avLst/>
            </ns1:prstGeom>
          </ns0:spPr>
          <ns0:txBody>
            <ns1:bodyPr anchor="ctr" rtlCol="false" tIns="0" lIns="0" bIns="0" rIns="0"/>
            <ns1:lstStyle/>
            <ns1:p>
              <ns1:pPr algn="ctr">
                <ns1:lnSpc>
                  <ns1:spcPts val="1980"/>
                </ns1:lnSpc>
              </ns1:pPr>
              <ns1:r>
                <ns1:rPr lang="en-US" sz="1650" b="true">
                  <ns1:solidFill>
                    <ns1:srgbClr val="5B6B82"/>
                  </ns1:solidFill>
                  <ns1:latin typeface="Calibri (MS) Bold"/>
                  <ns1:ea typeface="Calibri (MS) Bold"/>
                  <ns1:cs typeface="Calibri (MS) Bold"/>
                  <ns1:sym typeface="Calibri (MS) Bold"/>
                </ns1:rPr>
                <ns1:t>Authoritative State Repositories</ns1:t>
              </ns1:r>
            </ns1:p>
          </ns0:txBody>
        </ns0:sp>
      </ns0:grpSp>
      <ns0:grpSp>
        <ns0:nvGrpSpPr>
          <ns0:cNvPr name="Group 50" id="50"/>
          <ns0:cNvGrpSpPr/>
          <ns0:nvPr/>
        </ns0:nvGrpSpPr>
        <ns0:grpSpPr>
          <ns1:xfrm rot="0">
            <ns1:off x="8780913" y="7762606"/>
            <ns1:ext cx="4147179" cy="325946"/>
            <ns1:chOff x="0" y="0"/>
            <ns1:chExt cx="5529572" cy="434594"/>
          </ns1:xfrm>
        </ns0:grpSpPr>
        <ns0:sp>
          <ns0:nvSpPr>
            <ns0:cNvPr name="Freeform 51" id="51"/>
            <ns0:cNvSpPr/>
            <ns0:nvPr/>
          </ns0:nvSpPr>
          <ns0:spPr>
            <ns1:xfrm flipH="false" flipV="false" rot="0">
              <ns1:off x="0" y="0"/>
              <ns1:ext cx="5529572" cy="434594"/>
            </ns1:xfrm>
            <ns1:custGeom>
              <ns1:avLst/>
              <ns1:gdLst/>
              <ns1:ahLst/>
              <ns1:cxnLst/>
              <ns1:rect r="r" b="b" t="t" l="l"/>
              <ns1:pathLst>
                <ns1:path h="434594" w="5529572">
                  <ns1:moveTo>
                    <ns1:pt x="0" y="0"/>
                  </ns1:moveTo>
                  <ns1:lnTo>
                    <ns1:pt x="5529572" y="0"/>
                  </ns1:lnTo>
                  <ns1:lnTo>
                    <ns1:pt x="5529572" y="434594"/>
                  </ns1:lnTo>
                  <ns1:lnTo>
                    <ns1:pt x="0" y="434594"/>
                  </ns1:lnTo>
                  <ns1:close/>
                </ns1:path>
              </ns1:pathLst>
            </ns1:custGeom>
            <ns1:blipFill>
              <ns1:blip ns2:embed="rId3">
                <ns1:alphaModFix amt="0"/>
              </ns1:blip>
              <ns1:stretch>
                <ns1:fillRect l="0" t="-224183" r="-10794" b="-225177"/>
              </ns1:stretch>
            </ns1:blipFill>
          </ns0:spPr>
        </ns0:sp>
        <ns0:sp>
          <ns0:nvSpPr>
            <ns0:cNvPr name="TextBox 52" id="52"/>
            <ns0:cNvSpPr txBox="true"/>
            <ns0:nvPr/>
          </ns0:nvSpPr>
          <ns0:spPr>
            <ns1:xfrm>
              <ns1:off x="0" y="-38100"/>
              <ns1:ext cx="5529572" cy="472694"/>
            </ns1:xfrm>
            <ns1:prstGeom prst="rect">
              <ns1:avLst/>
            </ns1:prstGeom>
          </ns0:spPr>
          <ns0:txBody>
            <ns1:bodyPr anchor="ctr" rtlCol="false" tIns="0" lIns="0" bIns="0" rIns="0"/>
            <ns1:lstStyle/>
            <ns1:p>
              <ns1:pPr algn="ctr">
                <ns1:lnSpc>
                  <ns1:spcPts val="2079"/>
                </ns1:lnSpc>
              </ns1:pPr>
              <ns1:r>
                <ns1:rPr lang="en-US" sz="1650">
                  <ns1:solidFill>
                    <ns1:srgbClr val="15263B"/>
                  </ns1:solidFill>
                  <ns1:latin typeface="Calibri (MS)"/>
                  <ns1:ea typeface="Calibri (MS)"/>
                  <ns1:cs typeface="Calibri (MS)"/>
                  <ns1:sym typeface="Calibri (MS)"/>
                </ns1:rPr>
                <ns1:t>Mahabhumi SDC (Postgres) · Vahan NICNET · Aaple Sarkar (Maha-IT)</ns1:t>
              </ns1:r>
            </ns1:p>
          </ns0:txBody>
        </ns0:sp>
      </ns0:grpSp>
      <ns0:grpSp>
        <ns0:nvGrpSpPr>
          <ns0:cNvPr name="Group 53" id="53"/>
          <ns0:cNvGrpSpPr/>
          <ns0:nvPr/>
        </ns0:nvGrpSpPr>
        <ns0:grpSpPr>
          <ns1:xfrm rot="0">
            <ns1:off x="12690729" y="1487234"/>
            <ns1:ext cx="5143500" cy="419086"/>
            <ns1:chOff x="0" y="0"/>
            <ns1:chExt cx="6858000" cy="558781"/>
          </ns1:xfrm>
        </ns0:grpSpPr>
        <ns0:sp>
          <ns0:nvSpPr>
            <ns0:cNvPr name="Freeform 54" id="54"/>
            <ns0:cNvSpPr/>
            <ns0:nvPr/>
          </ns0:nvSpPr>
          <ns0:spPr>
            <ns1:xfrm flipH="false" flipV="false" rot="0">
              <ns1:off x="0" y="0"/>
              <ns1:ext cx="6858000" cy="558781"/>
            </ns1:xfrm>
            <ns1:custGeom>
              <ns1:avLst/>
              <ns1:gdLst/>
              <ns1:ahLst/>
              <ns1:cxnLst/>
              <ns1:rect r="r" b="b" t="t" l="l"/>
              <ns1:pathLst>
                <ns1:path h="558781" w="6858000">
                  <ns1:moveTo>
                    <ns1:pt x="0" y="0"/>
                  </ns1:moveTo>
                  <ns1:lnTo>
                    <ns1:pt x="6858000" y="0"/>
                  </ns1:lnTo>
                  <ns1:lnTo>
                    <ns1:pt x="6858000" y="558781"/>
                  </ns1:lnTo>
                  <ns1:lnTo>
                    <ns1:pt x="0" y="558781"/>
                  </ns1:lnTo>
                  <ns1:close/>
                </ns1:path>
              </ns1:pathLst>
            </ns1:custGeom>
            <ns1:blipFill>
              <ns1:blip ns2:embed="rId3">
                <ns1:alphaModFix amt="0"/>
              </ns1:blip>
              <ns1:stretch>
                <ns1:fillRect l="0" t="-190050" r="0" b="-188235"/>
              </ns1:stretch>
            </ns1:blipFill>
          </ns0:spPr>
        </ns0:sp>
        <ns0:sp>
          <ns0:nvSpPr>
            <ns0:cNvPr name="TextBox 55" id="55"/>
            <ns0:cNvSpPr txBox="true"/>
            <ns0:nvPr/>
          </ns0:nvSpPr>
          <ns0:spPr>
            <ns1:xfrm>
              <ns1:off x="0" y="-47625"/>
              <ns1:ext cx="6858000" cy="606406"/>
            </ns1:xfrm>
            <ns1:prstGeom prst="rect">
              <ns1:avLst/>
            </ns1:prstGeom>
          </ns0:spPr>
          <ns0:txBody>
            <ns1:bodyPr anchor="ctr" rtlCol="false" tIns="0" lIns="0" bIns="0" rIns="0"/>
            <ns1:lstStyle/>
            <ns1:p>
              <ns1:pPr algn="ctr">
                <ns1:lnSpc>
                  <ns1:spcPts val="2549"/>
                </ns1:lnSpc>
              </ns1:pPr>
              <ns1:r>
                <ns1:rPr lang="en-US" sz="2124" b="true">
                  <ns1:solidFill>
                    <ns1:srgbClr val="5B6B82"/>
                  </ns1:solidFill>
                  <ns1:latin typeface="Calibri (MS) Bold"/>
                  <ns1:ea typeface="Calibri (MS) Bold"/>
                  <ns1:cs typeface="Calibri (MS) Bold"/>
                  <ns1:sym typeface="Calibri (MS) Bold"/>
                </ns1:rPr>
                <ns1:t>ENTERPRISE PRODUCTION STACK</ns1:t>
              </ns1:r>
            </ns1:p>
          </ns0:txBody>
        </ns0:sp>
      </ns0:grpSp>
      <ns0:grpSp>
        <ns0:nvGrpSpPr>
          <ns0:cNvPr name="Group 56" id="56"/>
          <ns0:cNvGrpSpPr/>
          <ns0:nvPr/>
        </ns0:nvGrpSpPr>
        <ns0:grpSpPr>
          <ns1:xfrm rot="0">
            <ns1:off x="12671679" y="2047875"/>
            <ns1:ext cx="5162550" cy="1051772"/>
            <ns1:chOff x="0" y="0"/>
            <ns1:chExt cx="6883400" cy="1402362"/>
          </ns1:xfrm>
        </ns0:grpSpPr>
        <ns0:sp>
          <ns0:nvSpPr>
            <ns0:cNvPr name="Freeform 57" id="57"/>
            <ns0:cNvSpPr/>
            <ns0:nvPr/>
          </ns0:nvSpPr>
          <ns0:spPr>
            <ns1:xfrm flipH="false" flipV="false" rot="0">
              <ns1:off x="0" y="0"/>
              <ns1:ext cx="6883400" cy="1402362"/>
            </ns1:xfrm>
            <ns1:custGeom>
              <ns1:avLst/>
              <ns1:gdLst/>
              <ns1:ahLst/>
              <ns1:cxnLst/>
              <ns1:rect r="r" b="b" t="t" l="l"/>
              <ns1:pathLst>
                <ns1:path h="1402362" w="6883400">
                  <ns1:moveTo>
                    <ns1:pt x="0" y="143769"/>
                  </ns1:moveTo>
                  <ns1:cubicBezTo>
                    <ns1:pt x="0" y="64402"/>
                    <ns1:pt x="66675" y="0"/>
                    <ns1:pt x="148844" y="0"/>
                  </ns1:cubicBezTo>
                  <ns1:lnTo>
                    <ns1:pt x="6734556" y="0"/>
                  </ns1:lnTo>
                  <ns1:cubicBezTo>
                    <ns1:pt x="6816725" y="0"/>
                    <ns1:pt x="6883400" y="64402"/>
                    <ns1:pt x="6883400" y="143769"/>
                  </ns1:cubicBezTo>
                  <ns1:lnTo>
                    <ns1:pt x="6883400" y="1258593"/>
                  </ns1:lnTo>
                  <ns1:cubicBezTo>
                    <ns1:pt x="6883400" y="1338083"/>
                    <ns1:pt x="6816725" y="1402362"/>
                    <ns1:pt x="6734556" y="1402362"/>
                  </ns1:cubicBezTo>
                  <ns1:lnTo>
                    <ns1:pt x="148844" y="1402362"/>
                  </ns1:lnTo>
                  <ns1:cubicBezTo>
                    <ns1:pt x="66675" y="1402362"/>
                    <ns1:pt x="0" y="1337960"/>
                    <ns1:pt x="0" y="1258593"/>
                  </ns1:cubicBezTo>
                  <ns1:close/>
                </ns1:path>
              </ns1:pathLst>
            </ns1:custGeom>
            <ns1:gradFill rotWithShape="true">
              <ns1:gsLst>
                <ns1:gs pos="0">
                  <ns1:srgbClr val="224AA8">
                    <ns1:alpha val="100000"/>
                  </ns1:srgbClr>
                </ns1:gs>
                <ns1:gs pos="100000">
                  <ns1:srgbClr val="B56FDC">
                    <ns1:alpha val="100000"/>
                  </ns1:srgbClr>
                </ns1:gs>
              </ns1:gsLst>
              <ns1:lin ang="0"/>
            </ns1:gradFill>
            <ns1:ln w="19050" cap="sq">
              <ns1:solidFill>
                <ns1:srgbClr val="D8DEE8"/>
              </ns1:solidFill>
              <ns1:prstDash val="solid"/>
              <ns1:miter/>
            </ns1:ln>
          </ns0:spPr>
        </ns0:sp>
      </ns0:grpSp>
      <ns0:grpSp>
        <ns0:nvGrpSpPr>
          <ns0:cNvPr name="Group 58" id="58"/>
          <ns0:cNvGrpSpPr/>
          <ns0:nvPr/>
        </ns0:nvGrpSpPr>
        <ns0:grpSpPr>
          <ns1:xfrm rot="0">
            <ns1:off x="12928092" y="2150491"/>
            <ns1:ext cx="4649724" cy="368699"/>
            <ns1:chOff x="0" y="0"/>
            <ns1:chExt cx="6199632" cy="491599"/>
          </ns1:xfrm>
        </ns0:grpSpPr>
        <ns0:sp>
          <ns0:nvSpPr>
            <ns0:cNvPr name="Freeform 59" id="59"/>
            <ns0:cNvSpPr/>
            <ns0:nvPr/>
          </ns0:nvSpPr>
          <ns0:spPr>
            <ns1:xfrm flipH="false" flipV="false" rot="0">
              <ns1:off x="0" y="0"/>
              <ns1:ext cx="6199632" cy="491599"/>
            </ns1:xfrm>
            <ns1:custGeom>
              <ns1:avLst/>
              <ns1:gdLst/>
              <ns1:ahLst/>
              <ns1:cxnLst/>
              <ns1:rect r="r" b="b" t="t" l="l"/>
              <ns1:pathLst>
                <ns1:path h="491599" w="6199632">
                  <ns1:moveTo>
                    <ns1:pt x="0" y="0"/>
                  </ns1:moveTo>
                  <ns1:lnTo>
                    <ns1:pt x="6199632" y="0"/>
                  </ns1:lnTo>
                  <ns1:lnTo>
                    <ns1:pt x="6199632" y="491599"/>
                  </ns1:lnTo>
                  <ns1:lnTo>
                    <ns1:pt x="0" y="491599"/>
                  </ns1:lnTo>
                  <ns1:close/>
                </ns1:path>
              </ns1:pathLst>
            </ns1:custGeom>
            <ns1:blipFill>
              <ns1:blip ns2:embed="rId3">
                <ns1:alphaModFix amt="0"/>
              </ns1:blip>
              <ns1:stretch>
                <ns1:fillRect l="0" t="-201087" r="0" b="-190370"/>
              </ns1:stretch>
            </ns1:blipFill>
          </ns0:spPr>
        </ns0:sp>
        <ns0:sp>
          <ns0:nvSpPr>
            <ns0:cNvPr name="TextBox 60" id="60"/>
            <ns0:cNvSpPr txBox="true"/>
            <ns0:nvPr/>
          </ns0:nvSpPr>
          <ns0:spPr>
            <ns1:xfrm>
              <ns1:off x="0" y="-38100"/>
              <ns1:ext cx="6199632" cy="529699"/>
            </ns1:xfrm>
            <ns1:prstGeom prst="rect">
              <ns1:avLst/>
            </ns1:prstGeom>
          </ns0:spPr>
          <ns0:txBody>
            <ns1:bodyPr anchor="ctr" rtlCol="false" tIns="0" lIns="0" bIns="0" rIns="0"/>
            <ns1:lstStyle/>
            <ns1:p>
              <ns1:pPr algn="l">
                <ns1:lnSpc>
                  <ns1:spcPts val="2249"/>
                </ns1:lnSpc>
              </ns1:pPr>
              <ns1:r>
                <ns1:rPr lang="en-US" sz="1874" b="true">
                  <ns1:solidFill>
                    <ns1:srgbClr val="D98E04"/>
                  </ns1:solidFill>
                  <ns1:latin typeface="Calibri (MS) Bold"/>
                  <ns1:ea typeface="Calibri (MS) Bold"/>
                  <ns1:cs typeface="Calibri (MS) Bold"/>
                  <ns1:sym typeface="Calibri (MS) Bold"/>
                </ns1:rPr>
                <ns1:t>Frontend</ns1:t>
              </ns1:r>
            </ns1:p>
          </ns0:txBody>
        </ns0:sp>
      </ns0:grpSp>
      <ns0:grpSp>
        <ns0:nvGrpSpPr>
          <ns0:cNvPr name="Group 61" id="61"/>
          <ns0:cNvGrpSpPr/>
          <ns0:nvPr/>
        </ns0:nvGrpSpPr>
        <ns0:grpSpPr>
          <ns1:xfrm rot="0">
            <ns1:off x="12928092" y="2481022"/>
            <ns1:ext cx="4649724" cy="529934"/>
            <ns1:chOff x="0" y="0"/>
            <ns1:chExt cx="6199632" cy="706579"/>
          </ns1:xfrm>
        </ns0:grpSpPr>
        <ns0:sp>
          <ns0:nvSpPr>
            <ns0:cNvPr name="Freeform 62" id="62"/>
            <ns0:cNvSpPr/>
            <ns0:nvPr/>
          </ns0:nvSpPr>
          <ns0:spPr>
            <ns1:xfrm flipH="false" flipV="false" rot="0">
              <ns1:off x="0" y="0"/>
              <ns1:ext cx="6199632" cy="706579"/>
            </ns1:xfrm>
            <ns1:custGeom>
              <ns1:avLst/>
              <ns1:gdLst/>
              <ns1:ahLst/>
              <ns1:cxnLst/>
              <ns1:rect r="r" b="b" t="t" l="l"/>
              <ns1:pathLst>
                <ns1:path h="706579" w="6199632">
                  <ns1:moveTo>
                    <ns1:pt x="0" y="0"/>
                  </ns1:moveTo>
                  <ns1:lnTo>
                    <ns1:pt x="6199632" y="0"/>
                  </ns1:lnTo>
                  <ns1:lnTo>
                    <ns1:pt x="6199632" y="706579"/>
                  </ns1:lnTo>
                  <ns1:lnTo>
                    <ns1:pt x="0" y="706579"/>
                  </ns1:lnTo>
                  <ns1:close/>
                </ns1:path>
              </ns1:pathLst>
            </ns1:custGeom>
            <ns1:blipFill>
              <ns1:blip ns2:embed="rId3">
                <ns1:alphaModFix amt="0"/>
              </ns1:blip>
              <ns1:stretch>
                <ns1:fillRect l="0" t="-119199" r="0" b="-122729"/>
              </ns1:stretch>
            </ns1:blipFill>
          </ns0:spPr>
        </ns0:sp>
        <ns0:sp>
          <ns0:nvSpPr>
            <ns0:cNvPr name="TextBox 63" id="63"/>
            <ns0:cNvSpPr txBox="true"/>
            <ns0:nvPr/>
          </ns0:nvSpPr>
          <ns0:spPr>
            <ns1:xfrm>
              <ns1:off x="0" y="-47625"/>
              <ns1:ext cx="6199632" cy="754204"/>
            </ns1:xfrm>
            <ns1:prstGeom prst="rect">
              <ns1:avLst/>
            </ns1:prstGeom>
          </ns0:spPr>
          <ns0:txBody>
            <ns1:bodyPr anchor="ctr" rtlCol="false" tIns="0" lIns="0" bIns="0" rIns="0"/>
            <ns1:lstStyle/>
            <ns1:p>
              <ns1:pPr algn="l">
                <ns1:lnSpc>
                  <ns1:spcPts val="2111"/>
                </ns1:lnSpc>
              </ns1:pPr>
              <ns1:r>
                <ns1:rPr lang="en-US" sz="1724">
                  <ns1:solidFill>
                    <ns1:srgbClr val="FFFFFF"/>
                  </ns1:solidFill>
                  <ns1:latin typeface="Calibri (MS)"/>
                  <ns1:ea typeface="Calibri (MS)"/>
                  <ns1:cs typeface="Calibri (MS)"/>
                  <ns1:sym typeface="Calibri (MS)"/>
                </ns1:rPr>
                <ns1:t>React 18 / Vite — Trilingual Portal (EN/MR/HI) with Sub-180KB Bundle</ns1:t>
              </ns1:r>
            </ns1:p>
          </ns0:txBody>
        </ns0:sp>
      </ns0:grpSp>
      <ns0:grpSp>
        <ns0:nvGrpSpPr>
          <ns0:cNvPr name="Group 64" id="64"/>
          <ns0:cNvGrpSpPr/>
          <ns0:nvPr/>
        </ns0:nvGrpSpPr>
        <ns0:grpSpPr>
          <ns1:xfrm rot="0">
            <ns1:off x="12671679" y="3213730"/>
            <ns1:ext cx="5162550" cy="1051772"/>
            <ns1:chOff x="0" y="0"/>
            <ns1:chExt cx="6883400" cy="1402362"/>
          </ns1:xfrm>
        </ns0:grpSpPr>
        <ns0:sp>
          <ns0:nvSpPr>
            <ns0:cNvPr name="Freeform 65" id="65"/>
            <ns0:cNvSpPr/>
            <ns0:nvPr/>
          </ns0:nvSpPr>
          <ns0:spPr>
            <ns1:xfrm flipH="false" flipV="false" rot="0">
              <ns1:off x="0" y="0"/>
              <ns1:ext cx="6883400" cy="1402362"/>
            </ns1:xfrm>
            <ns1:custGeom>
              <ns1:avLst/>
              <ns1:gdLst/>
              <ns1:ahLst/>
              <ns1:cxnLst/>
              <ns1:rect r="r" b="b" t="t" l="l"/>
              <ns1:pathLst>
                <ns1:path h="1402362" w="6883400">
                  <ns1:moveTo>
                    <ns1:pt x="0" y="143769"/>
                  </ns1:moveTo>
                  <ns1:cubicBezTo>
                    <ns1:pt x="0" y="64402"/>
                    <ns1:pt x="66675" y="0"/>
                    <ns1:pt x="148844" y="0"/>
                  </ns1:cubicBezTo>
                  <ns1:lnTo>
                    <ns1:pt x="6734556" y="0"/>
                  </ns1:lnTo>
                  <ns1:cubicBezTo>
                    <ns1:pt x="6816725" y="0"/>
                    <ns1:pt x="6883400" y="64402"/>
                    <ns1:pt x="6883400" y="143769"/>
                  </ns1:cubicBezTo>
                  <ns1:lnTo>
                    <ns1:pt x="6883400" y="1258593"/>
                  </ns1:lnTo>
                  <ns1:cubicBezTo>
                    <ns1:pt x="6883400" y="1338083"/>
                    <ns1:pt x="6816725" y="1402362"/>
                    <ns1:pt x="6734556" y="1402362"/>
                  </ns1:cubicBezTo>
                  <ns1:lnTo>
                    <ns1:pt x="148844" y="1402362"/>
                  </ns1:lnTo>
                  <ns1:cubicBezTo>
                    <ns1:pt x="66675" y="1402362"/>
                    <ns1:pt x="0" y="1337960"/>
                    <ns1:pt x="0" y="1258593"/>
                  </ns1:cubicBezTo>
                  <ns1:close/>
                </ns1:path>
              </ns1:pathLst>
            </ns1:custGeom>
            <ns1:gradFill rotWithShape="true">
              <ns1:gsLst>
                <ns1:gs pos="0">
                  <ns1:srgbClr val="224AA8">
                    <ns1:alpha val="100000"/>
                  </ns1:srgbClr>
                </ns1:gs>
                <ns1:gs pos="100000">
                  <ns1:srgbClr val="B56FDC">
                    <ns1:alpha val="100000"/>
                  </ns1:srgbClr>
                </ns1:gs>
              </ns1:gsLst>
              <ns1:lin ang="0"/>
            </ns1:gradFill>
            <ns1:ln w="19050" cap="sq">
              <ns1:solidFill>
                <ns1:srgbClr val="D8DEE8"/>
              </ns1:solidFill>
              <ns1:prstDash val="solid"/>
              <ns1:miter/>
            </ns1:ln>
          </ns0:spPr>
        </ns0:sp>
      </ns0:grpSp>
      <ns0:grpSp>
        <ns0:nvGrpSpPr>
          <ns0:cNvPr name="Group 66" id="66"/>
          <ns0:cNvGrpSpPr/>
          <ns0:nvPr/>
        </ns0:nvGrpSpPr>
        <ns0:grpSpPr>
          <ns1:xfrm rot="0">
            <ns1:off x="12928092" y="3316346"/>
            <ns1:ext cx="4649724" cy="368699"/>
            <ns1:chOff x="0" y="0"/>
            <ns1:chExt cx="6199632" cy="491599"/>
          </ns1:xfrm>
        </ns0:grpSpPr>
        <ns0:sp>
          <ns0:nvSpPr>
            <ns0:cNvPr name="Freeform 67" id="67"/>
            <ns0:cNvSpPr/>
            <ns0:nvPr/>
          </ns0:nvSpPr>
          <ns0:spPr>
            <ns1:xfrm flipH="false" flipV="false" rot="0">
              <ns1:off x="0" y="0"/>
              <ns1:ext cx="6199632" cy="491599"/>
            </ns1:xfrm>
            <ns1:custGeom>
              <ns1:avLst/>
              <ns1:gdLst/>
              <ns1:ahLst/>
              <ns1:cxnLst/>
              <ns1:rect r="r" b="b" t="t" l="l"/>
              <ns1:pathLst>
                <ns1:path h="491599" w="6199632">
                  <ns1:moveTo>
                    <ns1:pt x="0" y="0"/>
                  </ns1:moveTo>
                  <ns1:lnTo>
                    <ns1:pt x="6199632" y="0"/>
                  </ns1:lnTo>
                  <ns1:lnTo>
                    <ns1:pt x="6199632" y="491599"/>
                  </ns1:lnTo>
                  <ns1:lnTo>
                    <ns1:pt x="0" y="491599"/>
                  </ns1:lnTo>
                  <ns1:close/>
                </ns1:path>
              </ns1:pathLst>
            </ns1:custGeom>
            <ns1:blipFill>
              <ns1:blip ns2:embed="rId3">
                <ns1:alphaModFix amt="0"/>
              </ns1:blip>
              <ns1:stretch>
                <ns1:fillRect l="0" t="-201087" r="0" b="-190370"/>
              </ns1:stretch>
            </ns1:blipFill>
          </ns0:spPr>
        </ns0:sp>
        <ns0:sp>
          <ns0:nvSpPr>
            <ns0:cNvPr name="TextBox 68" id="68"/>
            <ns0:cNvSpPr txBox="true"/>
            <ns0:nvPr/>
          </ns0:nvSpPr>
          <ns0:spPr>
            <ns1:xfrm>
              <ns1:off x="0" y="-38100"/>
              <ns1:ext cx="6199632" cy="529699"/>
            </ns1:xfrm>
            <ns1:prstGeom prst="rect">
              <ns1:avLst/>
            </ns1:prstGeom>
          </ns0:spPr>
          <ns0:txBody>
            <ns1:bodyPr anchor="ctr" rtlCol="false" tIns="0" lIns="0" bIns="0" rIns="0"/>
            <ns1:lstStyle/>
            <ns1:p>
              <ns1:pPr algn="l">
                <ns1:lnSpc>
                  <ns1:spcPts val="2249"/>
                </ns1:lnSpc>
              </ns1:pPr>
              <ns1:r>
                <ns1:rPr lang="en-US" sz="1874" b="true">
                  <ns1:solidFill>
                    <ns1:srgbClr val="D98E04"/>
                  </ns1:solidFill>
                  <ns1:latin typeface="Calibri (MS) Bold"/>
                  <ns1:ea typeface="Calibri (MS) Bold"/>
                  <ns1:cs typeface="Calibri (MS) Bold"/>
                  <ns1:sym typeface="Calibri (MS) Bold"/>
                </ns1:rPr>
                <ns1:t>Backend</ns1:t>
              </ns1:r>
            </ns1:p>
          </ns0:txBody>
        </ns0:sp>
      </ns0:grpSp>
      <ns0:grpSp>
        <ns0:nvGrpSpPr>
          <ns0:cNvPr name="Group 69" id="69"/>
          <ns0:cNvGrpSpPr/>
          <ns0:nvPr/>
        </ns0:nvGrpSpPr>
        <ns0:grpSpPr>
          <ns1:xfrm rot="0">
            <ns1:off x="12928092" y="3646877"/>
            <ns1:ext cx="4649724" cy="529934"/>
            <ns1:chOff x="0" y="0"/>
            <ns1:chExt cx="6199632" cy="706579"/>
          </ns1:xfrm>
        </ns0:grpSpPr>
        <ns0:sp>
          <ns0:nvSpPr>
            <ns0:cNvPr name="Freeform 70" id="70"/>
            <ns0:cNvSpPr/>
            <ns0:nvPr/>
          </ns0:nvSpPr>
          <ns0:spPr>
            <ns1:xfrm flipH="false" flipV="false" rot="0">
              <ns1:off x="0" y="0"/>
              <ns1:ext cx="6199632" cy="706579"/>
            </ns1:xfrm>
            <ns1:custGeom>
              <ns1:avLst/>
              <ns1:gdLst/>
              <ns1:ahLst/>
              <ns1:cxnLst/>
              <ns1:rect r="r" b="b" t="t" l="l"/>
              <ns1:pathLst>
                <ns1:path h="706579" w="6199632">
                  <ns1:moveTo>
                    <ns1:pt x="0" y="0"/>
                  </ns1:moveTo>
                  <ns1:lnTo>
                    <ns1:pt x="6199632" y="0"/>
                  </ns1:lnTo>
                  <ns1:lnTo>
                    <ns1:pt x="6199632" y="706579"/>
                  </ns1:lnTo>
                  <ns1:lnTo>
                    <ns1:pt x="0" y="706579"/>
                  </ns1:lnTo>
                  <ns1:close/>
                </ns1:path>
              </ns1:pathLst>
            </ns1:custGeom>
            <ns1:blipFill>
              <ns1:blip ns2:embed="rId3">
                <ns1:alphaModFix amt="0"/>
              </ns1:blip>
              <ns1:stretch>
                <ns1:fillRect l="0" t="-119199" r="0" b="-122729"/>
              </ns1:stretch>
            </ns1:blipFill>
          </ns0:spPr>
        </ns0:sp>
        <ns0:sp>
          <ns0:nvSpPr>
            <ns0:cNvPr name="TextBox 71" id="71"/>
            <ns0:cNvSpPr txBox="true"/>
            <ns0:nvPr/>
          </ns0:nvSpPr>
          <ns0:spPr>
            <ns1:xfrm>
              <ns1:off x="0" y="-47625"/>
              <ns1:ext cx="6199632" cy="754204"/>
            </ns1:xfrm>
            <ns1:prstGeom prst="rect">
              <ns1:avLst/>
            </ns1:prstGeom>
          </ns0:spPr>
          <ns0:txBody>
            <ns1:bodyPr anchor="ctr" rtlCol="false" tIns="0" lIns="0" bIns="0" rIns="0"/>
            <ns1:lstStyle/>
            <ns1:p>
              <ns1:pPr algn="l">
                <ns1:lnSpc>
                  <ns1:spcPts val="2111"/>
                </ns1:lnSpc>
              </ns1:pPr>
              <ns1:r>
                <ns1:rPr lang="en-US" sz="1724">
                  <ns1:solidFill>
                    <ns1:srgbClr val="FFFFFF"/>
                  </ns1:solidFill>
                  <ns1:latin typeface="Calibri (MS)"/>
                  <ns1:ea typeface="Calibri (MS)"/>
                  <ns1:cs typeface="Calibri (MS)"/>
                  <ns1:sym typeface="Calibri (MS)"/>
                </ns1:rPr>
                <ns1:t>Node.js v20+ LTS / TypeScript / Express (Stateless Distributed Core)</ns1:t>
              </ns1:r>
            </ns1:p>
          </ns0:txBody>
        </ns0:sp>
      </ns0:grpSp>
      <ns0:grpSp>
        <ns0:nvGrpSpPr>
          <ns0:cNvPr name="Group 72" id="72"/>
          <ns0:cNvGrpSpPr/>
          <ns0:nvPr/>
        </ns0:nvGrpSpPr>
        <ns0:grpSpPr>
          <ns1:xfrm rot="0">
            <ns1:off x="12671679" y="4379584"/>
            <ns1:ext cx="5162550" cy="1051772"/>
            <ns1:chOff x="0" y="0"/>
            <ns1:chExt cx="6883400" cy="1402362"/>
          </ns1:xfrm>
        </ns0:grpSpPr>
        <ns0:sp>
          <ns0:nvSpPr>
            <ns0:cNvPr name="Freeform 73" id="73"/>
            <ns0:cNvSpPr/>
            <ns0:nvPr/>
          </ns0:nvSpPr>
          <ns0:spPr>
            <ns1:xfrm flipH="false" flipV="false" rot="0">
              <ns1:off x="0" y="0"/>
              <ns1:ext cx="6883400" cy="1402362"/>
            </ns1:xfrm>
            <ns1:custGeom>
              <ns1:avLst/>
              <ns1:gdLst/>
              <ns1:ahLst/>
              <ns1:cxnLst/>
              <ns1:rect r="r" b="b" t="t" l="l"/>
              <ns1:pathLst>
                <ns1:path h="1402362" w="6883400">
                  <ns1:moveTo>
                    <ns1:pt x="0" y="143769"/>
                  </ns1:moveTo>
                  <ns1:cubicBezTo>
                    <ns1:pt x="0" y="64402"/>
                    <ns1:pt x="66675" y="0"/>
                    <ns1:pt x="148844" y="0"/>
                  </ns1:cubicBezTo>
                  <ns1:lnTo>
                    <ns1:pt x="6734556" y="0"/>
                  </ns1:lnTo>
                  <ns1:cubicBezTo>
                    <ns1:pt x="6816725" y="0"/>
                    <ns1:pt x="6883400" y="64402"/>
                    <ns1:pt x="6883400" y="143769"/>
                  </ns1:cubicBezTo>
                  <ns1:lnTo>
                    <ns1:pt x="6883400" y="1258593"/>
                  </ns1:lnTo>
                  <ns1:cubicBezTo>
                    <ns1:pt x="6883400" y="1338083"/>
                    <ns1:pt x="6816725" y="1402362"/>
                    <ns1:pt x="6734556" y="1402362"/>
                  </ns1:cubicBezTo>
                  <ns1:lnTo>
                    <ns1:pt x="148844" y="1402362"/>
                  </ns1:lnTo>
                  <ns1:cubicBezTo>
                    <ns1:pt x="66675" y="1402362"/>
                    <ns1:pt x="0" y="1337960"/>
                    <ns1:pt x="0" y="1258593"/>
                  </ns1:cubicBezTo>
                  <ns1:close/>
                </ns1:path>
              </ns1:pathLst>
            </ns1:custGeom>
            <ns1:gradFill rotWithShape="true">
              <ns1:gsLst>
                <ns1:gs pos="0">
                  <ns1:srgbClr val="224AA8">
                    <ns1:alpha val="100000"/>
                  </ns1:srgbClr>
                </ns1:gs>
                <ns1:gs pos="100000">
                  <ns1:srgbClr val="B56FDC">
                    <ns1:alpha val="100000"/>
                  </ns1:srgbClr>
                </ns1:gs>
              </ns1:gsLst>
              <ns1:lin ang="0"/>
            </ns1:gradFill>
            <ns1:ln w="19050" cap="sq">
              <ns1:solidFill>
                <ns1:srgbClr val="D8DEE8"/>
              </ns1:solidFill>
              <ns1:prstDash val="solid"/>
              <ns1:miter/>
            </ns1:ln>
          </ns0:spPr>
        </ns0:sp>
      </ns0:grpSp>
      <ns0:grpSp>
        <ns0:nvGrpSpPr>
          <ns0:cNvPr name="Group 74" id="74"/>
          <ns0:cNvGrpSpPr/>
          <ns0:nvPr/>
        </ns0:nvGrpSpPr>
        <ns0:grpSpPr>
          <ns1:xfrm rot="0">
            <ns1:off x="12928092" y="4482200"/>
            <ns1:ext cx="4649724" cy="368699"/>
            <ns1:chOff x="0" y="0"/>
            <ns1:chExt cx="6199632" cy="491599"/>
          </ns1:xfrm>
        </ns0:grpSpPr>
        <ns0:sp>
          <ns0:nvSpPr>
            <ns0:cNvPr name="Freeform 75" id="75"/>
            <ns0:cNvSpPr/>
            <ns0:nvPr/>
          </ns0:nvSpPr>
          <ns0:spPr>
            <ns1:xfrm flipH="false" flipV="false" rot="0">
              <ns1:off x="0" y="0"/>
              <ns1:ext cx="6199632" cy="491599"/>
            </ns1:xfrm>
            <ns1:custGeom>
              <ns1:avLst/>
              <ns1:gdLst/>
              <ns1:ahLst/>
              <ns1:cxnLst/>
              <ns1:rect r="r" b="b" t="t" l="l"/>
              <ns1:pathLst>
                <ns1:path h="491599" w="6199632">
                  <ns1:moveTo>
                    <ns1:pt x="0" y="0"/>
                  </ns1:moveTo>
                  <ns1:lnTo>
                    <ns1:pt x="6199632" y="0"/>
                  </ns1:lnTo>
                  <ns1:lnTo>
                    <ns1:pt x="6199632" y="491599"/>
                  </ns1:lnTo>
                  <ns1:lnTo>
                    <ns1:pt x="0" y="491599"/>
                  </ns1:lnTo>
                  <ns1:close/>
                </ns1:path>
              </ns1:pathLst>
            </ns1:custGeom>
            <ns1:blipFill>
              <ns1:blip ns2:embed="rId3">
                <ns1:alphaModFix amt="0"/>
              </ns1:blip>
              <ns1:stretch>
                <ns1:fillRect l="0" t="-201087" r="0" b="-190370"/>
              </ns1:stretch>
            </ns1:blipFill>
          </ns0:spPr>
        </ns0:sp>
        <ns0:sp>
          <ns0:nvSpPr>
            <ns0:cNvPr name="TextBox 76" id="76"/>
            <ns0:cNvSpPr txBox="true"/>
            <ns0:nvPr/>
          </ns0:nvSpPr>
          <ns0:spPr>
            <ns1:xfrm>
              <ns1:off x="0" y="-38100"/>
              <ns1:ext cx="6199632" cy="529699"/>
            </ns1:xfrm>
            <ns1:prstGeom prst="rect">
              <ns1:avLst/>
            </ns1:prstGeom>
          </ns0:spPr>
          <ns0:txBody>
            <ns1:bodyPr anchor="ctr" rtlCol="false" tIns="0" lIns="0" bIns="0" rIns="0"/>
            <ns1:lstStyle/>
            <ns1:p>
              <ns1:pPr algn="l">
                <ns1:lnSpc>
                  <ns1:spcPts val="2249"/>
                </ns1:lnSpc>
              </ns1:pPr>
              <ns1:r>
                <ns1:rPr lang="en-US" sz="1874" b="true">
                  <ns1:solidFill>
                    <ns1:srgbClr val="D98E04"/>
                  </ns1:solidFill>
                  <ns1:latin typeface="Calibri (MS) Bold"/>
                  <ns1:ea typeface="Calibri (MS) Bold"/>
                  <ns1:cs typeface="Calibri (MS) Bold"/>
                  <ns1:sym typeface="Calibri (MS) Bold"/>
                </ns1:rPr>
                <ns1:t>API Gateway</ns1:t>
              </ns1:r>
            </ns1:p>
          </ns0:txBody>
        </ns0:sp>
      </ns0:grpSp>
      <ns0:grpSp>
        <ns0:nvGrpSpPr>
          <ns0:cNvPr name="Group 77" id="77"/>
          <ns0:cNvGrpSpPr/>
          <ns0:nvPr/>
        </ns0:nvGrpSpPr>
        <ns0:grpSpPr>
          <ns1:xfrm rot="0">
            <ns1:off x="12928092" y="4812732"/>
            <ns1:ext cx="4649724" cy="529934"/>
            <ns1:chOff x="0" y="0"/>
            <ns1:chExt cx="6199632" cy="706579"/>
          </ns1:xfrm>
        </ns0:grpSpPr>
        <ns0:sp>
          <ns0:nvSpPr>
            <ns0:cNvPr name="Freeform 78" id="78"/>
            <ns0:cNvSpPr/>
            <ns0:nvPr/>
          </ns0:nvSpPr>
          <ns0:spPr>
            <ns1:xfrm flipH="false" flipV="false" rot="0">
              <ns1:off x="0" y="0"/>
              <ns1:ext cx="6199632" cy="706579"/>
            </ns1:xfrm>
            <ns1:custGeom>
              <ns1:avLst/>
              <ns1:gdLst/>
              <ns1:ahLst/>
              <ns1:cxnLst/>
              <ns1:rect r="r" b="b" t="t" l="l"/>
              <ns1:pathLst>
                <ns1:path h="706579" w="6199632">
                  <ns1:moveTo>
                    <ns1:pt x="0" y="0"/>
                  </ns1:moveTo>
                  <ns1:lnTo>
                    <ns1:pt x="6199632" y="0"/>
                  </ns1:lnTo>
                  <ns1:lnTo>
                    <ns1:pt x="6199632" y="706579"/>
                  </ns1:lnTo>
                  <ns1:lnTo>
                    <ns1:pt x="0" y="706579"/>
                  </ns1:lnTo>
                  <ns1:close/>
                </ns1:path>
              </ns1:pathLst>
            </ns1:custGeom>
            <ns1:blipFill>
              <ns1:blip ns2:embed="rId3">
                <ns1:alphaModFix amt="0"/>
              </ns1:blip>
              <ns1:stretch>
                <ns1:fillRect l="0" t="-119199" r="0" b="-122729"/>
              </ns1:stretch>
            </ns1:blipFill>
          </ns0:spPr>
        </ns0:sp>
        <ns0:sp>
          <ns0:nvSpPr>
            <ns0:cNvPr name="TextBox 79" id="79"/>
            <ns0:cNvSpPr txBox="true"/>
            <ns0:nvPr/>
          </ns0:nvSpPr>
          <ns0:spPr>
            <ns1:xfrm>
              <ns1:off x="0" y="-47625"/>
              <ns1:ext cx="6199632" cy="754204"/>
            </ns1:xfrm>
            <ns1:prstGeom prst="rect">
              <ns1:avLst/>
            </ns1:prstGeom>
          </ns0:spPr>
          <ns0:txBody>
            <ns1:bodyPr anchor="ctr" rtlCol="false" tIns="0" lIns="0" bIns="0" rIns="0"/>
            <ns1:lstStyle/>
            <ns1:p>
              <ns1:pPr algn="l">
                <ns1:lnSpc>
                  <ns1:spcPts val="2111"/>
                </ns1:lnSpc>
              </ns1:pPr>
              <ns1:r>
                <ns1:rPr lang="en-US" sz="1724">
                  <ns1:solidFill>
                    <ns1:srgbClr val="FFFFFF"/>
                  </ns1:solidFill>
                  <ns1:latin typeface="Calibri (MS)"/>
                  <ns1:ea typeface="Calibri (MS)"/>
                  <ns1:cs typeface="Calibri (MS)"/>
                  <ns1:sym typeface="Calibri (MS)"/>
                </ns1:rPr>
                <ns1:t>Zero-Trust Gateway: mTLS, Sliding Rate-Limiter (300 req/m), OWASP Security</ns1:t>
              </ns1:r>
            </ns1:p>
          </ns0:txBody>
        </ns0:sp>
      </ns0:grpSp>
      <ns0:grpSp>
        <ns0:nvGrpSpPr>
          <ns0:cNvPr name="Group 80" id="80"/>
          <ns0:cNvGrpSpPr/>
          <ns0:nvPr/>
        </ns0:nvGrpSpPr>
        <ns0:grpSpPr>
          <ns1:xfrm rot="0">
            <ns1:off x="12671679" y="5545439"/>
            <ns1:ext cx="5162550" cy="1051772"/>
            <ns1:chOff x="0" y="0"/>
            <ns1:chExt cx="6883400" cy="1402362"/>
          </ns1:xfrm>
        </ns0:grpSpPr>
        <ns0:sp>
          <ns0:nvSpPr>
            <ns0:cNvPr name="Freeform 81" id="81"/>
            <ns0:cNvSpPr/>
            <ns0:nvPr/>
          </ns0:nvSpPr>
          <ns0:spPr>
            <ns1:xfrm flipH="false" flipV="false" rot="0">
              <ns1:off x="0" y="0"/>
              <ns1:ext cx="6883400" cy="1402362"/>
            </ns1:xfrm>
            <ns1:custGeom>
              <ns1:avLst/>
              <ns1:gdLst/>
              <ns1:ahLst/>
              <ns1:cxnLst/>
              <ns1:rect r="r" b="b" t="t" l="l"/>
              <ns1:pathLst>
                <ns1:path h="1402362" w="6883400">
                  <ns1:moveTo>
                    <ns1:pt x="0" y="143769"/>
                  </ns1:moveTo>
                  <ns1:cubicBezTo>
                    <ns1:pt x="0" y="64402"/>
                    <ns1:pt x="66675" y="0"/>
                    <ns1:pt x="148844" y="0"/>
                  </ns1:cubicBezTo>
                  <ns1:lnTo>
                    <ns1:pt x="6734556" y="0"/>
                  </ns1:lnTo>
                  <ns1:cubicBezTo>
                    <ns1:pt x="6816725" y="0"/>
                    <ns1:pt x="6883400" y="64402"/>
                    <ns1:pt x="6883400" y="143769"/>
                  </ns1:cubicBezTo>
                  <ns1:lnTo>
                    <ns1:pt x="6883400" y="1258593"/>
                  </ns1:lnTo>
                  <ns1:cubicBezTo>
                    <ns1:pt x="6883400" y="1338083"/>
                    <ns1:pt x="6816725" y="1402362"/>
                    <ns1:pt x="6734556" y="1402362"/>
                  </ns1:cubicBezTo>
                  <ns1:lnTo>
                    <ns1:pt x="148844" y="1402362"/>
                  </ns1:lnTo>
                  <ns1:cubicBezTo>
                    <ns1:pt x="66675" y="1402362"/>
                    <ns1:pt x="0" y="1337960"/>
                    <ns1:pt x="0" y="1258593"/>
                  </ns1:cubicBezTo>
                  <ns1:close/>
                </ns1:path>
              </ns1:pathLst>
            </ns1:custGeom>
            <ns1:gradFill rotWithShape="true">
              <ns1:gsLst>
                <ns1:gs pos="0">
                  <ns1:srgbClr val="224AA8">
                    <ns1:alpha val="100000"/>
                  </ns1:srgbClr>
                </ns1:gs>
                <ns1:gs pos="100000">
                  <ns1:srgbClr val="B56FDC">
                    <ns1:alpha val="100000"/>
                  </ns1:srgbClr>
                </ns1:gs>
              </ns1:gsLst>
              <ns1:lin ang="0"/>
            </ns1:gradFill>
            <ns1:ln w="19050" cap="sq">
              <ns1:solidFill>
                <ns1:srgbClr val="D8DEE8"/>
              </ns1:solidFill>
              <ns1:prstDash val="solid"/>
              <ns1:miter/>
            </ns1:ln>
          </ns0:spPr>
        </ns0:sp>
      </ns0:grpSp>
      <ns0:grpSp>
        <ns0:nvGrpSpPr>
          <ns0:cNvPr name="Group 82" id="82"/>
          <ns0:cNvGrpSpPr/>
          <ns0:nvPr/>
        </ns0:nvGrpSpPr>
        <ns0:grpSpPr>
          <ns1:xfrm rot="0">
            <ns1:off x="12928092" y="5648055"/>
            <ns1:ext cx="4649724" cy="368699"/>
            <ns1:chOff x="0" y="0"/>
            <ns1:chExt cx="6199632" cy="491599"/>
          </ns1:xfrm>
        </ns0:grpSpPr>
        <ns0:sp>
          <ns0:nvSpPr>
            <ns0:cNvPr name="Freeform 83" id="83"/>
            <ns0:cNvSpPr/>
            <ns0:nvPr/>
          </ns0:nvSpPr>
          <ns0:spPr>
            <ns1:xfrm flipH="false" flipV="false" rot="0">
              <ns1:off x="0" y="0"/>
              <ns1:ext cx="6199632" cy="491599"/>
            </ns1:xfrm>
            <ns1:custGeom>
              <ns1:avLst/>
              <ns1:gdLst/>
              <ns1:ahLst/>
              <ns1:cxnLst/>
              <ns1:rect r="r" b="b" t="t" l="l"/>
              <ns1:pathLst>
                <ns1:path h="491599" w="6199632">
                  <ns1:moveTo>
                    <ns1:pt x="0" y="0"/>
                  </ns1:moveTo>
                  <ns1:lnTo>
                    <ns1:pt x="6199632" y="0"/>
                  </ns1:lnTo>
                  <ns1:lnTo>
                    <ns1:pt x="6199632" y="491599"/>
                  </ns1:lnTo>
                  <ns1:lnTo>
                    <ns1:pt x="0" y="491599"/>
                  </ns1:lnTo>
                  <ns1:close/>
                </ns1:path>
              </ns1:pathLst>
            </ns1:custGeom>
            <ns1:blipFill>
              <ns1:blip ns2:embed="rId3">
                <ns1:alphaModFix amt="0"/>
              </ns1:blip>
              <ns1:stretch>
                <ns1:fillRect l="0" t="-201087" r="0" b="-190370"/>
              </ns1:stretch>
            </ns1:blipFill>
          </ns0:spPr>
        </ns0:sp>
        <ns0:sp>
          <ns0:nvSpPr>
            <ns0:cNvPr name="TextBox 84" id="84"/>
            <ns0:cNvSpPr txBox="true"/>
            <ns0:nvPr/>
          </ns0:nvSpPr>
          <ns0:spPr>
            <ns1:xfrm>
              <ns1:off x="0" y="-38100"/>
              <ns1:ext cx="6199632" cy="529699"/>
            </ns1:xfrm>
            <ns1:prstGeom prst="rect">
              <ns1:avLst/>
            </ns1:prstGeom>
          </ns0:spPr>
          <ns0:txBody>
            <ns1:bodyPr anchor="ctr" rtlCol="false" tIns="0" lIns="0" bIns="0" rIns="0"/>
            <ns1:lstStyle/>
            <ns1:p>
              <ns1:pPr algn="l">
                <ns1:lnSpc>
                  <ns1:spcPts val="2249"/>
                </ns1:lnSpc>
              </ns1:pPr>
              <ns1:r>
                <ns1:rPr lang="en-US" sz="1874" b="true">
                  <ns1:solidFill>
                    <ns1:srgbClr val="D98E04"/>
                  </ns1:solidFill>
                  <ns1:latin typeface="Calibri (MS) Bold"/>
                  <ns1:ea typeface="Calibri (MS) Bold"/>
                  <ns1:cs typeface="Calibri (MS) Bold"/>
                  <ns1:sym typeface="Calibri (MS) Bold"/>
                </ns1:rPr>
                <ns1:t>Database</ns1:t>
              </ns1:r>
            </ns1:p>
          </ns0:txBody>
        </ns0:sp>
      </ns0:grpSp>
      <ns0:grpSp>
        <ns0:nvGrpSpPr>
          <ns0:cNvPr name="Group 85" id="85"/>
          <ns0:cNvGrpSpPr/>
          <ns0:nvPr/>
        </ns0:nvGrpSpPr>
        <ns0:grpSpPr>
          <ns1:xfrm rot="0">
            <ns1:off x="12928092" y="5978586"/>
            <ns1:ext cx="4649724" cy="529934"/>
            <ns1:chOff x="0" y="0"/>
            <ns1:chExt cx="6199632" cy="706579"/>
          </ns1:xfrm>
        </ns0:grpSpPr>
        <ns0:sp>
          <ns0:nvSpPr>
            <ns0:cNvPr name="Freeform 86" id="86"/>
            <ns0:cNvSpPr/>
            <ns0:nvPr/>
          </ns0:nvSpPr>
          <ns0:spPr>
            <ns1:xfrm flipH="false" flipV="false" rot="0">
              <ns1:off x="0" y="0"/>
              <ns1:ext cx="6199632" cy="706579"/>
            </ns1:xfrm>
            <ns1:custGeom>
              <ns1:avLst/>
              <ns1:gdLst/>
              <ns1:ahLst/>
              <ns1:cxnLst/>
              <ns1:rect r="r" b="b" t="t" l="l"/>
              <ns1:pathLst>
                <ns1:path h="706579" w="6199632">
                  <ns1:moveTo>
                    <ns1:pt x="0" y="0"/>
                  </ns1:moveTo>
                  <ns1:lnTo>
                    <ns1:pt x="6199632" y="0"/>
                  </ns1:lnTo>
                  <ns1:lnTo>
                    <ns1:pt x="6199632" y="706579"/>
                  </ns1:lnTo>
                  <ns1:lnTo>
                    <ns1:pt x="0" y="706579"/>
                  </ns1:lnTo>
                  <ns1:close/>
                </ns1:path>
              </ns1:pathLst>
            </ns1:custGeom>
            <ns1:blipFill>
              <ns1:blip ns2:embed="rId3">
                <ns1:alphaModFix amt="0"/>
              </ns1:blip>
              <ns1:stretch>
                <ns1:fillRect l="0" t="-119199" r="0" b="-122729"/>
              </ns1:stretch>
            </ns1:blipFill>
          </ns0:spPr>
        </ns0:sp>
        <ns0:sp>
          <ns0:nvSpPr>
            <ns0:cNvPr name="TextBox 87" id="87"/>
            <ns0:cNvSpPr txBox="true"/>
            <ns0:nvPr/>
          </ns0:nvSpPr>
          <ns0:spPr>
            <ns1:xfrm>
              <ns1:off x="0" y="-47625"/>
              <ns1:ext cx="6199632" cy="754204"/>
            </ns1:xfrm>
            <ns1:prstGeom prst="rect">
              <ns1:avLst/>
            </ns1:prstGeom>
          </ns0:spPr>
          <ns0:txBody>
            <ns1:bodyPr anchor="ctr" rtlCol="false" tIns="0" lIns="0" bIns="0" rIns="0"/>
            <ns1:lstStyle/>
            <ns1:p>
              <ns1:pPr algn="l">
                <ns1:lnSpc>
                  <ns1:spcPts val="2111"/>
                </ns1:lnSpc>
              </ns1:pPr>
              <ns1:r>
                <ns1:rPr lang="en-US" sz="1724">
                  <ns1:solidFill>
                    <ns1:srgbClr val="FFFFFF"/>
                  </ns1:solidFill>
                  <ns1:latin typeface="Calibri (MS)"/>
                  <ns1:ea typeface="Calibri (MS)"/>
                  <ns1:cs typeface="Calibri (MS)"/>
                  <ns1:sym typeface="Calibri (MS)"/>
                </ns1:rPr>
                <ns1:t>Zero Central Persistence (Volatile Memory); Department Sources: Postgres/MySQL/Mongo</ns1:t>
              </ns1:r>
            </ns1:p>
          </ns0:txBody>
        </ns0:sp>
      </ns0:grpSp>
      <ns0:grpSp>
        <ns0:nvGrpSpPr>
          <ns0:cNvPr name="Group 88" id="88"/>
          <ns0:cNvGrpSpPr/>
          <ns0:nvPr/>
        </ns0:nvGrpSpPr>
        <ns0:grpSpPr>
          <ns1:xfrm rot="0">
            <ns1:off x="12671679" y="6711293"/>
            <ns1:ext cx="5162550" cy="1051772"/>
            <ns1:chOff x="0" y="0"/>
            <ns1:chExt cx="6883400" cy="1402362"/>
          </ns1:xfrm>
        </ns0:grpSpPr>
        <ns0:sp>
          <ns0:nvSpPr>
            <ns0:cNvPr name="Freeform 89" id="89"/>
            <ns0:cNvSpPr/>
            <ns0:nvPr/>
          </ns0:nvSpPr>
          <ns0:spPr>
            <ns1:xfrm flipH="false" flipV="false" rot="0">
              <ns1:off x="0" y="0"/>
              <ns1:ext cx="6883400" cy="1402362"/>
            </ns1:xfrm>
            <ns1:custGeom>
              <ns1:avLst/>
              <ns1:gdLst/>
              <ns1:ahLst/>
              <ns1:cxnLst/>
              <ns1:rect r="r" b="b" t="t" l="l"/>
              <ns1:pathLst>
                <ns1:path h="1402362" w="6883400">
                  <ns1:moveTo>
                    <ns1:pt x="0" y="143769"/>
                  </ns1:moveTo>
                  <ns1:cubicBezTo>
                    <ns1:pt x="0" y="64402"/>
                    <ns1:pt x="66675" y="0"/>
                    <ns1:pt x="148844" y="0"/>
                  </ns1:cubicBezTo>
                  <ns1:lnTo>
                    <ns1:pt x="6734556" y="0"/>
                  </ns1:lnTo>
                  <ns1:cubicBezTo>
                    <ns1:pt x="6816725" y="0"/>
                    <ns1:pt x="6883400" y="64402"/>
                    <ns1:pt x="6883400" y="143769"/>
                  </ns1:cubicBezTo>
                  <ns1:lnTo>
                    <ns1:pt x="6883400" y="1258593"/>
                  </ns1:lnTo>
                  <ns1:cubicBezTo>
                    <ns1:pt x="6883400" y="1338083"/>
                    <ns1:pt x="6816725" y="1402362"/>
                    <ns1:pt x="6734556" y="1402362"/>
                  </ns1:cubicBezTo>
                  <ns1:lnTo>
                    <ns1:pt x="148844" y="1402362"/>
                  </ns1:lnTo>
                  <ns1:cubicBezTo>
                    <ns1:pt x="66675" y="1402362"/>
                    <ns1:pt x="0" y="1337960"/>
                    <ns1:pt x="0" y="1258593"/>
                  </ns1:cubicBezTo>
                  <ns1:close/>
                </ns1:path>
              </ns1:pathLst>
            </ns1:custGeom>
            <ns1:gradFill rotWithShape="true">
              <ns1:gsLst>
                <ns1:gs pos="0">
                  <ns1:srgbClr val="224AA8">
                    <ns1:alpha val="100000"/>
                  </ns1:srgbClr>
                </ns1:gs>
                <ns1:gs pos="100000">
                  <ns1:srgbClr val="B56FDC">
                    <ns1:alpha val="100000"/>
                  </ns1:srgbClr>
                </ns1:gs>
              </ns1:gsLst>
              <ns1:lin ang="0"/>
            </ns1:gradFill>
            <ns1:ln w="19050" cap="sq">
              <ns1:solidFill>
                <ns1:srgbClr val="D8DEE8"/>
              </ns1:solidFill>
              <ns1:prstDash val="solid"/>
              <ns1:miter/>
            </ns1:ln>
          </ns0:spPr>
        </ns0:sp>
      </ns0:grpSp>
      <ns0:grpSp>
        <ns0:nvGrpSpPr>
          <ns0:cNvPr name="Group 90" id="90"/>
          <ns0:cNvGrpSpPr/>
          <ns0:nvPr/>
        </ns0:nvGrpSpPr>
        <ns0:grpSpPr>
          <ns1:xfrm rot="0">
            <ns1:off x="12928092" y="6813909"/>
            <ns1:ext cx="4649724" cy="368699"/>
            <ns1:chOff x="0" y="0"/>
            <ns1:chExt cx="6199632" cy="491599"/>
          </ns1:xfrm>
        </ns0:grpSpPr>
        <ns0:sp>
          <ns0:nvSpPr>
            <ns0:cNvPr name="Freeform 91" id="91"/>
            <ns0:cNvSpPr/>
            <ns0:nvPr/>
          </ns0:nvSpPr>
          <ns0:spPr>
            <ns1:xfrm flipH="false" flipV="false" rot="0">
              <ns1:off x="0" y="0"/>
              <ns1:ext cx="6199632" cy="491599"/>
            </ns1:xfrm>
            <ns1:custGeom>
              <ns1:avLst/>
              <ns1:gdLst/>
              <ns1:ahLst/>
              <ns1:cxnLst/>
              <ns1:rect r="r" b="b" t="t" l="l"/>
              <ns1:pathLst>
                <ns1:path h="491599" w="6199632">
                  <ns1:moveTo>
                    <ns1:pt x="0" y="0"/>
                  </ns1:moveTo>
                  <ns1:lnTo>
                    <ns1:pt x="6199632" y="0"/>
                  </ns1:lnTo>
                  <ns1:lnTo>
                    <ns1:pt x="6199632" y="491599"/>
                  </ns1:lnTo>
                  <ns1:lnTo>
                    <ns1:pt x="0" y="491599"/>
                  </ns1:lnTo>
                  <ns1:close/>
                </ns1:path>
              </ns1:pathLst>
            </ns1:custGeom>
            <ns1:blipFill>
              <ns1:blip ns2:embed="rId3">
                <ns1:alphaModFix amt="0"/>
              </ns1:blip>
              <ns1:stretch>
                <ns1:fillRect l="0" t="-201087" r="0" b="-190370"/>
              </ns1:stretch>
            </ns1:blipFill>
          </ns0:spPr>
        </ns0:sp>
        <ns0:sp>
          <ns0:nvSpPr>
            <ns0:cNvPr name="TextBox 92" id="92"/>
            <ns0:cNvSpPr txBox="true"/>
            <ns0:nvPr/>
          </ns0:nvSpPr>
          <ns0:spPr>
            <ns1:xfrm>
              <ns1:off x="0" y="-38100"/>
              <ns1:ext cx="6199632" cy="529699"/>
            </ns1:xfrm>
            <ns1:prstGeom prst="rect">
              <ns1:avLst/>
            </ns1:prstGeom>
          </ns0:spPr>
          <ns0:txBody>
            <ns1:bodyPr anchor="ctr" rtlCol="false" tIns="0" lIns="0" bIns="0" rIns="0"/>
            <ns1:lstStyle/>
            <ns1:p>
              <ns1:pPr algn="l">
                <ns1:lnSpc>
                  <ns1:spcPts val="2249"/>
                </ns1:lnSpc>
              </ns1:pPr>
              <ns1:r>
                <ns1:rPr lang="en-US" sz="1874" b="true">
                  <ns1:solidFill>
                    <ns1:srgbClr val="D98E04"/>
                  </ns1:solidFill>
                  <ns1:latin typeface="Calibri (MS) Bold"/>
                  <ns1:ea typeface="Calibri (MS) Bold"/>
                  <ns1:cs typeface="Calibri (MS) Bold"/>
                  <ns1:sym typeface="Calibri (MS) Bold"/>
                </ns1:rPr>
                <ns1:t>Auth</ns1:t>
              </ns1:r>
            </ns1:p>
          </ns0:txBody>
        </ns0:sp>
      </ns0:grpSp>
      <ns0:grpSp>
        <ns0:nvGrpSpPr>
          <ns0:cNvPr name="Group 93" id="93"/>
          <ns0:cNvGrpSpPr/>
          <ns0:nvPr/>
        </ns0:nvGrpSpPr>
        <ns0:grpSpPr>
          <ns1:xfrm rot="0">
            <ns1:off x="12928092" y="7144441"/>
            <ns1:ext cx="4649724" cy="529934"/>
            <ns1:chOff x="0" y="0"/>
            <ns1:chExt cx="6199632" cy="706579"/>
          </ns1:xfrm>
        </ns0:grpSpPr>
        <ns0:sp>
          <ns0:nvSpPr>
            <ns0:cNvPr name="Freeform 94" id="94"/>
            <ns0:cNvSpPr/>
            <ns0:nvPr/>
          </ns0:nvSpPr>
          <ns0:spPr>
            <ns1:xfrm flipH="false" flipV="false" rot="0">
              <ns1:off x="0" y="0"/>
              <ns1:ext cx="6199632" cy="706579"/>
            </ns1:xfrm>
            <ns1:custGeom>
              <ns1:avLst/>
              <ns1:gdLst/>
              <ns1:ahLst/>
              <ns1:cxnLst/>
              <ns1:rect r="r" b="b" t="t" l="l"/>
              <ns1:pathLst>
                <ns1:path h="706579" w="6199632">
                  <ns1:moveTo>
                    <ns1:pt x="0" y="0"/>
                  </ns1:moveTo>
                  <ns1:lnTo>
                    <ns1:pt x="6199632" y="0"/>
                  </ns1:lnTo>
                  <ns1:lnTo>
                    <ns1:pt x="6199632" y="706579"/>
                  </ns1:lnTo>
                  <ns1:lnTo>
                    <ns1:pt x="0" y="706579"/>
                  </ns1:lnTo>
                  <ns1:close/>
                </ns1:path>
              </ns1:pathLst>
            </ns1:custGeom>
            <ns1:blipFill>
              <ns1:blip ns2:embed="rId3">
                <ns1:alphaModFix amt="0"/>
              </ns1:blip>
              <ns1:stretch>
                <ns1:fillRect l="0" t="-119199" r="0" b="-122729"/>
              </ns1:stretch>
            </ns1:blipFill>
          </ns0:spPr>
        </ns0:sp>
        <ns0:sp>
          <ns0:nvSpPr>
            <ns0:cNvPr name="TextBox 95" id="95"/>
            <ns0:cNvSpPr txBox="true"/>
            <ns0:nvPr/>
          </ns0:nvSpPr>
          <ns0:spPr>
            <ns1:xfrm>
              <ns1:off x="0" y="-47625"/>
              <ns1:ext cx="6199632" cy="754204"/>
            </ns1:xfrm>
            <ns1:prstGeom prst="rect">
              <ns1:avLst/>
            </ns1:prstGeom>
          </ns0:spPr>
          <ns0:txBody>
            <ns1:bodyPr anchor="ctr" rtlCol="false" tIns="0" lIns="0" bIns="0" rIns="0"/>
            <ns1:lstStyle/>
            <ns1:p>
              <ns1:pPr algn="l">
                <ns1:lnSpc>
                  <ns1:spcPts val="2111"/>
                </ns1:lnSpc>
              </ns1:pPr>
              <ns1:r>
                <ns1:rPr lang="en-US" sz="1724">
                  <ns1:solidFill>
                    <ns1:srgbClr val="FFFFFF"/>
                  </ns1:solidFill>
                  <ns1:latin typeface="Calibri (MS)"/>
                  <ns1:ea typeface="Calibri (MS)"/>
                  <ns1:cs typeface="Calibri (MS)"/>
                  <ns1:sym typeface="Calibri (MS)"/>
                </ns1:rPr>
                <ns1:t>Meri Pehchaan (OIDC / OAuth 2.0) + DEPA ECDSA P-256 Signed Tokens</ns1:t>
              </ns1:r>
            </ns1:p>
          </ns0:txBody>
        </ns0:sp>
      </ns0:grpSp>
      <ns0:grpSp>
        <ns0:nvGrpSpPr>
          <ns0:cNvPr name="Group 96" id="96"/>
          <ns0:cNvGrpSpPr/>
          <ns0:nvPr/>
        </ns0:nvGrpSpPr>
        <ns0:grpSpPr>
          <ns1:xfrm rot="0">
            <ns1:off x="12671679" y="7877148"/>
            <ns1:ext cx="5162550" cy="1051772"/>
            <ns1:chOff x="0" y="0"/>
            <ns1:chExt cx="6883400" cy="1402362"/>
          </ns1:xfrm>
        </ns0:grpSpPr>
        <ns0:sp>
          <ns0:nvSpPr>
            <ns0:cNvPr name="Freeform 97" id="97"/>
            <ns0:cNvSpPr/>
            <ns0:nvPr/>
          </ns0:nvSpPr>
          <ns0:spPr>
            <ns1:xfrm flipH="false" flipV="false" rot="0">
              <ns1:off x="0" y="0"/>
              <ns1:ext cx="6883400" cy="1402362"/>
            </ns1:xfrm>
            <ns1:custGeom>
              <ns1:avLst/>
              <ns1:gdLst/>
              <ns1:ahLst/>
              <ns1:cxnLst/>
              <ns1:rect r="r" b="b" t="t" l="l"/>
              <ns1:pathLst>
                <ns1:path h="1402362" w="6883400">
                  <ns1:moveTo>
                    <ns1:pt x="0" y="143769"/>
                  </ns1:moveTo>
                  <ns1:cubicBezTo>
                    <ns1:pt x="0" y="64402"/>
                    <ns1:pt x="66675" y="0"/>
                    <ns1:pt x="148844" y="0"/>
                  </ns1:cubicBezTo>
                  <ns1:lnTo>
                    <ns1:pt x="6734556" y="0"/>
                  </ns1:lnTo>
                  <ns1:cubicBezTo>
                    <ns1:pt x="6816725" y="0"/>
                    <ns1:pt x="6883400" y="64402"/>
                    <ns1:pt x="6883400" y="143769"/>
                  </ns1:cubicBezTo>
                  <ns1:lnTo>
                    <ns1:pt x="6883400" y="1258593"/>
                  </ns1:lnTo>
                  <ns1:cubicBezTo>
                    <ns1:pt x="6883400" y="1338083"/>
                    <ns1:pt x="6816725" y="1402362"/>
                    <ns1:pt x="6734556" y="1402362"/>
                  </ns1:cubicBezTo>
                  <ns1:lnTo>
                    <ns1:pt x="148844" y="1402362"/>
                  </ns1:lnTo>
                  <ns1:cubicBezTo>
                    <ns1:pt x="66675" y="1402362"/>
                    <ns1:pt x="0" y="1337960"/>
                    <ns1:pt x="0" y="1258593"/>
                  </ns1:cubicBezTo>
                  <ns1:close/>
                </ns1:path>
              </ns1:pathLst>
            </ns1:custGeom>
            <ns1:gradFill rotWithShape="true">
              <ns1:gsLst>
                <ns1:gs pos="0">
                  <ns1:srgbClr val="224AA8">
                    <ns1:alpha val="100000"/>
                  </ns1:srgbClr>
                </ns1:gs>
                <ns1:gs pos="100000">
                  <ns1:srgbClr val="B56FDC">
                    <ns1:alpha val="100000"/>
                  </ns1:srgbClr>
                </ns1:gs>
              </ns1:gsLst>
              <ns1:lin ang="0"/>
            </ns1:gradFill>
            <ns1:ln w="19050" cap="sq">
              <ns1:solidFill>
                <ns1:srgbClr val="D8DEE8"/>
              </ns1:solidFill>
              <ns1:prstDash val="solid"/>
              <ns1:miter/>
            </ns1:ln>
          </ns0:spPr>
        </ns0:sp>
      </ns0:grpSp>
      <ns0:grpSp>
        <ns0:nvGrpSpPr>
          <ns0:cNvPr name="Group 98" id="98"/>
          <ns0:cNvGrpSpPr/>
          <ns0:nvPr/>
        </ns0:nvGrpSpPr>
        <ns0:grpSpPr>
          <ns1:xfrm rot="0">
            <ns1:off x="12928092" y="7979764"/>
            <ns1:ext cx="4649724" cy="368699"/>
            <ns1:chOff x="0" y="0"/>
            <ns1:chExt cx="6199632" cy="491599"/>
          </ns1:xfrm>
        </ns0:grpSpPr>
        <ns0:sp>
          <ns0:nvSpPr>
            <ns0:cNvPr name="Freeform 99" id="99"/>
            <ns0:cNvSpPr/>
            <ns0:nvPr/>
          </ns0:nvSpPr>
          <ns0:spPr>
            <ns1:xfrm flipH="false" flipV="false" rot="0">
              <ns1:off x="0" y="0"/>
              <ns1:ext cx="6199632" cy="491599"/>
            </ns1:xfrm>
            <ns1:custGeom>
              <ns1:avLst/>
              <ns1:gdLst/>
              <ns1:ahLst/>
              <ns1:cxnLst/>
              <ns1:rect r="r" b="b" t="t" l="l"/>
              <ns1:pathLst>
                <ns1:path h="491599" w="6199632">
                  <ns1:moveTo>
                    <ns1:pt x="0" y="0"/>
                  </ns1:moveTo>
                  <ns1:lnTo>
                    <ns1:pt x="6199632" y="0"/>
                  </ns1:lnTo>
                  <ns1:lnTo>
                    <ns1:pt x="6199632" y="491599"/>
                  </ns1:lnTo>
                  <ns1:lnTo>
                    <ns1:pt x="0" y="491599"/>
                  </ns1:lnTo>
                  <ns1:close/>
                </ns1:path>
              </ns1:pathLst>
            </ns1:custGeom>
            <ns1:blipFill>
              <ns1:blip ns2:embed="rId3">
                <ns1:alphaModFix amt="0"/>
              </ns1:blip>
              <ns1:stretch>
                <ns1:fillRect l="0" t="-201087" r="0" b="-190370"/>
              </ns1:stretch>
            </ns1:blipFill>
          </ns0:spPr>
        </ns0:sp>
        <ns0:sp>
          <ns0:nvSpPr>
            <ns0:cNvPr name="TextBox 100" id="100"/>
            <ns0:cNvSpPr txBox="true"/>
            <ns0:nvPr/>
          </ns0:nvSpPr>
          <ns0:spPr>
            <ns1:xfrm>
              <ns1:off x="0" y="-38100"/>
              <ns1:ext cx="6199632" cy="529699"/>
            </ns1:xfrm>
            <ns1:prstGeom prst="rect">
              <ns1:avLst/>
            </ns1:prstGeom>
          </ns0:spPr>
          <ns0:txBody>
            <ns1:bodyPr anchor="ctr" rtlCol="false" tIns="0" lIns="0" bIns="0" rIns="0"/>
            <ns1:lstStyle/>
            <ns1:p>
              <ns1:pPr algn="l">
                <ns1:lnSpc>
                  <ns1:spcPts val="2249"/>
                </ns1:lnSpc>
              </ns1:pPr>
              <ns1:r>
                <ns1:rPr lang="en-US" sz="1874" b="true">
                  <ns1:solidFill>
                    <ns1:srgbClr val="D98E04"/>
                  </ns1:solidFill>
                  <ns1:latin typeface="Calibri (MS) Bold"/>
                  <ns1:ea typeface="Calibri (MS) Bold"/>
                  <ns1:cs typeface="Calibri (MS) Bold"/>
                  <ns1:sym typeface="Calibri (MS) Bold"/>
                </ns1:rPr>
                <ns1:t>Hosting</ns1:t>
              </ns1:r>
            </ns1:p>
          </ns0:txBody>
        </ns0:sp>
      </ns0:grpSp>
      <ns0:grpSp>
        <ns0:nvGrpSpPr>
          <ns0:cNvPr name="Group 101" id="101"/>
          <ns0:cNvGrpSpPr/>
          <ns0:nvPr/>
        </ns0:nvGrpSpPr>
        <ns0:grpSpPr>
          <ns1:xfrm rot="0">
            <ns1:off x="12928092" y="8310295"/>
            <ns1:ext cx="4649724" cy="529934"/>
            <ns1:chOff x="0" y="0"/>
            <ns1:chExt cx="6199632" cy="706579"/>
          </ns1:xfrm>
        </ns0:grpSpPr>
        <ns0:sp>
          <ns0:nvSpPr>
            <ns0:cNvPr name="Freeform 102" id="102"/>
            <ns0:cNvSpPr/>
            <ns0:nvPr/>
          </ns0:nvSpPr>
          <ns0:spPr>
            <ns1:xfrm flipH="false" flipV="false" rot="0">
              <ns1:off x="0" y="0"/>
              <ns1:ext cx="6199632" cy="706579"/>
            </ns1:xfrm>
            <ns1:custGeom>
              <ns1:avLst/>
              <ns1:gdLst/>
              <ns1:ahLst/>
              <ns1:cxnLst/>
              <ns1:rect r="r" b="b" t="t" l="l"/>
              <ns1:pathLst>
                <ns1:path h="706579" w="6199632">
                  <ns1:moveTo>
                    <ns1:pt x="0" y="0"/>
                  </ns1:moveTo>
                  <ns1:lnTo>
                    <ns1:pt x="6199632" y="0"/>
                  </ns1:lnTo>
                  <ns1:lnTo>
                    <ns1:pt x="6199632" y="706579"/>
                  </ns1:lnTo>
                  <ns1:lnTo>
                    <ns1:pt x="0" y="706579"/>
                  </ns1:lnTo>
                  <ns1:close/>
                </ns1:path>
              </ns1:pathLst>
            </ns1:custGeom>
            <ns1:blipFill>
              <ns1:blip ns2:embed="rId3">
                <ns1:alphaModFix amt="0"/>
              </ns1:blip>
              <ns1:stretch>
                <ns1:fillRect l="0" t="-119199" r="0" b="-122729"/>
              </ns1:stretch>
            </ns1:blipFill>
          </ns0:spPr>
        </ns0:sp>
        <ns0:sp>
          <ns0:nvSpPr>
            <ns0:cNvPr name="TextBox 103" id="103"/>
            <ns0:cNvSpPr txBox="true"/>
            <ns0:nvPr/>
          </ns0:nvSpPr>
          <ns0:spPr>
            <ns1:xfrm>
              <ns1:off x="0" y="-47625"/>
              <ns1:ext cx="6199632" cy="754204"/>
            </ns1:xfrm>
            <ns1:prstGeom prst="rect">
              <ns1:avLst/>
            </ns1:prstGeom>
          </ns0:spPr>
          <ns0:txBody>
            <ns1:bodyPr anchor="ctr" rtlCol="false" tIns="0" lIns="0" bIns="0" rIns="0"/>
            <ns1:lstStyle/>
            <ns1:p>
              <ns1:pPr algn="l">
                <ns1:lnSpc>
                  <ns1:spcPts val="2111"/>
                </ns1:lnSpc>
              </ns1:pPr>
              <ns1:r>
                <ns1:rPr lang="en-US" sz="1724">
                  <ns1:solidFill>
                    <ns1:srgbClr val="FFFFFF"/>
                  </ns1:solidFill>
                  <ns1:latin typeface="Calibri (MS)"/>
                  <ns1:ea typeface="Calibri (MS)"/>
                  <ns1:cs typeface="Calibri (MS)"/>
                  <ns1:sym typeface="Calibri (MS)"/>
                </ns1:rPr>
                <ns1:t>Maha-IT State Data Centre (SDC Mahape) / MeghRaj (GI Cloud)</ns1:t>
              </ns1:r>
            </ns1:p>
          </ns0:txBody>
        </ns0:sp>
      </ns0:grpSp>
      <ns0:grpSp>
        <ns0:nvGrpSpPr>
          <ns0:cNvPr name="Group 104" id="104"/>
          <ns0:cNvGrpSpPr/>
          <ns0:nvPr/>
        </ns0:nvGrpSpPr>
        <ns0:grpSpPr>
          <ns1:xfrm rot="0">
            <ns1:off x="0" y="9793224"/>
            <ns1:ext cx="18283428" cy="493776"/>
            <ns1:chOff x="0" y="0"/>
            <ns1:chExt cx="24377904" cy="658368"/>
          </ns1:xfrm>
        </ns0:grpSpPr>
        <ns0:sp>
          <ns0:nvSpPr>
            <ns0:cNvPr name="Freeform 105" id="105"/>
            <ns0:cNvSpPr/>
            <ns0:nvPr/>
          </ns0:nvSpPr>
          <ns0:spPr>
            <ns1:xfrm flipH="false" flipV="false" rot="0">
              <ns1:off x="0" y="0"/>
              <ns1:ext cx="24377904" cy="658368"/>
            </ns1:xfrm>
            <ns1:custGeom>
              <ns1:avLst/>
              <ns1:gdLst/>
              <ns1:ahLst/>
              <ns1:cxnLst/>
              <ns1:rect r="r" b="b" t="t" l="l"/>
              <ns1:pathLst>
                <ns1:path h="658368" w="24377904">
                  <ns1:moveTo>
                    <ns1:pt x="0" y="0"/>
                  </ns1:moveTo>
                  <ns1:lnTo>
                    <ns1:pt x="24377904" y="0"/>
                  </ns1:lnTo>
                  <ns1:lnTo>
                    <ns1:pt x="24377904" y="658368"/>
                  </ns1:lnTo>
                  <ns1:lnTo>
                    <ns1:pt x="0" y="658368"/>
                  </ns1:lnTo>
                  <ns1:close/>
                </ns1:path>
              </ns1:pathLst>
            </ns1:custGeom>
            <ns1:solidFill>
              <ns1:srgbClr val="081B33"/>
            </ns1:solidFill>
          </ns0:spPr>
        </ns0:sp>
      </ns0:grpSp>
      <ns0:grpSp>
        <ns0:nvGrpSpPr>
          <ns0:cNvPr name="Group 106" id="106"/>
          <ns0:cNvGrpSpPr/>
          <ns0:nvPr/>
        </ns0:nvGrpSpPr>
        <ns0:grpSpPr>
          <ns1:xfrm rot="0">
            <ns1:off x="17282160" y="9793224"/>
            <ns1:ext cx="685800" cy="493776"/>
            <ns1:chOff x="0" y="0"/>
            <ns1:chExt cx="914400" cy="658368"/>
          </ns1:xfrm>
        </ns0:grpSpPr>
        <ns0:sp>
          <ns0:nvSpPr>
            <ns0:cNvPr name="Freeform 107" id="107"/>
            <ns0:cNvSpPr/>
            <ns0:nvPr/>
          </ns0:nvSpPr>
          <ns0:spPr>
            <ns1:xfrm flipH="false" flipV="false" rot="0">
              <ns1:off x="0" y="0"/>
              <ns1:ext cx="914400" cy="658368"/>
            </ns1:xfrm>
            <ns1:custGeom>
              <ns1:avLst/>
              <ns1:gdLst/>
              <ns1:ahLst/>
              <ns1:cxnLst/>
              <ns1:rect r="r" b="b" t="t" l="l"/>
              <ns1:pathLst>
                <ns1:path h="658368" w="914400">
                  <ns1:moveTo>
                    <ns1:pt x="0" y="0"/>
                  </ns1:moveTo>
                  <ns1:lnTo>
                    <ns1:pt x="914400" y="0"/>
                  </ns1:lnTo>
                  <ns1:lnTo>
                    <ns1:pt x="914400" y="658368"/>
                  </ns1:lnTo>
                  <ns1:lnTo>
                    <ns1:pt x="0" y="658368"/>
                  </ns1:lnTo>
                  <ns1:close/>
                </ns1:path>
              </ns1:pathLst>
            </ns1:custGeom>
            <ns1:blipFill>
              <ns1:blip ns2:embed="rId3">
                <ns1:alphaModFix amt="0"/>
              </ns1:blip>
              <ns1:stretch>
                <ns1:fillRect l="-42378" t="0" r="-42378" b="0"/>
              </ns1:stretch>
            </ns1:blipFill>
          </ns0:spPr>
        </ns0:sp>
        <ns0:sp>
          <ns0:nvSpPr>
            <ns0:cNvPr name="TextBox 108" id="108"/>
            <ns0:cNvSpPr txBox="true"/>
            <ns0:nvPr/>
          </ns0:nvSpPr>
          <ns0:spPr>
            <ns1:xfrm>
              <ns1:off x="0" y="-38100"/>
              <ns1:ext cx="914400" cy="696468"/>
            </ns1:xfrm>
            <ns1:prstGeom prst="rect">
              <ns1:avLst/>
            </ns1:prstGeom>
          </ns0:spPr>
          <ns0:txBody>
            <ns1:bodyPr anchor="ctr" rtlCol="false" tIns="0" lIns="0" bIns="0" rIns="0"/>
            <ns1:lstStyle/>
            <ns1:p>
              <ns1:pPr algn="r">
                <ns1:lnSpc>
                  <ns1:spcPts val="1800"/>
                </ns1:lnSpc>
              </ns1:pPr>
              <ns1:r>
                <ns1:rPr lang="en-US" sz="1500">
                  <ns1:solidFill>
                    <ns1:srgbClr val="AFC3DA"/>
                  </ns1:solidFill>
                  <ns1:latin typeface="Calibri (MS)"/>
                  <ns1:ea typeface="Calibri (MS)"/>
                  <ns1:cs typeface="Calibri (MS)"/>
                  <ns1:sym typeface="Calibri (MS)"/>
                </ns1:rPr>
                <ns1:t>3</ns1:t>
              </ns1:r>
            </ns1:p>
          </ns0:txBody>
        </ns0:sp>
      </ns0:grpSp>
      <ns0:sp>
        <ns0:nvSpPr>
          <ns0:cNvPr name="AutoShape 109" id="109"/>
          <ns0:cNvSpPr/>
          <ns0:nvPr/>
        </ns0:nvSpPr>
        <ns0:spPr>
          <ns1:xfrm>
            <ns1:off x="8850939" y="3617057"/>
            <ns1:ext cx="0" cy="416848"/>
          </ns1:xfrm>
          <ns1:prstGeom prst="line">
            <ns1:avLst/>
          </ns1:prstGeom>
          <ns1:ln cap="flat" w="38100">
            <ns1:solidFill>
              <ns1:srgbClr val="000000">
                <ns1:alpha val="63922"/>
              </ns1:srgbClr>
            </ns1:solidFill>
            <ns1:prstDash val="solid"/>
            <ns1:headEnd type="none" len="sm" w="sm"/>
            <ns1:tailEnd type="triangle" len="med" w="lg"/>
          </ns1:ln>
        </ns0:spPr>
      </ns0:sp>
      <ns0:sp>
        <ns0:nvSpPr>
          <ns0:cNvPr name="AutoShape 110" id="110"/>
          <ns0:cNvSpPr/>
          <ns0:nvPr/>
        </ns0:nvSpPr>
        <ns0:spPr>
          <ns1:xfrm>
            <ns1:off x="8876730" y="4809931"/>
            <ns1:ext cx="0" cy="416848"/>
          </ns1:xfrm>
          <ns1:prstGeom prst="line">
            <ns1:avLst/>
          </ns1:prstGeom>
          <ns1:ln cap="flat" w="38100">
            <ns1:solidFill>
              <ns1:srgbClr val="000000">
                <ns1:alpha val="63922"/>
              </ns1:srgbClr>
            </ns1:solidFill>
            <ns1:prstDash val="solid"/>
            <ns1:headEnd type="none" len="sm" w="sm"/>
            <ns1:tailEnd type="triangle" len="med" w="lg"/>
          </ns1:ln>
        </ns0:spPr>
      </ns0:sp>
      <ns0:sp>
        <ns0:nvSpPr>
          <ns0:cNvPr name="AutoShape 111" id="111"/>
          <ns0:cNvSpPr/>
          <ns0:nvPr/>
        </ns0:nvSpPr>
        <ns0:spPr>
          <ns1:xfrm>
            <ns1:off x="6785946" y="6905738"/>
            <ns1:ext cx="4039981" cy="0"/>
          </ns1:xfrm>
          <ns1:prstGeom prst="line">
            <ns1:avLst/>
          </ns1:prstGeom>
          <ns1:ln cap="flat" w="38100">
            <ns1:solidFill>
              <ns1:srgbClr val="000000"/>
            </ns1:solidFill>
            <ns1:prstDash val="solid"/>
            <ns1:headEnd type="none" len="sm" w="sm"/>
            <ns1:tailEnd type="none" len="sm" w="sm"/>
          </ns1:ln>
        </ns0:spPr>
      </ns0:sp>
      <ns0:sp>
        <ns0:nvSpPr>
          <ns0:cNvPr name="AutoShape 112" id="112"/>
          <ns0:cNvSpPr/>
          <ns0:nvPr/>
        </ns0:nvSpPr>
        <ns0:spPr>
          <ns1:xfrm flipV="true">
            <ns1:off x="8876730" y="6366484"/>
            <ns1:ext cx="0" cy="539253"/>
          </ns1:xfrm>
          <ns1:prstGeom prst="line">
            <ns1:avLst/>
          </ns1:prstGeom>
          <ns1:ln cap="flat" w="38100">
            <ns1:solidFill>
              <ns1:srgbClr val="000000"/>
            </ns1:solidFill>
            <ns1:prstDash val="solid"/>
            <ns1:headEnd type="none" len="sm" w="sm"/>
            <ns1:tailEnd type="none" len="sm" w="sm"/>
          </ns1:ln>
        </ns0:spPr>
      </ns0:sp>
      <ns0:sp>
        <ns0:nvSpPr>
          <ns0:cNvPr name="AutoShape 113" id="113"/>
          <ns0:cNvSpPr/>
          <ns0:nvPr/>
        </ns0:nvSpPr>
        <ns0:spPr>
          <ns1:xfrm>
            <ns1:off x="10806878" y="6882607"/>
            <ns1:ext cx="0" cy="443375"/>
          </ns1:xfrm>
          <ns1:prstGeom prst="line">
            <ns1:avLst/>
          </ns1:prstGeom>
          <ns1:ln cap="flat" w="38100">
            <ns1:solidFill>
              <ns1:srgbClr val="000000">
                <ns1:alpha val="63922"/>
              </ns1:srgbClr>
            </ns1:solidFill>
            <ns1:prstDash val="solid"/>
            <ns1:headEnd type="none" len="sm" w="sm"/>
            <ns1:tailEnd type="triangle" len="med" w="lg"/>
          </ns1:ln>
        </ns0:spPr>
      </ns0:sp>
      <ns0:sp>
        <ns0:nvSpPr>
          <ns0:cNvPr name="AutoShape 114" id="114"/>
          <ns0:cNvSpPr/>
          <ns0:nvPr/>
        </ns0:nvSpPr>
        <ns0:spPr>
          <ns1:xfrm>
            <ns1:off x="6758299" y="6882607"/>
            <ns1:ext cx="0" cy="443375"/>
          </ns1:xfrm>
          <ns1:prstGeom prst="line">
            <ns1:avLst/>
          </ns1:prstGeom>
          <ns1:ln cap="flat" w="38100">
            <ns1:solidFill>
              <ns1:srgbClr val="000000">
                <ns1:alpha val="63922"/>
              </ns1:srgbClr>
            </ns1:solidFill>
            <ns1:prstDash val="solid"/>
            <ns1:headEnd type="none" len="sm" w="sm"/>
            <ns1:tailEnd type="triangle" len="med" w="lg"/>
          </ns1:ln>
        </ns0:spPr>
      </ns0:sp>
      <ns0:grpSp>
        <ns0:nvGrpSpPr>
          <ns0:cNvPr name="Group 115" id="115"/>
          <ns0:cNvGrpSpPr/>
          <ns0:nvPr/>
        </ns0:nvGrpSpPr>
        <ns0:grpSpPr>
          <ns1:xfrm rot="0">
            <ns1:off x="313024" y="1487234"/>
            <ns1:ext cx="6309360" cy="419086"/>
            <ns1:chOff x="0" y="0"/>
            <ns1:chExt cx="8412480" cy="558781"/>
          </ns1:xfrm>
        </ns0:grpSpPr>
        <ns0:sp>
          <ns0:nvSpPr>
            <ns0:cNvPr name="Freeform 116" id="116"/>
            <ns0:cNvSpPr/>
            <ns0:nvPr/>
          </ns0:nvSpPr>
          <ns0:spPr>
            <ns1:xfrm flipH="false" flipV="false" rot="0">
              <ns1:off x="0" y="0"/>
              <ns1:ext cx="8412480" cy="558781"/>
            </ns1:xfrm>
            <ns1:custGeom>
              <ns1:avLst/>
              <ns1:gdLst/>
              <ns1:ahLst/>
              <ns1:cxnLst/>
              <ns1:rect r="r" b="b" t="t" l="l"/>
              <ns1:pathLst>
                <ns1:path h="558781" w="8412480">
                  <ns1:moveTo>
                    <ns1:pt x="0" y="0"/>
                  </ns1:moveTo>
                  <ns1:lnTo>
                    <ns1:pt x="8412480" y="0"/>
                  </ns1:lnTo>
                  <ns1:lnTo>
                    <ns1:pt x="8412480" y="558781"/>
                  </ns1:lnTo>
                  <ns1:lnTo>
                    <ns1:pt x="0" y="558781"/>
                  </ns1:lnTo>
                  <ns1:close/>
                </ns1:path>
              </ns1:pathLst>
            </ns1:custGeom>
            <ns1:blipFill>
              <ns1:blip ns2:embed="rId3">
                <ns1:alphaModFix amt="0"/>
              </ns1:blip>
              <ns1:stretch>
                <ns1:fillRect l="0" t="-244255" r="0" b="-242441"/>
              </ns1:stretch>
            </ns1:blipFill>
          </ns0:spPr>
        </ns0:sp>
        <ns0:sp>
          <ns0:nvSpPr>
            <ns0:cNvPr name="TextBox 117" id="117"/>
            <ns0:cNvSpPr txBox="true"/>
            <ns0:nvPr/>
          </ns0:nvSpPr>
          <ns0:spPr>
            <ns1:xfrm>
              <ns1:off x="0" y="-47625"/>
              <ns1:ext cx="8412480" cy="606406"/>
            </ns1:xfrm>
            <ns1:prstGeom prst="rect">
              <ns1:avLst/>
            </ns1:prstGeom>
          </ns0:spPr>
          <ns0:txBody>
            <ns1:bodyPr anchor="ctr" rtlCol="false" tIns="0" lIns="0" bIns="0" rIns="0"/>
            <ns1:lstStyle/>
            <ns1:p>
              <ns1:pPr algn="l">
                <ns1:lnSpc>
                  <ns1:spcPts val="2549"/>
                </ns1:lnSpc>
              </ns1:pPr>
              <ns1:r>
                <ns1:rPr lang="en-US" sz="2124" b="true">
                  <ns1:solidFill>
                    <ns1:srgbClr val="5B6B82"/>
                  </ns1:solidFill>
                  <ns1:latin typeface="Calibri (MS) Bold"/>
                  <ns1:ea typeface="Calibri (MS) Bold"/>
                  <ns1:cs typeface="Calibri (MS) Bold"/>
                  <ns1:sym typeface="Calibri (MS) Bold"/>
                </ns1:rPr>
                <ns1:t>END-TO-END CITIZEN SERVICE LIFECYCLE</ns1:t>
              </ns1:r>
            </ns1:p>
          </ns0:txBody>
        </ns0:sp>
      </ns0:grpSp>
      <ns0:grpSp>
        <ns0:nvGrpSpPr>
          <ns0:cNvPr name="Group 118" id="118"/>
          <ns0:cNvGrpSpPr/>
          <ns0:nvPr/>
        </ns0:nvGrpSpPr>
        <ns0:grpSpPr>
          <ns1:xfrm rot="0">
            <ns1:off x="161776" y="2091334"/>
            <ns1:ext cx="685800" cy="724320"/>
            <ns1:chOff x="0" y="0"/>
            <ns1:chExt cx="914400" cy="965761"/>
          </ns1:xfrm>
        </ns0:grpSpPr>
        <ns0:sp>
          <ns0:nvSpPr>
            <ns0:cNvPr name="Freeform 119" id="119"/>
            <ns0:cNvSpPr/>
            <ns0:nvPr/>
          </ns0:nvSpPr>
          <ns0:spPr>
            <ns1:xfrm flipH="false" flipV="false" rot="0">
              <ns1:off x="0" y="0"/>
              <ns1:ext cx="914400" cy="965761"/>
            </ns1:xfrm>
            <ns1:custGeom>
              <ns1:avLst/>
              <ns1:gdLst/>
              <ns1:ahLst/>
              <ns1:cxnLst/>
              <ns1:rect r="r" b="b" t="t" l="l"/>
              <ns1:pathLst>
                <ns1:path h="965761" w="914400">
                  <ns1:moveTo>
                    <ns1:pt x="0" y="482880"/>
                  </ns1:moveTo>
                  <ns1:cubicBezTo>
                    <ns1:pt x="0" y="216223"/>
                    <ns1:pt x="204724" y="0"/>
                    <ns1:pt x="457200" y="0"/>
                  </ns1:cubicBezTo>
                  <ns1:cubicBezTo>
                    <ns1:pt x="709676" y="0"/>
                    <ns1:pt x="914400" y="216223"/>
                    <ns1:pt x="914400" y="482880"/>
                  </ns1:cubicBezTo>
                  <ns1:cubicBezTo>
                    <ns1:pt x="914400" y="749538"/>
                    <ns1:pt x="709676" y="965761"/>
                    <ns1:pt x="457200" y="965761"/>
                  </ns1:cubicBezTo>
                  <ns1:cubicBezTo>
                    <ns1:pt x="204724" y="965761"/>
                    <ns1:pt x="0" y="749538"/>
                    <ns1:pt x="0" y="482880"/>
                  </ns1:cubicBezTo>
                  <ns1:close/>
                </ns1:path>
              </ns1:pathLst>
            </ns1:custGeom>
            <ns1:solidFill>
              <ns1:srgbClr val="1C7293"/>
            </ns1:solidFill>
          </ns0:spPr>
        </ns0:sp>
      </ns0:grpSp>
      <ns0:grpSp>
        <ns0:nvGrpSpPr>
          <ns0:cNvPr name="Group 120" id="120"/>
          <ns0:cNvGrpSpPr/>
          <ns0:nvPr/>
        </ns0:nvGrpSpPr>
        <ns0:grpSpPr>
          <ns1:xfrm rot="0">
            <ns1:off x="161776" y="2091334"/>
            <ns1:ext cx="685800" cy="724320"/>
            <ns1:chOff x="0" y="0"/>
            <ns1:chExt cx="914400" cy="965761"/>
          </ns1:xfrm>
        </ns0:grpSpPr>
        <ns0:sp>
          <ns0:nvSpPr>
            <ns0:cNvPr name="Freeform 121" id="121"/>
            <ns0:cNvSpPr/>
            <ns0:nvPr/>
          </ns0:nvSpPr>
          <ns0:spPr>
            <ns1:xfrm flipH="false" flipV="false" rot="0">
              <ns1:off x="0" y="0"/>
              <ns1:ext cx="914400" cy="965761"/>
            </ns1:xfrm>
            <ns1:custGeom>
              <ns1:avLst/>
              <ns1:gdLst/>
              <ns1:ahLst/>
              <ns1:cxnLst/>
              <ns1:rect r="r" b="b" t="t" l="l"/>
              <ns1:pathLst>
                <ns1:path h="965761" w="914400">
                  <ns1:moveTo>
                    <ns1:pt x="0" y="0"/>
                  </ns1:moveTo>
                  <ns1:lnTo>
                    <ns1:pt x="914400" y="0"/>
                  </ns1:lnTo>
                  <ns1:lnTo>
                    <ns1:pt x="914400" y="965761"/>
                  </ns1:lnTo>
                  <ns1:lnTo>
                    <ns1:pt x="0" y="965761"/>
                  </ns1:lnTo>
                  <ns1:close/>
                </ns1:path>
              </ns1:pathLst>
            </ns1:custGeom>
            <ns1:blipFill>
              <ns1:blip ns2:embed="rId3">
                <ns1:alphaModFix amt="0"/>
              </ns1:blip>
              <ns1:stretch>
                <ns1:fillRect l="-78303" t="0" r="-78303" b="5318"/>
              </ns1:stretch>
            </ns1:blipFill>
          </ns0:spPr>
        </ns0:sp>
        <ns0:sp>
          <ns0:nvSpPr>
            <ns0:cNvPr name="TextBox 122" id="122"/>
            <ns0:cNvSpPr txBox="true"/>
            <ns0:nvPr/>
          </ns0:nvSpPr>
          <ns0:spPr>
            <ns1:xfrm>
              <ns1:off x="0" y="-38100"/>
              <ns1:ext cx="914400" cy="1003861"/>
            </ns1:xfrm>
            <ns1:prstGeom prst="rect">
              <ns1:avLst/>
            </ns1:prstGeom>
          </ns0:spPr>
          <ns0:txBody>
            <ns1:bodyPr anchor="ctr" rtlCol="false" tIns="0" lIns="0" bIns="0" rIns="0"/>
            <ns1:lstStyle/>
            <ns1:p>
              <ns1:pPr algn="ctr">
                <ns1:lnSpc>
                  <ns1:spcPts val="2879"/>
                </ns1:lnSpc>
              </ns1:pPr>
              <ns1:r>
                <ns1:rPr lang="en-US" sz="2400" b="true">
                  <ns1:solidFill>
                    <ns1:srgbClr val="FFFFFF"/>
                  </ns1:solidFill>
                  <ns1:latin typeface="Calibri (MS) Bold"/>
                  <ns1:ea typeface="Calibri (MS) Bold"/>
                  <ns1:cs typeface="Calibri (MS) Bold"/>
                  <ns1:sym typeface="Calibri (MS) Bold"/>
                </ns1:rPr>
                <ns1:t>1</ns1:t>
              </ns1:r>
            </ns1:p>
          </ns0:txBody>
        </ns0:sp>
      </ns0:grpSp>
      <ns0:grpSp>
        <ns0:nvGrpSpPr>
          <ns0:cNvPr name="Group 123" id="123"/>
          <ns0:cNvGrpSpPr/>
          <ns0:nvPr/>
        </ns0:nvGrpSpPr>
        <ns0:grpSpPr>
          <ns1:xfrm rot="0">
            <ns1:off x="1094464" y="2047875"/>
            <ns1:ext cx="5349240" cy="405619"/>
            <ns1:chOff x="0" y="0"/>
            <ns1:chExt cx="7132320" cy="540826"/>
          </ns1:xfrm>
        </ns0:grpSpPr>
        <ns0:sp>
          <ns0:nvSpPr>
            <ns0:cNvPr name="Freeform 124" id="124"/>
            <ns0:cNvSpPr/>
            <ns0:nvPr/>
          </ns0:nvSpPr>
          <ns0:spPr>
            <ns1:xfrm flipH="false" flipV="false" rot="0">
              <ns1:off x="0" y="0"/>
              <ns1:ext cx="7132320" cy="540826"/>
            </ns1:xfrm>
            <ns1:custGeom>
              <ns1:avLst/>
              <ns1:gdLst/>
              <ns1:ahLst/>
              <ns1:cxnLst/>
              <ns1:rect r="r" b="b" t="t" l="l"/>
              <ns1:pathLst>
                <ns1:path h="540826" w="7132320">
                  <ns1:moveTo>
                    <ns1:pt x="0" y="0"/>
                  </ns1:moveTo>
                  <ns1:lnTo>
                    <ns1:pt x="7132320" y="0"/>
                  </ns1:lnTo>
                  <ns1:lnTo>
                    <ns1:pt x="7132320" y="540826"/>
                  </ns1:lnTo>
                  <ns1:lnTo>
                    <ns1:pt x="0" y="540826"/>
                  </ns1:lnTo>
                  <ns1:close/>
                </ns1:path>
              </ns1:pathLst>
            </ns1:custGeom>
            <ns1:blipFill>
              <ns1:blip ns2:embed="rId3">
                <ns1:alphaModFix amt="0"/>
              </ns1:blip>
              <ns1:stretch>
                <ns1:fillRect l="0" t="-209624" r="0" b="-204306"/>
              </ns1:stretch>
            </ns1:blipFill>
          </ns0:spPr>
        </ns0:sp>
        <ns0:sp>
          <ns0:nvSpPr>
            <ns0:cNvPr name="TextBox 125" id="125"/>
            <ns0:cNvSpPr txBox="true"/>
            <ns0:nvPr/>
          </ns0:nvSpPr>
          <ns0:spPr>
            <ns1:xfrm>
              <ns1:off x="0" y="-38100"/>
              <ns1:ext cx="7132320" cy="578926"/>
            </ns1:xfrm>
            <ns1:prstGeom prst="rect">
              <ns1:avLst/>
            </ns1:prstGeom>
          </ns0:spPr>
          <ns0:txBody>
            <ns1:bodyPr anchor="ctr" rtlCol="false" tIns="0" lIns="0" bIns="0" rIns="0"/>
            <ns1:lstStyle/>
            <ns1:p>
              <ns1:pPr algn="l">
                <ns1:lnSpc>
                  <ns1:spcPts val="2279"/>
                </ns1:lnSpc>
              </ns1:pPr>
              <ns1:r>
                <ns1:rPr lang="en-US" sz="1899" b="true">
                  <ns1:solidFill>
                    <ns1:srgbClr val="0B2545"/>
                  </ns1:solidFill>
                  <ns1:latin typeface="Calibri (MS) Bold"/>
                  <ns1:ea typeface="Calibri (MS) Bold"/>
                  <ns1:cs typeface="Calibri (MS) Bold"/>
                  <ns1:sym typeface="Calibri (MS) Bold"/>
                </ns1:rPr>
                <ns1:t>National SSO</ns1:t>
              </ns1:r>
            </ns1:p>
          </ns0:txBody>
        </ns0:sp>
      </ns0:grpSp>
      <ns0:grpSp>
        <ns0:nvGrpSpPr>
          <ns0:cNvPr name="Group 126" id="126"/>
          <ns0:cNvGrpSpPr/>
          <ns0:nvPr/>
        </ns0:nvGrpSpPr>
        <ns0:grpSpPr>
          <ns1:xfrm rot="0">
            <ns1:off x="1094464" y="2453494"/>
            <ns1:ext cx="4585861" cy="796753"/>
            <ns1:chOff x="0" y="0"/>
            <ns1:chExt cx="6114481" cy="1062337"/>
          </ns1:xfrm>
        </ns0:grpSpPr>
        <ns0:sp>
          <ns0:nvSpPr>
            <ns0:cNvPr name="Freeform 127" id="127"/>
            <ns0:cNvSpPr/>
            <ns0:nvPr/>
          </ns0:nvSpPr>
          <ns0:spPr>
            <ns1:xfrm flipH="false" flipV="false" rot="0">
              <ns1:off x="0" y="0"/>
              <ns1:ext cx="6114481" cy="1062337"/>
            </ns1:xfrm>
            <ns1:custGeom>
              <ns1:avLst/>
              <ns1:gdLst/>
              <ns1:ahLst/>
              <ns1:cxnLst/>
              <ns1:rect r="r" b="b" t="t" l="l"/>
              <ns1:pathLst>
                <ns1:path h="1062337" w="6114481">
                  <ns1:moveTo>
                    <ns1:pt x="0" y="0"/>
                  </ns1:moveTo>
                  <ns1:lnTo>
                    <ns1:pt x="6114481" y="0"/>
                  </ns1:lnTo>
                  <ns1:lnTo>
                    <ns1:pt x="6114481" y="1062337"/>
                  </ns1:lnTo>
                  <ns1:lnTo>
                    <ns1:pt x="0" y="1062337"/>
                  </ns1:lnTo>
                  <ns1:close/>
                </ns1:path>
              </ns1:pathLst>
            </ns1:custGeom>
            <ns1:blipFill>
              <ns1:blip ns2:embed="rId3">
                <ns1:alphaModFix amt="0"/>
              </ns1:blip>
              <ns1:stretch>
                <ns1:fillRect l="0" t="-83477" r="-16646" b="-78159"/>
              </ns1:stretch>
            </ns1:blipFill>
          </ns0:spPr>
        </ns0:sp>
        <ns0:sp>
          <ns0:nvSpPr>
            <ns0:cNvPr name="TextBox 128" id="128"/>
            <ns0:cNvSpPr txBox="true"/>
            <ns0:nvPr/>
          </ns0:nvSpPr>
          <ns0:spPr>
            <ns1:xfrm>
              <ns1:off x="0" y="-57150"/>
              <ns1:ext cx="6114481" cy="1119487"/>
            </ns1:xfrm>
            <ns1:prstGeom prst="rect">
              <ns1:avLst/>
            </ns1:prstGeom>
          </ns0:spPr>
          <ns0:txBody>
            <ns1:bodyPr anchor="ctr" rtlCol="false" tIns="0" lIns="0" bIns="0" rIns="0"/>
            <ns1:lstStyle/>
            <ns1:p>
              <ns1:pPr algn="l">
                <ns1:lnSpc>
                  <ns1:spcPts val="2204"/>
                </ns1:lnSpc>
              </ns1:pPr>
              <ns1:r>
                <ns1:rPr lang="en-US" sz="1749">
                  <ns1:solidFill>
                    <ns1:srgbClr val="15263B"/>
                  </ns1:solidFill>
                  <ns1:latin typeface="Calibri (MS)"/>
                  <ns1:ea typeface="Calibri (MS)"/>
                  <ns1:cs typeface="Calibri (MS)"/>
                  <ns1:sym typeface="Calibri (MS)"/>
                </ns1:rPr>
                <ns1:t>Citizen authenticates via Meri Pehchaan (Jan Parichay) with Aadhaar OTP.</ns1:t>
              </ns1:r>
            </ns1:p>
          </ns0:txBody>
        </ns0:sp>
      </ns0:grpSp>
      <ns0:sp>
        <ns0:nvSpPr>
          <ns0:cNvPr name="AutoShape 129" id="129"/>
          <ns0:cNvSpPr/>
          <ns0:nvPr/>
        </ns0:nvSpPr>
        <ns0:spPr>
          <ns1:xfrm>
            <ns1:off x="490392" y="2800564"/>
            <ns1:ext cx="28578" cy="638611"/>
          </ns1:xfrm>
          <ns1:prstGeom prst="line">
            <ns1:avLst/>
          </ns1:prstGeom>
          <ns1:ln cap="rnd" w="19050">
            <ns1:solidFill>
              <ns1:srgbClr val="C3CEDD"/>
            </ns1:solidFill>
            <ns1:prstDash val="solid"/>
            <ns1:headEnd type="none" len="sm" w="sm"/>
            <ns1:tailEnd type="none" len="sm" w="sm"/>
          </ns1:ln>
        </ns0:spPr>
      </ns0:sp>
      <ns0:grpSp>
        <ns0:nvGrpSpPr>
          <ns0:cNvPr name="Group 130" id="130"/>
          <ns0:cNvGrpSpPr/>
          <ns0:nvPr/>
        </ns0:nvGrpSpPr>
        <ns0:grpSpPr>
          <ns1:xfrm rot="0">
            <ns1:off x="161776" y="3511002"/>
            <ns1:ext cx="685800" cy="724320"/>
            <ns1:chOff x="0" y="0"/>
            <ns1:chExt cx="914400" cy="965761"/>
          </ns1:xfrm>
        </ns0:grpSpPr>
        <ns0:sp>
          <ns0:nvSpPr>
            <ns0:cNvPr name="Freeform 131" id="131"/>
            <ns0:cNvSpPr/>
            <ns0:nvPr/>
          </ns0:nvSpPr>
          <ns0:spPr>
            <ns1:xfrm flipH="false" flipV="false" rot="0">
              <ns1:off x="0" y="0"/>
              <ns1:ext cx="914400" cy="965761"/>
            </ns1:xfrm>
            <ns1:custGeom>
              <ns1:avLst/>
              <ns1:gdLst/>
              <ns1:ahLst/>
              <ns1:cxnLst/>
              <ns1:rect r="r" b="b" t="t" l="l"/>
              <ns1:pathLst>
                <ns1:path h="965761" w="914400">
                  <ns1:moveTo>
                    <ns1:pt x="0" y="482880"/>
                  </ns1:moveTo>
                  <ns1:cubicBezTo>
                    <ns1:pt x="0" y="216223"/>
                    <ns1:pt x="204724" y="0"/>
                    <ns1:pt x="457200" y="0"/>
                  </ns1:cubicBezTo>
                  <ns1:cubicBezTo>
                    <ns1:pt x="709676" y="0"/>
                    <ns1:pt x="914400" y="216223"/>
                    <ns1:pt x="914400" y="482880"/>
                  </ns1:cubicBezTo>
                  <ns1:cubicBezTo>
                    <ns1:pt x="914400" y="749538"/>
                    <ns1:pt x="709676" y="965761"/>
                    <ns1:pt x="457200" y="965761"/>
                  </ns1:cubicBezTo>
                  <ns1:cubicBezTo>
                    <ns1:pt x="204724" y="965761"/>
                    <ns1:pt x="0" y="749538"/>
                    <ns1:pt x="0" y="482880"/>
                  </ns1:cubicBezTo>
                  <ns1:close/>
                </ns1:path>
              </ns1:pathLst>
            </ns1:custGeom>
            <ns1:solidFill>
              <ns1:srgbClr val="0B2545"/>
            </ns1:solidFill>
          </ns0:spPr>
        </ns0:sp>
      </ns0:grpSp>
      <ns0:grpSp>
        <ns0:nvGrpSpPr>
          <ns0:cNvPr name="Group 132" id="132"/>
          <ns0:cNvGrpSpPr/>
          <ns0:nvPr/>
        </ns0:nvGrpSpPr>
        <ns0:grpSpPr>
          <ns1:xfrm rot="0">
            <ns1:off x="161776" y="3511002"/>
            <ns1:ext cx="685800" cy="724320"/>
            <ns1:chOff x="0" y="0"/>
            <ns1:chExt cx="914400" cy="965761"/>
          </ns1:xfrm>
        </ns0:grpSpPr>
        <ns0:sp>
          <ns0:nvSpPr>
            <ns0:cNvPr name="Freeform 133" id="133"/>
            <ns0:cNvSpPr/>
            <ns0:nvPr/>
          </ns0:nvSpPr>
          <ns0:spPr>
            <ns1:xfrm flipH="false" flipV="false" rot="0">
              <ns1:off x="0" y="0"/>
              <ns1:ext cx="914400" cy="965761"/>
            </ns1:xfrm>
            <ns1:custGeom>
              <ns1:avLst/>
              <ns1:gdLst/>
              <ns1:ahLst/>
              <ns1:cxnLst/>
              <ns1:rect r="r" b="b" t="t" l="l"/>
              <ns1:pathLst>
                <ns1:path h="965761" w="914400">
                  <ns1:moveTo>
                    <ns1:pt x="0" y="0"/>
                  </ns1:moveTo>
                  <ns1:lnTo>
                    <ns1:pt x="914400" y="0"/>
                  </ns1:lnTo>
                  <ns1:lnTo>
                    <ns1:pt x="914400" y="965761"/>
                  </ns1:lnTo>
                  <ns1:lnTo>
                    <ns1:pt x="0" y="965761"/>
                  </ns1:lnTo>
                  <ns1:close/>
                </ns1:path>
              </ns1:pathLst>
            </ns1:custGeom>
            <ns1:blipFill>
              <ns1:blip ns2:embed="rId3">
                <ns1:alphaModFix amt="0"/>
              </ns1:blip>
              <ns1:stretch>
                <ns1:fillRect l="-78303" t="0" r="-78303" b="5318"/>
              </ns1:stretch>
            </ns1:blipFill>
          </ns0:spPr>
        </ns0:sp>
        <ns0:sp>
          <ns0:nvSpPr>
            <ns0:cNvPr name="TextBox 134" id="134"/>
            <ns0:cNvSpPr txBox="true"/>
            <ns0:nvPr/>
          </ns0:nvSpPr>
          <ns0:spPr>
            <ns1:xfrm>
              <ns1:off x="0" y="-38100"/>
              <ns1:ext cx="914400" cy="1003861"/>
            </ns1:xfrm>
            <ns1:prstGeom prst="rect">
              <ns1:avLst/>
            </ns1:prstGeom>
          </ns0:spPr>
          <ns0:txBody>
            <ns1:bodyPr anchor="ctr" rtlCol="false" tIns="0" lIns="0" bIns="0" rIns="0"/>
            <ns1:lstStyle/>
            <ns1:p>
              <ns1:pPr algn="ctr">
                <ns1:lnSpc>
                  <ns1:spcPts val="2879"/>
                </ns1:lnSpc>
              </ns1:pPr>
              <ns1:r>
                <ns1:rPr lang="en-US" sz="2400" b="true">
                  <ns1:solidFill>
                    <ns1:srgbClr val="FFFFFF"/>
                  </ns1:solidFill>
                  <ns1:latin typeface="Calibri (MS) Bold"/>
                  <ns1:ea typeface="Calibri (MS) Bold"/>
                  <ns1:cs typeface="Calibri (MS) Bold"/>
                  <ns1:sym typeface="Calibri (MS) Bold"/>
                </ns1:rPr>
                <ns1:t>2</ns1:t>
              </ns1:r>
            </ns1:p>
          </ns0:txBody>
        </ns0:sp>
      </ns0:grpSp>
      <ns0:grpSp>
        <ns0:nvGrpSpPr>
          <ns0:cNvPr name="Group 135" id="135"/>
          <ns0:cNvGrpSpPr/>
          <ns0:nvPr/>
        </ns0:nvGrpSpPr>
        <ns0:grpSpPr>
          <ns1:xfrm rot="0">
            <ns1:off x="1094464" y="3467543"/>
            <ns1:ext cx="5349240" cy="405619"/>
            <ns1:chOff x="0" y="0"/>
            <ns1:chExt cx="7132320" cy="540826"/>
          </ns1:xfrm>
        </ns0:grpSpPr>
        <ns0:sp>
          <ns0:nvSpPr>
            <ns0:cNvPr name="Freeform 136" id="136"/>
            <ns0:cNvSpPr/>
            <ns0:nvPr/>
          </ns0:nvSpPr>
          <ns0:spPr>
            <ns1:xfrm flipH="false" flipV="false" rot="0">
              <ns1:off x="0" y="0"/>
              <ns1:ext cx="7132320" cy="540826"/>
            </ns1:xfrm>
            <ns1:custGeom>
              <ns1:avLst/>
              <ns1:gdLst/>
              <ns1:ahLst/>
              <ns1:cxnLst/>
              <ns1:rect r="r" b="b" t="t" l="l"/>
              <ns1:pathLst>
                <ns1:path h="540826" w="7132320">
                  <ns1:moveTo>
                    <ns1:pt x="0" y="0"/>
                  </ns1:moveTo>
                  <ns1:lnTo>
                    <ns1:pt x="7132320" y="0"/>
                  </ns1:lnTo>
                  <ns1:lnTo>
                    <ns1:pt x="7132320" y="540826"/>
                  </ns1:lnTo>
                  <ns1:lnTo>
                    <ns1:pt x="0" y="540826"/>
                  </ns1:lnTo>
                  <ns1:close/>
                </ns1:path>
              </ns1:pathLst>
            </ns1:custGeom>
            <ns1:blipFill>
              <ns1:blip ns2:embed="rId3">
                <ns1:alphaModFix amt="0"/>
              </ns1:blip>
              <ns1:stretch>
                <ns1:fillRect l="0" t="-209624" r="0" b="-204306"/>
              </ns1:stretch>
            </ns1:blipFill>
          </ns0:spPr>
        </ns0:sp>
        <ns0:sp>
          <ns0:nvSpPr>
            <ns0:cNvPr name="TextBox 137" id="137"/>
            <ns0:cNvSpPr txBox="true"/>
            <ns0:nvPr/>
          </ns0:nvSpPr>
          <ns0:spPr>
            <ns1:xfrm>
              <ns1:off x="0" y="-38100"/>
              <ns1:ext cx="7132320" cy="578926"/>
            </ns1:xfrm>
            <ns1:prstGeom prst="rect">
              <ns1:avLst/>
            </ns1:prstGeom>
          </ns0:spPr>
          <ns0:txBody>
            <ns1:bodyPr anchor="ctr" rtlCol="false" tIns="0" lIns="0" bIns="0" rIns="0"/>
            <ns1:lstStyle/>
            <ns1:p>
              <ns1:pPr algn="l">
                <ns1:lnSpc>
                  <ns1:spcPts val="2279"/>
                </ns1:lnSpc>
              </ns1:pPr>
              <ns1:r>
                <ns1:rPr lang="en-US" sz="1899" b="true">
                  <ns1:solidFill>
                    <ns1:srgbClr val="0B2545"/>
                  </ns1:solidFill>
                  <ns1:latin typeface="Calibri (MS) Bold"/>
                  <ns1:ea typeface="Calibri (MS) Bold"/>
                  <ns1:cs typeface="Calibri (MS) Bold"/>
                  <ns1:sym typeface="Calibri (MS) Bold"/>
                </ns1:rPr>
                <ns1:t>Statutory Mapping</ns1:t>
              </ns1:r>
            </ns1:p>
          </ns0:txBody>
        </ns0:sp>
      </ns0:grpSp>
      <ns0:grpSp>
        <ns0:nvGrpSpPr>
          <ns0:cNvPr name="Group 138" id="138"/>
          <ns0:cNvGrpSpPr/>
          <ns0:nvPr/>
        </ns0:nvGrpSpPr>
        <ns0:grpSpPr>
          <ns1:xfrm rot="0">
            <ns1:off x="1094464" y="3873163"/>
            <ns1:ext cx="4585861" cy="796753"/>
            <ns1:chOff x="0" y="0"/>
            <ns1:chExt cx="6114481" cy="1062337"/>
          </ns1:xfrm>
        </ns0:grpSpPr>
        <ns0:sp>
          <ns0:nvSpPr>
            <ns0:cNvPr name="Freeform 139" id="139"/>
            <ns0:cNvSpPr/>
            <ns0:nvPr/>
          </ns0:nvSpPr>
          <ns0:spPr>
            <ns1:xfrm flipH="false" flipV="false" rot="0">
              <ns1:off x="0" y="0"/>
              <ns1:ext cx="6114481" cy="1062337"/>
            </ns1:xfrm>
            <ns1:custGeom>
              <ns1:avLst/>
              <ns1:gdLst/>
              <ns1:ahLst/>
              <ns1:cxnLst/>
              <ns1:rect r="r" b="b" t="t" l="l"/>
              <ns1:pathLst>
                <ns1:path h="1062337" w="6114481">
                  <ns1:moveTo>
                    <ns1:pt x="0" y="0"/>
                  </ns1:moveTo>
                  <ns1:lnTo>
                    <ns1:pt x="6114481" y="0"/>
                  </ns1:lnTo>
                  <ns1:lnTo>
                    <ns1:pt x="6114481" y="1062337"/>
                  </ns1:lnTo>
                  <ns1:lnTo>
                    <ns1:pt x="0" y="1062337"/>
                  </ns1:lnTo>
                  <ns1:close/>
                </ns1:path>
              </ns1:pathLst>
            </ns1:custGeom>
            <ns1:blipFill>
              <ns1:blip ns2:embed="rId3">
                <ns1:alphaModFix amt="0"/>
              </ns1:blip>
              <ns1:stretch>
                <ns1:fillRect l="0" t="-83477" r="-16646" b="-78159"/>
              </ns1:stretch>
            </ns1:blipFill>
          </ns0:spPr>
        </ns0:sp>
        <ns0:sp>
          <ns0:nvSpPr>
            <ns0:cNvPr name="TextBox 140" id="140"/>
            <ns0:cNvSpPr txBox="true"/>
            <ns0:nvPr/>
          </ns0:nvSpPr>
          <ns0:spPr>
            <ns1:xfrm>
              <ns1:off x="0" y="-57150"/>
              <ns1:ext cx="6114481" cy="1119487"/>
            </ns1:xfrm>
            <ns1:prstGeom prst="rect">
              <ns1:avLst/>
            </ns1:prstGeom>
          </ns0:spPr>
          <ns0:txBody>
            <ns1:bodyPr anchor="ctr" rtlCol="false" tIns="0" lIns="0" bIns="0" rIns="0"/>
            <ns1:lstStyle/>
            <ns1:p>
              <ns1:pPr algn="l">
                <ns1:lnSpc>
                  <ns1:spcPts val="2204"/>
                </ns1:lnSpc>
              </ns1:pPr>
              <ns1:r>
                <ns1:rPr lang="en-US" sz="1749">
                  <ns1:solidFill>
                    <ns1:srgbClr val="15263B"/>
                  </ns1:solidFill>
                  <ns1:latin typeface="Calibri (MS)"/>
                  <ns1:ea typeface="Calibri (MS)"/>
                  <ns1:cs typeface="Calibri (MS)"/>
                  <ns1:sym typeface="Calibri (MS)"/>
                </ns1:rPr>
                <ns1:t>Citizen selects service (e.g. Income Certificate); engine maps 7/12 &amp; Vahan proofs.</ns1:t>
              </ns1:r>
            </ns1:p>
          </ns0:txBody>
        </ns0:sp>
      </ns0:grpSp>
      <ns0:sp>
        <ns0:nvSpPr>
          <ns0:cNvPr name="AutoShape 141" id="141"/>
          <ns0:cNvSpPr/>
          <ns0:nvPr/>
        </ns0:nvSpPr>
        <ns0:spPr>
          <ns1:xfrm>
            <ns1:off x="490392" y="4220232"/>
            <ns1:ext cx="28578" cy="638611"/>
          </ns1:xfrm>
          <ns1:prstGeom prst="line">
            <ns1:avLst/>
          </ns1:prstGeom>
          <ns1:ln cap="rnd" w="19050">
            <ns1:solidFill>
              <ns1:srgbClr val="C3CEDD"/>
            </ns1:solidFill>
            <ns1:prstDash val="solid"/>
            <ns1:headEnd type="none" len="sm" w="sm"/>
            <ns1:tailEnd type="none" len="sm" w="sm"/>
          </ns1:ln>
        </ns0:spPr>
      </ns0:sp>
      <ns0:grpSp>
        <ns0:nvGrpSpPr>
          <ns0:cNvPr name="Group 142" id="142"/>
          <ns0:cNvGrpSpPr/>
          <ns0:nvPr/>
        </ns0:nvGrpSpPr>
        <ns0:grpSpPr>
          <ns1:xfrm rot="0">
            <ns1:off x="161776" y="4930671"/>
            <ns1:ext cx="685800" cy="724320"/>
            <ns1:chOff x="0" y="0"/>
            <ns1:chExt cx="914400" cy="965761"/>
          </ns1:xfrm>
        </ns0:grpSpPr>
        <ns0:sp>
          <ns0:nvSpPr>
            <ns0:cNvPr name="Freeform 143" id="143"/>
            <ns0:cNvSpPr/>
            <ns0:nvPr/>
          </ns0:nvSpPr>
          <ns0:spPr>
            <ns1:xfrm flipH="false" flipV="false" rot="0">
              <ns1:off x="0" y="0"/>
              <ns1:ext cx="914400" cy="965761"/>
            </ns1:xfrm>
            <ns1:custGeom>
              <ns1:avLst/>
              <ns1:gdLst/>
              <ns1:ahLst/>
              <ns1:cxnLst/>
              <ns1:rect r="r" b="b" t="t" l="l"/>
              <ns1:pathLst>
                <ns1:path h="965761" w="914400">
                  <ns1:moveTo>
                    <ns1:pt x="0" y="482880"/>
                  </ns1:moveTo>
                  <ns1:cubicBezTo>
                    <ns1:pt x="0" y="216223"/>
                    <ns1:pt x="204724" y="0"/>
                    <ns1:pt x="457200" y="0"/>
                  </ns1:cubicBezTo>
                  <ns1:cubicBezTo>
                    <ns1:pt x="709676" y="0"/>
                    <ns1:pt x="914400" y="216223"/>
                    <ns1:pt x="914400" y="482880"/>
                  </ns1:cubicBezTo>
                  <ns1:cubicBezTo>
                    <ns1:pt x="914400" y="749538"/>
                    <ns1:pt x="709676" y="965761"/>
                    <ns1:pt x="457200" y="965761"/>
                  </ns1:cubicBezTo>
                  <ns1:cubicBezTo>
                    <ns1:pt x="204724" y="965761"/>
                    <ns1:pt x="0" y="749538"/>
                    <ns1:pt x="0" y="482880"/>
                  </ns1:cubicBezTo>
                  <ns1:close/>
                </ns1:path>
              </ns1:pathLst>
            </ns1:custGeom>
            <ns1:solidFill>
              <ns1:srgbClr val="D98E04"/>
            </ns1:solidFill>
          </ns0:spPr>
        </ns0:sp>
      </ns0:grpSp>
      <ns0:grpSp>
        <ns0:nvGrpSpPr>
          <ns0:cNvPr name="Group 144" id="144"/>
          <ns0:cNvGrpSpPr/>
          <ns0:nvPr/>
        </ns0:nvGrpSpPr>
        <ns0:grpSpPr>
          <ns1:xfrm rot="0">
            <ns1:off x="161776" y="4930671"/>
            <ns1:ext cx="685800" cy="724320"/>
            <ns1:chOff x="0" y="0"/>
            <ns1:chExt cx="914400" cy="965761"/>
          </ns1:xfrm>
        </ns0:grpSpPr>
        <ns0:sp>
          <ns0:nvSpPr>
            <ns0:cNvPr name="Freeform 145" id="145"/>
            <ns0:cNvSpPr/>
            <ns0:nvPr/>
          </ns0:nvSpPr>
          <ns0:spPr>
            <ns1:xfrm flipH="false" flipV="false" rot="0">
              <ns1:off x="0" y="0"/>
              <ns1:ext cx="914400" cy="965761"/>
            </ns1:xfrm>
            <ns1:custGeom>
              <ns1:avLst/>
              <ns1:gdLst/>
              <ns1:ahLst/>
              <ns1:cxnLst/>
              <ns1:rect r="r" b="b" t="t" l="l"/>
              <ns1:pathLst>
                <ns1:path h="965761" w="914400">
                  <ns1:moveTo>
                    <ns1:pt x="0" y="0"/>
                  </ns1:moveTo>
                  <ns1:lnTo>
                    <ns1:pt x="914400" y="0"/>
                  </ns1:lnTo>
                  <ns1:lnTo>
                    <ns1:pt x="914400" y="965761"/>
                  </ns1:lnTo>
                  <ns1:lnTo>
                    <ns1:pt x="0" y="965761"/>
                  </ns1:lnTo>
                  <ns1:close/>
                </ns1:path>
              </ns1:pathLst>
            </ns1:custGeom>
            <ns1:blipFill>
              <ns1:blip ns2:embed="rId3">
                <ns1:alphaModFix amt="0"/>
              </ns1:blip>
              <ns1:stretch>
                <ns1:fillRect l="-78303" t="0" r="-78303" b="5318"/>
              </ns1:stretch>
            </ns1:blipFill>
          </ns0:spPr>
        </ns0:sp>
        <ns0:sp>
          <ns0:nvSpPr>
            <ns0:cNvPr name="TextBox 146" id="146"/>
            <ns0:cNvSpPr txBox="true"/>
            <ns0:nvPr/>
          </ns0:nvSpPr>
          <ns0:spPr>
            <ns1:xfrm>
              <ns1:off x="0" y="-38100"/>
              <ns1:ext cx="914400" cy="1003861"/>
            </ns1:xfrm>
            <ns1:prstGeom prst="rect">
              <ns1:avLst/>
            </ns1:prstGeom>
          </ns0:spPr>
          <ns0:txBody>
            <ns1:bodyPr anchor="ctr" rtlCol="false" tIns="0" lIns="0" bIns="0" rIns="0"/>
            <ns1:lstStyle/>
            <ns1:p>
              <ns1:pPr algn="ctr">
                <ns1:lnSpc>
                  <ns1:spcPts val="2879"/>
                </ns1:lnSpc>
              </ns1:pPr>
              <ns1:r>
                <ns1:rPr lang="en-US" sz="2400" b="true">
                  <ns1:solidFill>
                    <ns1:srgbClr val="FFFFFF"/>
                  </ns1:solidFill>
                  <ns1:latin typeface="Calibri (MS) Bold"/>
                  <ns1:ea typeface="Calibri (MS) Bold"/>
                  <ns1:cs typeface="Calibri (MS) Bold"/>
                  <ns1:sym typeface="Calibri (MS) Bold"/>
                </ns1:rPr>
                <ns1:t>3</ns1:t>
              </ns1:r>
            </ns1:p>
          </ns0:txBody>
        </ns0:sp>
      </ns0:grpSp>
      <ns0:grpSp>
        <ns0:nvGrpSpPr>
          <ns0:cNvPr name="Group 147" id="147"/>
          <ns0:cNvGrpSpPr/>
          <ns0:nvPr/>
        </ns0:nvGrpSpPr>
        <ns0:grpSpPr>
          <ns1:xfrm rot="0">
            <ns1:off x="1094464" y="4887211"/>
            <ns1:ext cx="5349240" cy="405619"/>
            <ns1:chOff x="0" y="0"/>
            <ns1:chExt cx="7132320" cy="540826"/>
          </ns1:xfrm>
        </ns0:grpSpPr>
        <ns0:sp>
          <ns0:nvSpPr>
            <ns0:cNvPr name="Freeform 148" id="148"/>
            <ns0:cNvSpPr/>
            <ns0:nvPr/>
          </ns0:nvSpPr>
          <ns0:spPr>
            <ns1:xfrm flipH="false" flipV="false" rot="0">
              <ns1:off x="0" y="0"/>
              <ns1:ext cx="7132320" cy="540826"/>
            </ns1:xfrm>
            <ns1:custGeom>
              <ns1:avLst/>
              <ns1:gdLst/>
              <ns1:ahLst/>
              <ns1:cxnLst/>
              <ns1:rect r="r" b="b" t="t" l="l"/>
              <ns1:pathLst>
                <ns1:path h="540826" w="7132320">
                  <ns1:moveTo>
                    <ns1:pt x="0" y="0"/>
                  </ns1:moveTo>
                  <ns1:lnTo>
                    <ns1:pt x="7132320" y="0"/>
                  </ns1:lnTo>
                  <ns1:lnTo>
                    <ns1:pt x="7132320" y="540826"/>
                  </ns1:lnTo>
                  <ns1:lnTo>
                    <ns1:pt x="0" y="540826"/>
                  </ns1:lnTo>
                  <ns1:close/>
                </ns1:path>
              </ns1:pathLst>
            </ns1:custGeom>
            <ns1:blipFill>
              <ns1:blip ns2:embed="rId3">
                <ns1:alphaModFix amt="0"/>
              </ns1:blip>
              <ns1:stretch>
                <ns1:fillRect l="0" t="-209624" r="0" b="-204306"/>
              </ns1:stretch>
            </ns1:blipFill>
          </ns0:spPr>
        </ns0:sp>
        <ns0:sp>
          <ns0:nvSpPr>
            <ns0:cNvPr name="TextBox 149" id="149"/>
            <ns0:cNvSpPr txBox="true"/>
            <ns0:nvPr/>
          </ns0:nvSpPr>
          <ns0:spPr>
            <ns1:xfrm>
              <ns1:off x="0" y="-38100"/>
              <ns1:ext cx="7132320" cy="578926"/>
            </ns1:xfrm>
            <ns1:prstGeom prst="rect">
              <ns1:avLst/>
            </ns1:prstGeom>
          </ns0:spPr>
          <ns0:txBody>
            <ns1:bodyPr anchor="ctr" rtlCol="false" tIns="0" lIns="0" bIns="0" rIns="0"/>
            <ns1:lstStyle/>
            <ns1:p>
              <ns1:pPr algn="l">
                <ns1:lnSpc>
                  <ns1:spcPts val="2279"/>
                </ns1:lnSpc>
              </ns1:pPr>
              <ns1:r>
                <ns1:rPr lang="en-US" sz="1899" b="true">
                  <ns1:solidFill>
                    <ns1:srgbClr val="0B2545"/>
                  </ns1:solidFill>
                  <ns1:latin typeface="Calibri (MS) Bold"/>
                  <ns1:ea typeface="Calibri (MS) Bold"/>
                  <ns1:cs typeface="Calibri (MS) Bold"/>
                  <ns1:sym typeface="Calibri (MS) Bold"/>
                </ns1:rPr>
                <ns1:t>DEPA Consent</ns1:t>
              </ns1:r>
            </ns1:p>
          </ns0:txBody>
        </ns0:sp>
      </ns0:grpSp>
      <ns0:grpSp>
        <ns0:nvGrpSpPr>
          <ns0:cNvPr name="Group 150" id="150"/>
          <ns0:cNvGrpSpPr/>
          <ns0:nvPr/>
        </ns0:nvGrpSpPr>
        <ns0:grpSpPr>
          <ns1:xfrm rot="0">
            <ns1:off x="1094464" y="5292831"/>
            <ns1:ext cx="4585861" cy="796753"/>
            <ns1:chOff x="0" y="0"/>
            <ns1:chExt cx="6114481" cy="1062337"/>
          </ns1:xfrm>
        </ns0:grpSpPr>
        <ns0:sp>
          <ns0:nvSpPr>
            <ns0:cNvPr name="Freeform 151" id="151"/>
            <ns0:cNvSpPr/>
            <ns0:nvPr/>
          </ns0:nvSpPr>
          <ns0:spPr>
            <ns1:xfrm flipH="false" flipV="false" rot="0">
              <ns1:off x="0" y="0"/>
              <ns1:ext cx="6114481" cy="1062337"/>
            </ns1:xfrm>
            <ns1:custGeom>
              <ns1:avLst/>
              <ns1:gdLst/>
              <ns1:ahLst/>
              <ns1:cxnLst/>
              <ns1:rect r="r" b="b" t="t" l="l"/>
              <ns1:pathLst>
                <ns1:path h="1062337" w="6114481">
                  <ns1:moveTo>
                    <ns1:pt x="0" y="0"/>
                  </ns1:moveTo>
                  <ns1:lnTo>
                    <ns1:pt x="6114481" y="0"/>
                  </ns1:lnTo>
                  <ns1:lnTo>
                    <ns1:pt x="6114481" y="1062337"/>
                  </ns1:lnTo>
                  <ns1:lnTo>
                    <ns1:pt x="0" y="1062337"/>
                  </ns1:lnTo>
                  <ns1:close/>
                </ns1:path>
              </ns1:pathLst>
            </ns1:custGeom>
            <ns1:blipFill>
              <ns1:blip ns2:embed="rId3">
                <ns1:alphaModFix amt="0"/>
              </ns1:blip>
              <ns1:stretch>
                <ns1:fillRect l="0" t="-83477" r="-16646" b="-78159"/>
              </ns1:stretch>
            </ns1:blipFill>
          </ns0:spPr>
        </ns0:sp>
        <ns0:sp>
          <ns0:nvSpPr>
            <ns0:cNvPr name="TextBox 152" id="152"/>
            <ns0:cNvSpPr txBox="true"/>
            <ns0:nvPr/>
          </ns0:nvSpPr>
          <ns0:spPr>
            <ns1:xfrm>
              <ns1:off x="0" y="-57150"/>
              <ns1:ext cx="6114481" cy="1119487"/>
            </ns1:xfrm>
            <ns1:prstGeom prst="rect">
              <ns1:avLst/>
            </ns1:prstGeom>
          </ns0:spPr>
          <ns0:txBody>
            <ns1:bodyPr anchor="ctr" rtlCol="false" tIns="0" lIns="0" bIns="0" rIns="0"/>
            <ns1:lstStyle/>
            <ns1:p>
              <ns1:pPr algn="l">
                <ns1:lnSpc>
                  <ns1:spcPts val="2204"/>
                </ns1:lnSpc>
              </ns1:pPr>
              <ns1:r>
                <ns1:rPr lang="en-US" sz="1749">
                  <ns1:solidFill>
                    <ns1:srgbClr val="15263B"/>
                  </ns1:solidFill>
                  <ns1:latin typeface="Calibri (MS)"/>
                  <ns1:ea typeface="Calibri (MS)"/>
                  <ns1:cs typeface="Calibri (MS)"/>
                  <ns1:sym typeface="Calibri (MS)"/>
                </ns1:rPr>
                <ns1:t>DEPA Consent Manager renders purpose, participating departments, and 15-min TTL per DPDP Act.</ns1:t>
              </ns1:r>
            </ns1:p>
          </ns0:txBody>
        </ns0:sp>
      </ns0:grpSp>
      <ns0:sp>
        <ns0:nvSpPr>
          <ns0:cNvPr name="AutoShape 153" id="153"/>
          <ns0:cNvSpPr/>
          <ns0:nvPr/>
        </ns0:nvSpPr>
        <ns0:spPr>
          <ns1:xfrm>
            <ns1:off x="490392" y="5639900"/>
            <ns1:ext cx="28578" cy="638611"/>
          </ns1:xfrm>
          <ns1:prstGeom prst="line">
            <ns1:avLst/>
          </ns1:prstGeom>
          <ns1:ln cap="rnd" w="19050">
            <ns1:solidFill>
              <ns1:srgbClr val="C3CEDD"/>
            </ns1:solidFill>
            <ns1:prstDash val="solid"/>
            <ns1:headEnd type="none" len="sm" w="sm"/>
            <ns1:tailEnd type="none" len="sm" w="sm"/>
          </ns1:ln>
        </ns0:spPr>
      </ns0:sp>
      <ns0:grpSp>
        <ns0:nvGrpSpPr>
          <ns0:cNvPr name="Group 154" id="154"/>
          <ns0:cNvGrpSpPr/>
          <ns0:nvPr/>
        </ns0:nvGrpSpPr>
        <ns0:grpSpPr>
          <ns1:xfrm rot="0">
            <ns1:off x="161776" y="6350339"/>
            <ns1:ext cx="685800" cy="724320"/>
            <ns1:chOff x="0" y="0"/>
            <ns1:chExt cx="914400" cy="965761"/>
          </ns1:xfrm>
        </ns0:grpSpPr>
        <ns0:sp>
          <ns0:nvSpPr>
            <ns0:cNvPr name="Freeform 155" id="155"/>
            <ns0:cNvSpPr/>
            <ns0:nvPr/>
          </ns0:nvSpPr>
          <ns0:spPr>
            <ns1:xfrm flipH="false" flipV="false" rot="0">
              <ns1:off x="0" y="0"/>
              <ns1:ext cx="914400" cy="965761"/>
            </ns1:xfrm>
            <ns1:custGeom>
              <ns1:avLst/>
              <ns1:gdLst/>
              <ns1:ahLst/>
              <ns1:cxnLst/>
              <ns1:rect r="r" b="b" t="t" l="l"/>
              <ns1:pathLst>
                <ns1:path h="965761" w="914400">
                  <ns1:moveTo>
                    <ns1:pt x="0" y="482880"/>
                  </ns1:moveTo>
                  <ns1:cubicBezTo>
                    <ns1:pt x="0" y="216223"/>
                    <ns1:pt x="204724" y="0"/>
                    <ns1:pt x="457200" y="0"/>
                  </ns1:cubicBezTo>
                  <ns1:cubicBezTo>
                    <ns1:pt x="709676" y="0"/>
                    <ns1:pt x="914400" y="216223"/>
                    <ns1:pt x="914400" y="482880"/>
                  </ns1:cubicBezTo>
                  <ns1:cubicBezTo>
                    <ns1:pt x="914400" y="749538"/>
                    <ns1:pt x="709676" y="965761"/>
                    <ns1:pt x="457200" y="965761"/>
                  </ns1:cubicBezTo>
                  <ns1:cubicBezTo>
                    <ns1:pt x="204724" y="965761"/>
                    <ns1:pt x="0" y="749538"/>
                    <ns1:pt x="0" y="482880"/>
                  </ns1:cubicBezTo>
                  <ns1:close/>
                </ns1:path>
              </ns1:pathLst>
            </ns1:custGeom>
            <ns1:solidFill>
              <ns1:srgbClr val="1C7293"/>
            </ns1:solidFill>
          </ns0:spPr>
        </ns0:sp>
      </ns0:grpSp>
      <ns0:grpSp>
        <ns0:nvGrpSpPr>
          <ns0:cNvPr name="Group 156" id="156"/>
          <ns0:cNvGrpSpPr/>
          <ns0:nvPr/>
        </ns0:nvGrpSpPr>
        <ns0:grpSpPr>
          <ns1:xfrm rot="0">
            <ns1:off x="161776" y="6350339"/>
            <ns1:ext cx="685800" cy="724320"/>
            <ns1:chOff x="0" y="0"/>
            <ns1:chExt cx="914400" cy="965761"/>
          </ns1:xfrm>
        </ns0:grpSpPr>
        <ns0:sp>
          <ns0:nvSpPr>
            <ns0:cNvPr name="Freeform 157" id="157"/>
            <ns0:cNvSpPr/>
            <ns0:nvPr/>
          </ns0:nvSpPr>
          <ns0:spPr>
            <ns1:xfrm flipH="false" flipV="false" rot="0">
              <ns1:off x="0" y="0"/>
              <ns1:ext cx="914400" cy="965761"/>
            </ns1:xfrm>
            <ns1:custGeom>
              <ns1:avLst/>
              <ns1:gdLst/>
              <ns1:ahLst/>
              <ns1:cxnLst/>
              <ns1:rect r="r" b="b" t="t" l="l"/>
              <ns1:pathLst>
                <ns1:path h="965761" w="914400">
                  <ns1:moveTo>
                    <ns1:pt x="0" y="0"/>
                  </ns1:moveTo>
                  <ns1:lnTo>
                    <ns1:pt x="914400" y="0"/>
                  </ns1:lnTo>
                  <ns1:lnTo>
                    <ns1:pt x="914400" y="965761"/>
                  </ns1:lnTo>
                  <ns1:lnTo>
                    <ns1:pt x="0" y="965761"/>
                  </ns1:lnTo>
                  <ns1:close/>
                </ns1:path>
              </ns1:pathLst>
            </ns1:custGeom>
            <ns1:blipFill>
              <ns1:blip ns2:embed="rId3">
                <ns1:alphaModFix amt="0"/>
              </ns1:blip>
              <ns1:stretch>
                <ns1:fillRect l="-78303" t="0" r="-78303" b="5318"/>
              </ns1:stretch>
            </ns1:blipFill>
          </ns0:spPr>
        </ns0:sp>
        <ns0:sp>
          <ns0:nvSpPr>
            <ns0:cNvPr name="TextBox 158" id="158"/>
            <ns0:cNvSpPr txBox="true"/>
            <ns0:nvPr/>
          </ns0:nvSpPr>
          <ns0:spPr>
            <ns1:xfrm>
              <ns1:off x="0" y="-38100"/>
              <ns1:ext cx="914400" cy="1003861"/>
            </ns1:xfrm>
            <ns1:prstGeom prst="rect">
              <ns1:avLst/>
            </ns1:prstGeom>
          </ns0:spPr>
          <ns0:txBody>
            <ns1:bodyPr anchor="ctr" rtlCol="false" tIns="0" lIns="0" bIns="0" rIns="0"/>
            <ns1:lstStyle/>
            <ns1:p>
              <ns1:pPr algn="ctr">
                <ns1:lnSpc>
                  <ns1:spcPts val="2879"/>
                </ns1:lnSpc>
              </ns1:pPr>
              <ns1:r>
                <ns1:rPr lang="en-US" sz="2400" b="true">
                  <ns1:solidFill>
                    <ns1:srgbClr val="FFFFFF"/>
                  </ns1:solidFill>
                  <ns1:latin typeface="Calibri (MS) Bold"/>
                  <ns1:ea typeface="Calibri (MS) Bold"/>
                  <ns1:cs typeface="Calibri (MS) Bold"/>
                  <ns1:sym typeface="Calibri (MS) Bold"/>
                </ns1:rPr>
                <ns1:t>4</ns1:t>
              </ns1:r>
            </ns1:p>
          </ns0:txBody>
        </ns0:sp>
      </ns0:grpSp>
      <ns0:grpSp>
        <ns0:nvGrpSpPr>
          <ns0:cNvPr name="Group 159" id="159"/>
          <ns0:cNvGrpSpPr/>
          <ns0:nvPr/>
        </ns0:nvGrpSpPr>
        <ns0:grpSpPr>
          <ns1:xfrm rot="0">
            <ns1:off x="1094464" y="6306879"/>
            <ns1:ext cx="5349240" cy="405619"/>
            <ns1:chOff x="0" y="0"/>
            <ns1:chExt cx="7132320" cy="540826"/>
          </ns1:xfrm>
        </ns0:grpSpPr>
        <ns0:sp>
          <ns0:nvSpPr>
            <ns0:cNvPr name="Freeform 160" id="160"/>
            <ns0:cNvSpPr/>
            <ns0:nvPr/>
          </ns0:nvSpPr>
          <ns0:spPr>
            <ns1:xfrm flipH="false" flipV="false" rot="0">
              <ns1:off x="0" y="0"/>
              <ns1:ext cx="7132320" cy="540826"/>
            </ns1:xfrm>
            <ns1:custGeom>
              <ns1:avLst/>
              <ns1:gdLst/>
              <ns1:ahLst/>
              <ns1:cxnLst/>
              <ns1:rect r="r" b="b" t="t" l="l"/>
              <ns1:pathLst>
                <ns1:path h="540826" w="7132320">
                  <ns1:moveTo>
                    <ns1:pt x="0" y="0"/>
                  </ns1:moveTo>
                  <ns1:lnTo>
                    <ns1:pt x="7132320" y="0"/>
                  </ns1:lnTo>
                  <ns1:lnTo>
                    <ns1:pt x="7132320" y="540826"/>
                  </ns1:lnTo>
                  <ns1:lnTo>
                    <ns1:pt x="0" y="540826"/>
                  </ns1:lnTo>
                  <ns1:close/>
                </ns1:path>
              </ns1:pathLst>
            </ns1:custGeom>
            <ns1:blipFill>
              <ns1:blip ns2:embed="rId3">
                <ns1:alphaModFix amt="0"/>
              </ns1:blip>
              <ns1:stretch>
                <ns1:fillRect l="0" t="-209624" r="0" b="-204306"/>
              </ns1:stretch>
            </ns1:blipFill>
          </ns0:spPr>
        </ns0:sp>
        <ns0:sp>
          <ns0:nvSpPr>
            <ns0:cNvPr name="TextBox 161" id="161"/>
            <ns0:cNvSpPr txBox="true"/>
            <ns0:nvPr/>
          </ns0:nvSpPr>
          <ns0:spPr>
            <ns1:xfrm>
              <ns1:off x="0" y="-38100"/>
              <ns1:ext cx="7132320" cy="578926"/>
            </ns1:xfrm>
            <ns1:prstGeom prst="rect">
              <ns1:avLst/>
            </ns1:prstGeom>
          </ns0:spPr>
          <ns0:txBody>
            <ns1:bodyPr anchor="ctr" rtlCol="false" tIns="0" lIns="0" bIns="0" rIns="0"/>
            <ns1:lstStyle/>
            <ns1:p>
              <ns1:pPr algn="l">
                <ns1:lnSpc>
                  <ns1:spcPts val="2279"/>
                </ns1:lnSpc>
              </ns1:pPr>
              <ns1:r>
                <ns1:rPr lang="en-US" sz="1899" b="true">
                  <ns1:solidFill>
                    <ns1:srgbClr val="0B2545"/>
                  </ns1:solidFill>
                  <ns1:latin typeface="Calibri (MS) Bold"/>
                  <ns1:ea typeface="Calibri (MS) Bold"/>
                  <ns1:cs typeface="Calibri (MS) Bold"/>
                  <ns1:sym typeface="Calibri (MS) Bold"/>
                </ns1:rPr>
                <ns1:t>Parallel DMZ Queries</ns1:t>
              </ns1:r>
            </ns1:p>
          </ns0:txBody>
        </ns0:sp>
      </ns0:grpSp>
      <ns0:grpSp>
        <ns0:nvGrpSpPr>
          <ns0:cNvPr name="Group 162" id="162"/>
          <ns0:cNvGrpSpPr/>
          <ns0:nvPr/>
        </ns0:nvGrpSpPr>
        <ns0:grpSpPr>
          <ns1:xfrm rot="0">
            <ns1:off x="1094464" y="6712499"/>
            <ns1:ext cx="4585861" cy="796753"/>
            <ns1:chOff x="0" y="0"/>
            <ns1:chExt cx="6114481" cy="1062337"/>
          </ns1:xfrm>
        </ns0:grpSpPr>
        <ns0:sp>
          <ns0:nvSpPr>
            <ns0:cNvPr name="Freeform 163" id="163"/>
            <ns0:cNvSpPr/>
            <ns0:nvPr/>
          </ns0:nvSpPr>
          <ns0:spPr>
            <ns1:xfrm flipH="false" flipV="false" rot="0">
              <ns1:off x="0" y="0"/>
              <ns1:ext cx="6114481" cy="1062337"/>
            </ns1:xfrm>
            <ns1:custGeom>
              <ns1:avLst/>
              <ns1:gdLst/>
              <ns1:ahLst/>
              <ns1:cxnLst/>
              <ns1:rect r="r" b="b" t="t" l="l"/>
              <ns1:pathLst>
                <ns1:path h="1062337" w="6114481">
                  <ns1:moveTo>
                    <ns1:pt x="0" y="0"/>
                  </ns1:moveTo>
                  <ns1:lnTo>
                    <ns1:pt x="6114481" y="0"/>
                  </ns1:lnTo>
                  <ns1:lnTo>
                    <ns1:pt x="6114481" y="1062337"/>
                  </ns1:lnTo>
                  <ns1:lnTo>
                    <ns1:pt x="0" y="1062337"/>
                  </ns1:lnTo>
                  <ns1:close/>
                </ns1:path>
              </ns1:pathLst>
            </ns1:custGeom>
            <ns1:blipFill>
              <ns1:blip ns2:embed="rId3">
                <ns1:alphaModFix amt="0"/>
              </ns1:blip>
              <ns1:stretch>
                <ns1:fillRect l="0" t="-83477" r="-16646" b="-78159"/>
              </ns1:stretch>
            </ns1:blipFill>
          </ns0:spPr>
        </ns0:sp>
        <ns0:sp>
          <ns0:nvSpPr>
            <ns0:cNvPr name="TextBox 164" id="164"/>
            <ns0:cNvSpPr txBox="true"/>
            <ns0:nvPr/>
          </ns0:nvSpPr>
          <ns0:spPr>
            <ns1:xfrm>
              <ns1:off x="0" y="-57150"/>
              <ns1:ext cx="6114481" cy="1119487"/>
            </ns1:xfrm>
            <ns1:prstGeom prst="rect">
              <ns1:avLst/>
            </ns1:prstGeom>
          </ns0:spPr>
          <ns0:txBody>
            <ns1:bodyPr anchor="ctr" rtlCol="false" tIns="0" lIns="0" bIns="0" rIns="0"/>
            <ns1:lstStyle/>
            <ns1:p>
              <ns1:pPr algn="l">
                <ns1:lnSpc>
                  <ns1:spcPts val="2204"/>
                </ns1:lnSpc>
              </ns1:pPr>
              <ns1:r>
                <ns1:rPr lang="en-US" sz="1749">
                  <ns1:solidFill>
                    <ns1:srgbClr val="15263B"/>
                  </ns1:solidFill>
                  <ns1:latin typeface="Calibri (MS)"/>
                  <ns1:ea typeface="Calibri (MS)"/>
                  <ns1:cs typeface="Calibri (MS)"/>
                  <ns1:sym typeface="Calibri (MS)"/>
                </ns1:rPr>
                <ns1:t>Adapters in SDC DMZ query local read-replicas in parallel over MSWAN; zero central persistence.</ns1:t>
              </ns1:r>
            </ns1:p>
          </ns0:txBody>
        </ns0:sp>
      </ns0:grpSp>
      <ns0:sp>
        <ns0:nvSpPr>
          <ns0:cNvPr name="AutoShape 165" id="165"/>
          <ns0:cNvSpPr/>
          <ns0:nvPr/>
        </ns0:nvSpPr>
        <ns0:spPr>
          <ns1:xfrm>
            <ns1:off x="490392" y="7059568"/>
            <ns1:ext cx="28578" cy="638611"/>
          </ns1:xfrm>
          <ns1:prstGeom prst="line">
            <ns1:avLst/>
          </ns1:prstGeom>
          <ns1:ln cap="rnd" w="19050">
            <ns1:solidFill>
              <ns1:srgbClr val="C3CEDD"/>
            </ns1:solidFill>
            <ns1:prstDash val="solid"/>
            <ns1:headEnd type="none" len="sm" w="sm"/>
            <ns1:tailEnd type="none" len="sm" w="sm"/>
          </ns1:ln>
        </ns0:spPr>
      </ns0:sp>
      <ns0:grpSp>
        <ns0:nvGrpSpPr>
          <ns0:cNvPr name="Group 166" id="166"/>
          <ns0:cNvGrpSpPr/>
          <ns0:nvPr/>
        </ns0:nvGrpSpPr>
        <ns0:grpSpPr>
          <ns1:xfrm rot="0">
            <ns1:off x="161776" y="7770007"/>
            <ns1:ext cx="685800" cy="724320"/>
            <ns1:chOff x="0" y="0"/>
            <ns1:chExt cx="914400" cy="965761"/>
          </ns1:xfrm>
        </ns0:grpSpPr>
        <ns0:sp>
          <ns0:nvSpPr>
            <ns0:cNvPr name="Freeform 167" id="167"/>
            <ns0:cNvSpPr/>
            <ns0:nvPr/>
          </ns0:nvSpPr>
          <ns0:spPr>
            <ns1:xfrm flipH="false" flipV="false" rot="0">
              <ns1:off x="0" y="0"/>
              <ns1:ext cx="914400" cy="965761"/>
            </ns1:xfrm>
            <ns1:custGeom>
              <ns1:avLst/>
              <ns1:gdLst/>
              <ns1:ahLst/>
              <ns1:cxnLst/>
              <ns1:rect r="r" b="b" t="t" l="l"/>
              <ns1:pathLst>
                <ns1:path h="965761" w="914400">
                  <ns1:moveTo>
                    <ns1:pt x="0" y="482880"/>
                  </ns1:moveTo>
                  <ns1:cubicBezTo>
                    <ns1:pt x="0" y="216223"/>
                    <ns1:pt x="204724" y="0"/>
                    <ns1:pt x="457200" y="0"/>
                  </ns1:cubicBezTo>
                  <ns1:cubicBezTo>
                    <ns1:pt x="709676" y="0"/>
                    <ns1:pt x="914400" y="216223"/>
                    <ns1:pt x="914400" y="482880"/>
                  </ns1:cubicBezTo>
                  <ns1:cubicBezTo>
                    <ns1:pt x="914400" y="749538"/>
                    <ns1:pt x="709676" y="965761"/>
                    <ns1:pt x="457200" y="965761"/>
                  </ns1:cubicBezTo>
                  <ns1:cubicBezTo>
                    <ns1:pt x="204724" y="965761"/>
                    <ns1:pt x="0" y="749538"/>
                    <ns1:pt x="0" y="482880"/>
                  </ns1:cubicBezTo>
                  <ns1:close/>
                </ns1:path>
              </ns1:pathLst>
            </ns1:custGeom>
            <ns1:solidFill>
              <ns1:srgbClr val="0B2545"/>
            </ns1:solidFill>
          </ns0:spPr>
        </ns0:sp>
      </ns0:grpSp>
      <ns0:grpSp>
        <ns0:nvGrpSpPr>
          <ns0:cNvPr name="Group 168" id="168"/>
          <ns0:cNvGrpSpPr/>
          <ns0:nvPr/>
        </ns0:nvGrpSpPr>
        <ns0:grpSpPr>
          <ns1:xfrm rot="0">
            <ns1:off x="161776" y="7770007"/>
            <ns1:ext cx="685800" cy="724320"/>
            <ns1:chOff x="0" y="0"/>
            <ns1:chExt cx="914400" cy="965761"/>
          </ns1:xfrm>
        </ns0:grpSpPr>
        <ns0:sp>
          <ns0:nvSpPr>
            <ns0:cNvPr name="Freeform 169" id="169"/>
            <ns0:cNvSpPr/>
            <ns0:nvPr/>
          </ns0:nvSpPr>
          <ns0:spPr>
            <ns1:xfrm flipH="false" flipV="false" rot="0">
              <ns1:off x="0" y="0"/>
              <ns1:ext cx="914400" cy="965761"/>
            </ns1:xfrm>
            <ns1:custGeom>
              <ns1:avLst/>
              <ns1:gdLst/>
              <ns1:ahLst/>
              <ns1:cxnLst/>
              <ns1:rect r="r" b="b" t="t" l="l"/>
              <ns1:pathLst>
                <ns1:path h="965761" w="914400">
                  <ns1:moveTo>
                    <ns1:pt x="0" y="0"/>
                  </ns1:moveTo>
                  <ns1:lnTo>
                    <ns1:pt x="914400" y="0"/>
                  </ns1:lnTo>
                  <ns1:lnTo>
                    <ns1:pt x="914400" y="965761"/>
                  </ns1:lnTo>
                  <ns1:lnTo>
                    <ns1:pt x="0" y="965761"/>
                  </ns1:lnTo>
                  <ns1:close/>
                </ns1:path>
              </ns1:pathLst>
            </ns1:custGeom>
            <ns1:blipFill>
              <ns1:blip ns2:embed="rId3">
                <ns1:alphaModFix amt="0"/>
              </ns1:blip>
              <ns1:stretch>
                <ns1:fillRect l="-78303" t="0" r="-78303" b="5318"/>
              </ns1:stretch>
            </ns1:blipFill>
          </ns0:spPr>
        </ns0:sp>
        <ns0:sp>
          <ns0:nvSpPr>
            <ns0:cNvPr name="TextBox 170" id="170"/>
            <ns0:cNvSpPr txBox="true"/>
            <ns0:nvPr/>
          </ns0:nvSpPr>
          <ns0:spPr>
            <ns1:xfrm>
              <ns1:off x="0" y="-38100"/>
              <ns1:ext cx="914400" cy="1003861"/>
            </ns1:xfrm>
            <ns1:prstGeom prst="rect">
              <ns1:avLst/>
            </ns1:prstGeom>
          </ns0:spPr>
          <ns0:txBody>
            <ns1:bodyPr anchor="ctr" rtlCol="false" tIns="0" lIns="0" bIns="0" rIns="0"/>
            <ns1:lstStyle/>
            <ns1:p>
              <ns1:pPr algn="ctr">
                <ns1:lnSpc>
                  <ns1:spcPts val="2879"/>
                </ns1:lnSpc>
              </ns1:pPr>
              <ns1:r>
                <ns1:rPr lang="en-US" sz="2400" b="true">
                  <ns1:solidFill>
                    <ns1:srgbClr val="FFFFFF"/>
                  </ns1:solidFill>
                  <ns1:latin typeface="Calibri (MS) Bold"/>
                  <ns1:ea typeface="Calibri (MS) Bold"/>
                  <ns1:cs typeface="Calibri (MS) Bold"/>
                  <ns1:sym typeface="Calibri (MS) Bold"/>
                </ns1:rPr>
                <ns1:t>5</ns1:t>
              </ns1:r>
            </ns1:p>
          </ns0:txBody>
        </ns0:sp>
      </ns0:grpSp>
      <ns0:grpSp>
        <ns0:nvGrpSpPr>
          <ns0:cNvPr name="Group 171" id="171"/>
          <ns0:cNvGrpSpPr/>
          <ns0:nvPr/>
        </ns0:nvGrpSpPr>
        <ns0:grpSpPr>
          <ns1:xfrm rot="0">
            <ns1:off x="1094464" y="7726548"/>
            <ns1:ext cx="5349240" cy="405619"/>
            <ns1:chOff x="0" y="0"/>
            <ns1:chExt cx="7132320" cy="540826"/>
          </ns1:xfrm>
        </ns0:grpSpPr>
        <ns0:sp>
          <ns0:nvSpPr>
            <ns0:cNvPr name="Freeform 172" id="172"/>
            <ns0:cNvSpPr/>
            <ns0:nvPr/>
          </ns0:nvSpPr>
          <ns0:spPr>
            <ns1:xfrm flipH="false" flipV="false" rot="0">
              <ns1:off x="0" y="0"/>
              <ns1:ext cx="7132320" cy="540826"/>
            </ns1:xfrm>
            <ns1:custGeom>
              <ns1:avLst/>
              <ns1:gdLst/>
              <ns1:ahLst/>
              <ns1:cxnLst/>
              <ns1:rect r="r" b="b" t="t" l="l"/>
              <ns1:pathLst>
                <ns1:path h="540826" w="7132320">
                  <ns1:moveTo>
                    <ns1:pt x="0" y="0"/>
                  </ns1:moveTo>
                  <ns1:lnTo>
                    <ns1:pt x="7132320" y="0"/>
                  </ns1:lnTo>
                  <ns1:lnTo>
                    <ns1:pt x="7132320" y="540826"/>
                  </ns1:lnTo>
                  <ns1:lnTo>
                    <ns1:pt x="0" y="540826"/>
                  </ns1:lnTo>
                  <ns1:close/>
                </ns1:path>
              </ns1:pathLst>
            </ns1:custGeom>
            <ns1:blipFill>
              <ns1:blip ns2:embed="rId3">
                <ns1:alphaModFix amt="0"/>
              </ns1:blip>
              <ns1:stretch>
                <ns1:fillRect l="0" t="-209624" r="0" b="-204306"/>
              </ns1:stretch>
            </ns1:blipFill>
          </ns0:spPr>
        </ns0:sp>
        <ns0:sp>
          <ns0:nvSpPr>
            <ns0:cNvPr name="TextBox 173" id="173"/>
            <ns0:cNvSpPr txBox="true"/>
            <ns0:nvPr/>
          </ns0:nvSpPr>
          <ns0:spPr>
            <ns1:xfrm>
              <ns1:off x="0" y="-38100"/>
              <ns1:ext cx="7132320" cy="578926"/>
            </ns1:xfrm>
            <ns1:prstGeom prst="rect">
              <ns1:avLst/>
            </ns1:prstGeom>
          </ns0:spPr>
          <ns0:txBody>
            <ns1:bodyPr anchor="ctr" rtlCol="false" tIns="0" lIns="0" bIns="0" rIns="0"/>
            <ns1:lstStyle/>
            <ns1:p>
              <ns1:pPr algn="l">
                <ns1:lnSpc>
                  <ns1:spcPts val="2279"/>
                </ns1:lnSpc>
              </ns1:pPr>
              <ns1:r>
                <ns1:rPr lang="en-US" sz="1899" b="true">
                  <ns1:solidFill>
                    <ns1:srgbClr val="0B2545"/>
                  </ns1:solidFill>
                  <ns1:latin typeface="Calibri (MS) Bold"/>
                  <ns1:ea typeface="Calibri (MS) Bold"/>
                  <ns1:cs typeface="Calibri (MS) Bold"/>
                  <ns1:sym typeface="Calibri (MS) Bold"/>
                </ns1:rPr>
                <ns1:t>Audit &amp; Write-Back</ns1:t>
              </ns1:r>
            </ns1:p>
          </ns0:txBody>
        </ns0:sp>
      </ns0:grpSp>
      <ns0:grpSp>
        <ns0:nvGrpSpPr>
          <ns0:cNvPr name="Group 174" id="174"/>
          <ns0:cNvGrpSpPr/>
          <ns0:nvPr/>
        </ns0:nvGrpSpPr>
        <ns0:grpSpPr>
          <ns1:xfrm rot="0">
            <ns1:off x="1094464" y="8132167"/>
            <ns1:ext cx="3857776" cy="796753"/>
            <ns1:chOff x="0" y="0"/>
            <ns1:chExt cx="5143702" cy="1062337"/>
          </ns1:xfrm>
        </ns0:grpSpPr>
        <ns0:sp>
          <ns0:nvSpPr>
            <ns0:cNvPr name="Freeform 175" id="175"/>
            <ns0:cNvSpPr/>
            <ns0:nvPr/>
          </ns0:nvSpPr>
          <ns0:spPr>
            <ns1:xfrm flipH="false" flipV="false" rot="0">
              <ns1:off x="0" y="0"/>
              <ns1:ext cx="5143702" cy="1062337"/>
            </ns1:xfrm>
            <ns1:custGeom>
              <ns1:avLst/>
              <ns1:gdLst/>
              <ns1:ahLst/>
              <ns1:cxnLst/>
              <ns1:rect r="r" b="b" t="t" l="l"/>
              <ns1:pathLst>
                <ns1:path h="1062337" w="5143702">
                  <ns1:moveTo>
                    <ns1:pt x="0" y="0"/>
                  </ns1:moveTo>
                  <ns1:lnTo>
                    <ns1:pt x="5143702" y="0"/>
                  </ns1:lnTo>
                  <ns1:lnTo>
                    <ns1:pt x="5143702" y="1062337"/>
                  </ns1:lnTo>
                  <ns1:lnTo>
                    <ns1:pt x="0" y="1062337"/>
                  </ns1:lnTo>
                  <ns1:close/>
                </ns1:path>
              </ns1:pathLst>
            </ns1:custGeom>
            <ns1:blipFill>
              <ns1:blip ns2:embed="rId3">
                <ns1:alphaModFix amt="0"/>
              </ns1:blip>
              <ns1:stretch>
                <ns1:fillRect l="0" t="-83477" r="-38661" b="-78159"/>
              </ns1:stretch>
            </ns1:blipFill>
          </ns0:spPr>
        </ns0:sp>
        <ns0:sp>
          <ns0:nvSpPr>
            <ns0:cNvPr name="TextBox 176" id="176"/>
            <ns0:cNvSpPr txBox="true"/>
            <ns0:nvPr/>
          </ns0:nvSpPr>
          <ns0:spPr>
            <ns1:xfrm>
              <ns1:off x="0" y="-57150"/>
              <ns1:ext cx="5143702" cy="1119487"/>
            </ns1:xfrm>
            <ns1:prstGeom prst="rect">
              <ns1:avLst/>
            </ns1:prstGeom>
          </ns0:spPr>
          <ns0:txBody>
            <ns1:bodyPr anchor="ctr" rtlCol="false" tIns="0" lIns="0" bIns="0" rIns="0"/>
            <ns1:lstStyle/>
            <ns1:p>
              <ns1:pPr algn="l">
                <ns1:lnSpc>
                  <ns1:spcPts val="2204"/>
                </ns1:lnSpc>
              </ns1:pPr>
              <ns1:r>
                <ns1:rPr lang="en-US" sz="1749">
                  <ns1:solidFill>
                    <ns1:srgbClr val="15263B"/>
                  </ns1:solidFill>
                  <ns1:latin typeface="Calibri (MS)"/>
                  <ns1:ea typeface="Calibri (MS)"/>
                  <ns1:cs typeface="Calibri (MS)"/>
                  <ns1:sym typeface="Calibri (MS)"/>
                </ns1:rPr>
                <ns1:t>SHA-256 block hash chain records immutable proof; approved certificate emits to DigiLocker.</ns1:t>
              </ns1:r>
            </ns1:p>
          </ns0:txBody>
        </ns0:sp>
      </ns0:grpSp>
      <ns0:sp>
        <ns0:nvSpPr>
          <ns0:cNvPr name="TextBox 177" id="177"/>
          <ns0:cNvSpPr txBox="true"/>
          <ns0:nvPr/>
        </ns0:nvSpPr>
        <ns0:spPr>
          <ns1:xfrm rot="0">
            <ns1:off x="7269823" y="9863880"/>
            <ns1:ext cx="3743782" cy="314363"/>
          </ns1:xfrm>
          <ns1:prstGeom prst="rect">
            <ns1:avLst/>
          </ns1:prstGeom>
        </ns0:spPr>
        <ns0:txBody>
          <ns1:bodyPr anchor="t" rtlCol="false" tIns="0" lIns="0" bIns="0" rIns="0">
            <ns1:spAutoFit/>
          </ns1:bodyPr>
          <ns1:lstStyle/>
          <ns1:p>
            <ns1:pPr algn="ctr">
              <ns1:lnSpc>
                <ns1:spcPts val="2249"/>
              </ns1:lnSpc>
              <ns1:spcBef>
                <ns1:spcPct val="0"/>
              </ns1:spcBef>
            </ns1:pPr>
            <ns1:r>
              <ns1:rPr lang="en-US" sz="1874">
                <ns1:solidFill>
                  <ns1:srgbClr val="AFC3DA"/>
                </ns1:solidFill>
                <ns1:latin typeface="Calibri (MS)"/>
                <ns1:ea typeface="Calibri (MS)"/>
                <ns1:cs typeface="Calibri (MS)"/>
                <ns1:sym typeface="Calibri (MS)"/>
              </ns1:rPr>
              <ns1:t>SIH 2026</ns1:t>
            </ns1:r>
            <ns1:r>
              <ns1:rPr lang="en-US" sz="1874">
                <ns1:solidFill>
                  <ns1:srgbClr val="AFC3DA"/>
                </ns1:solidFill>
                <ns1:latin typeface="Calibri (MS)"/>
                <ns1:ea typeface="Calibri (MS)"/>
                <ns1:cs typeface="Calibri (MS)"/>
                <ns1:sym typeface="Calibri (MS)"/>
              </ns1:rPr>
              <ns1:t> Idea Submission — MahaLink</ns1:t>
            </ns1:r>
          </ns1:p>
        </ns0:txBody>
      </ns0:sp>
    </ns0:spTree>
  </ns0:cSld>
  <ns0:clrMapOvr>
    <ns1:masterClrMapping/>
  </ns0:clrMapOvr>
</ns0:sld>
</file>

<file path=ppt/slides/slide4.xml><?xml version="1.0" encoding="utf-8"?>
<ns0:sld xmlns:ns0="http://schemas.openxmlformats.org/presentationml/2006/main" xmlns:ns1="http://schemas.openxmlformats.org/drawingml/2006/main" xmlns:ns2="http://schemas.openxmlformats.org/officeDocument/2006/relationships">
  <ns0:cSld>
    <ns0:bg>
      <ns0:bgPr>
        <ns1:solidFill>
          <ns1:srgbClr val="F4F6F9"/>
        </ns1:solidFill>
      </ns0:bgPr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grpSp>
        <ns0:nvGrpSpPr>
          <ns0:cNvPr name="Group 2" id="2"/>
          <ns0:cNvGrpSpPr/>
          <ns0:nvPr/>
        </ns0:nvGrpSpPr>
        <ns0:grpSpPr>
          <ns1:xfrm rot="0">
            <ns1:off x="470535" y="401955"/>
            <ns1:ext cx="2076450" cy="869442"/>
            <ns1:chOff x="0" y="0"/>
            <ns1:chExt cx="2768600" cy="1159256"/>
          </ns1:xfrm>
        </ns0:grpSpPr>
        <ns0:sp>
          <ns0:nvSpPr>
            <ns0:cNvPr name="Freeform 3" id="3"/>
            <ns0:cNvSpPr/>
            <ns0:nvPr/>
          </ns0:nvSpPr>
          <ns0:spPr>
            <ns1:xfrm flipH="false" flipV="false" rot="0">
              <ns1:off x="0" y="0"/>
              <ns1:ext cx="2768600" cy="1159256"/>
            </ns1:xfrm>
            <ns1:custGeom>
              <ns1:avLst/>
              <ns1:gdLst/>
              <ns1:ahLst/>
              <ns1:cxnLst/>
              <ns1:rect r="r" b="b" t="t" l="l"/>
              <ns1:pathLst>
                <ns1:path h="1159256" w="2768600">
                  <ns1:moveTo>
                    <ns1:pt x="0" y="186944"/>
                  </ns1:moveTo>
                  <ns1:cubicBezTo>
                    <ns1:pt x="0" y="83693"/>
                    <ns1:pt x="83693" y="0"/>
                    <ns1:pt x="186944" y="0"/>
                  </ns1:cubicBezTo>
                  <ns1:lnTo>
                    <ns1:pt x="2581656" y="0"/>
                  </ns1:lnTo>
                  <ns1:cubicBezTo>
                    <ns1:pt x="2684907" y="0"/>
                    <ns1:pt x="2768600" y="83693"/>
                    <ns1:pt x="2768600" y="186944"/>
                  </ns1:cubicBezTo>
                  <ns1:lnTo>
                    <ns1:pt x="2768600" y="972312"/>
                  </ns1:lnTo>
                  <ns1:cubicBezTo>
                    <ns1:pt x="2768600" y="1075563"/>
                    <ns1:pt x="2684907" y="1159256"/>
                    <ns1:pt x="2581656" y="1159256"/>
                  </ns1:cubicBezTo>
                  <ns1:lnTo>
                    <ns1:pt x="186944" y="1159256"/>
                  </ns1:lnTo>
                  <ns1:cubicBezTo>
                    <ns1:pt x="83693" y="1159256"/>
                    <ns1:pt x="0" y="1075563"/>
                    <ns1:pt x="0" y="972312"/>
                  </ns1:cubicBezTo>
                  <ns1:close/>
                </ns1:path>
              </ns1:pathLst>
            </ns1:custGeom>
            <ns1:solidFill>
              <ns1:srgbClr val="FFFFFF"/>
            </ns1:solidFill>
            <ns1:ln w="19050" cap="sq">
              <ns1:solidFill>
                <ns1:srgbClr val="1C7293"/>
              </ns1:solidFill>
              <ns1:prstDash val="solid"/>
              <ns1:miter/>
            </ns1:ln>
          </ns0:spPr>
        </ns0:sp>
      </ns0:grpSp>
      <ns0:grpSp>
        <ns0:nvGrpSpPr>
          <ns0:cNvPr name="Group 4" id="4"/>
          <ns0:cNvGrpSpPr/>
          <ns0:nvPr/>
        </ns0:nvGrpSpPr>
        <ns0:grpSpPr>
          <ns1:xfrm rot="0">
            <ns1:off x="480060" y="411480"/>
            <ns1:ext cx="2057400" cy="850392"/>
            <ns1:chOff x="0" y="0"/>
            <ns1:chExt cx="2743200" cy="1133856"/>
          </ns1:xfrm>
        </ns0:grpSpPr>
        <ns0:sp>
          <ns0:nvSpPr>
            <ns0:cNvPr name="Freeform 5" id="5"/>
            <ns0:cNvSpPr/>
            <ns0:nvPr/>
          </ns0:nvSpPr>
          <ns0:spPr>
            <ns1:xfrm flipH="false" flipV="false" rot="0">
              <ns1:off x="0" y="0"/>
              <ns1:ext cx="2743200" cy="1133856"/>
            </ns1:xfrm>
            <ns1:custGeom>
              <ns1:avLst/>
              <ns1:gdLst/>
              <ns1:ahLst/>
              <ns1:cxnLst/>
              <ns1:rect r="r" b="b" t="t" l="l"/>
              <ns1:pathLst>
                <ns1:path h="1133856" w="2743200">
                  <ns1:moveTo>
                    <ns1:pt x="0" y="0"/>
                  </ns1:moveTo>
                  <ns1:lnTo>
                    <ns1:pt x="2743200" y="0"/>
                  </ns1:lnTo>
                  <ns1:lnTo>
                    <ns1:pt x="2743200" y="1133856"/>
                  </ns1:lnTo>
                  <ns1:lnTo>
                    <ns1:pt x="0" y="1133856"/>
                  </ns1:lnTo>
                  <ns1:close/>
                </ns1:path>
              </ns1:pathLst>
            </ns1:custGeom>
            <ns1:blipFill>
              <ns1:blip ns2:embed="rId3">
                <ns1:alphaModFix amt="0"/>
              </ns1:blip>
              <ns1:stretch>
                <ns1:fillRect l="-3032" t="0" r="-3032" b="0"/>
              </ns1:stretch>
            </ns1:blipFill>
          </ns0:spPr>
        </ns0:sp>
        <ns0:sp>
          <ns0:nvSpPr>
            <ns0:cNvPr name="TextBox 6" id="6"/>
            <ns0:cNvSpPr txBox="true"/>
            <ns0:nvPr/>
          </ns0:nvSpPr>
          <ns0:spPr>
            <ns1:xfrm>
              <ns1:off x="0" y="-47625"/>
              <ns1:ext cx="2743200" cy="1181481"/>
            </ns1:xfrm>
            <ns1:prstGeom prst="rect">
              <ns1:avLst/>
            </ns1:prstGeom>
          </ns0:spPr>
          <ns0:txBody>
            <ns1:bodyPr anchor="ctr" rtlCol="false" tIns="0" lIns="0" bIns="0" rIns="0"/>
            <ns1:lstStyle/>
            <ns1:p>
              <ns1:pPr algn="ctr">
                <ns1:lnSpc>
                  <ns1:spcPts val="2519"/>
                </ns1:lnSpc>
              </ns1:pPr>
              <ns1:r>
                <ns1:rPr lang="en-US" b="true" sz="2099">
                  <ns1:gradFill>
                    <ns1:gsLst>
                      <ns1:gs pos="0">
                        <ns1:srgbClr val="091E27">
                          <ns1:alpha val="100000"/>
                        </ns1:srgbClr>
                      </ns1:gs>
                      <ns1:gs pos="100000">
                        <ns1:srgbClr val="48F0E7">
                          <ns1:alpha val="100000"/>
                        </ns1:srgbClr>
                      </ns1:gs>
                    </ns1:gsLst>
                    <ns1:lin ang="18900000"/>
                  </ns1:gradFill>
                  <ns1:latin typeface="Calibri (MS) Bold"/>
                  <ns1:ea typeface="Calibri (MS) Bold"/>
                  <ns1:cs typeface="Calibri (MS) Bold"/>
                  <ns1:sym typeface="Calibri (MS) Bold"/>
                </ns1:rPr>
                <ns1:t>INFERNO VI</ns1:t>
              </ns1:r>
            </ns1:p>
          </ns0:txBody>
        </ns0:sp>
      </ns0:grpSp>
      <ns0:grpSp>
        <ns0:nvGrpSpPr>
          <ns0:cNvPr name="Group 7" id="7"/>
          <ns0:cNvGrpSpPr/>
          <ns0:nvPr/>
        </ns0:nvGrpSpPr>
        <ns0:grpSpPr>
          <ns1:xfrm rot="0">
            <ns1:off x="548640" y="1645920"/>
            <ns1:ext cx="5486400" cy="7818120"/>
            <ns1:chOff x="0" y="0"/>
            <ns1:chExt cx="7315200" cy="10424160"/>
          </ns1:xfrm>
        </ns0:grpSpPr>
        <ns0:sp>
          <ns0:nvSpPr>
            <ns0:cNvPr name="Freeform 8" id="8"/>
            <ns0:cNvSpPr/>
            <ns0:nvPr/>
          </ns0:nvSpPr>
          <ns0:spPr>
            <ns1:xfrm flipH="false" flipV="false" rot="0">
              <ns1:off x="0" y="0"/>
              <ns1:ext cx="7315200" cy="10424161"/>
            </ns1:xfrm>
            <ns1:custGeom>
              <ns1:avLst/>
              <ns1:gdLst/>
              <ns1:ahLst/>
              <ns1:cxnLst/>
              <ns1:rect r="r" b="b" t="t" l="l"/>
              <ns1:pathLst>
                <ns1:path h="10424161" w="7315200">
                  <ns1:moveTo>
                    <ns1:pt x="0" y="146304"/>
                  </ns1:moveTo>
                  <ns1:cubicBezTo>
                    <ns1:pt x="0" y="65532"/>
                    <ns1:pt x="65532" y="0"/>
                    <ns1:pt x="146304" y="0"/>
                  </ns1:cubicBezTo>
                  <ns1:lnTo>
                    <ns1:pt x="7168896" y="0"/>
                  </ns1:lnTo>
                  <ns1:cubicBezTo>
                    <ns1:pt x="7249668" y="0"/>
                    <ns1:pt x="7315200" y="65532"/>
                    <ns1:pt x="7315200" y="146304"/>
                  </ns1:cubicBezTo>
                  <ns1:lnTo>
                    <ns1:pt x="7315200" y="10277856"/>
                  </ns1:lnTo>
                  <ns1:cubicBezTo>
                    <ns1:pt x="7315200" y="10358628"/>
                    <ns1:pt x="7249668" y="10424161"/>
                    <ns1:pt x="7168896" y="10424161"/>
                  </ns1:cubicBezTo>
                  <ns1:lnTo>
                    <ns1:pt x="146304" y="10424161"/>
                  </ns1:lnTo>
                  <ns1:cubicBezTo>
                    <ns1:pt x="65532" y="10424160"/>
                    <ns1:pt x="0" y="10358628"/>
                    <ns1:pt x="0" y="10277856"/>
                  </ns1:cubicBezTo>
                  <ns1:close/>
                </ns1:path>
              </ns1:pathLst>
            </ns1:custGeom>
            <ns1:solidFill>
              <ns1:srgbClr val="545454"/>
            </ns1:solidFill>
          </ns0:spPr>
        </ns0:sp>
      </ns0:grpSp>
      <ns0:grpSp>
        <ns0:nvGrpSpPr>
          <ns0:cNvPr name="Group 9" id="9"/>
          <ns0:cNvGrpSpPr/>
          <ns0:nvPr/>
        </ns0:nvGrpSpPr>
        <ns0:grpSpPr>
          <ns1:xfrm rot="0">
            <ns1:off x="891540" y="1920240"/>
            <ns1:ext cx="4800600" cy="548640"/>
            <ns1:chOff x="0" y="0"/>
            <ns1:chExt cx="6400800" cy="731520"/>
          </ns1:xfrm>
        </ns0:grpSpPr>
        <ns0:sp>
          <ns0:nvSpPr>
            <ns0:cNvPr name="Freeform 10" id="10"/>
            <ns0:cNvSpPr/>
            <ns0:nvPr/>
          </ns0:nvSpPr>
          <ns0:spPr>
            <ns1:xfrm flipH="false" flipV="false" rot="0">
              <ns1:off x="0" y="0"/>
              <ns1:ext cx="6400800" cy="731520"/>
            </ns1:xfrm>
            <ns1:custGeom>
              <ns1:avLst/>
              <ns1:gdLst/>
              <ns1:ahLst/>
              <ns1:cxnLst/>
              <ns1:rect r="r" b="b" t="t" l="l"/>
              <ns1:pathLst>
                <ns1:path h="731520" w="6400800">
                  <ns1:moveTo>
                    <ns1:pt x="0" y="0"/>
                  </ns1:moveTo>
                  <ns1:lnTo>
                    <ns1:pt x="6400800" y="0"/>
                  </ns1:lnTo>
                  <ns1:lnTo>
                    <ns1:pt x="6400800" y="731520"/>
                  </ns1:lnTo>
                  <ns1:lnTo>
                    <ns1:pt x="0" y="731520"/>
                  </ns1:lnTo>
                  <ns1:close/>
                </ns1:path>
              </ns1:pathLst>
            </ns1:custGeom>
            <ns1:blipFill>
              <ns1:blip ns2:embed="rId3">
                <ns1:alphaModFix amt="0"/>
              </ns1:blip>
              <ns1:stretch>
                <ns1:fillRect l="0" t="-120494" r="0" b="-120494"/>
              </ns1:stretch>
            </ns1:blipFill>
          </ns0:spPr>
        </ns0:sp>
        <ns0:sp>
          <ns0:nvSpPr>
            <ns0:cNvPr name="TextBox 11" id="11"/>
            <ns0:cNvSpPr txBox="true"/>
            <ns0:nvPr/>
          </ns0:nvSpPr>
          <ns0:spPr>
            <ns1:xfrm>
              <ns1:off x="0" y="-47625"/>
              <ns1:ext cx="6400800" cy="779145"/>
            </ns1:xfrm>
            <ns1:prstGeom prst="rect">
              <ns1:avLst/>
            </ns1:prstGeom>
          </ns0:spPr>
          <ns0:txBody>
            <ns1:bodyPr anchor="ctr" rtlCol="false" tIns="0" lIns="0" bIns="0" rIns="0"/>
            <ns1:lstStyle/>
            <ns1:p>
              <ns1:pPr algn="l">
                <ns1:lnSpc>
                  <ns1:spcPts val="2699"/>
                </ns1:lnSpc>
              </ns1:pPr>
              <ns1:r>
                <ns1:rPr lang="en-US" sz="2249" b="true">
                  <ns1:solidFill>
                    <ns1:srgbClr val="D98E04"/>
                  </ns1:solidFill>
                  <ns1:latin typeface="Calibri (MS) Bold"/>
                  <ns1:ea typeface="Calibri (MS) Bold"/>
                  <ns1:cs typeface="Calibri (MS) Bold"/>
                  <ns1:sym typeface="Calibri (MS) Bold"/>
                </ns1:rPr>
                <ns1:t>FEASIBILITY ANALYSIS</ns1:t>
              </ns1:r>
            </ns1:p>
          </ns0:txBody>
        </ns0:sp>
      </ns0:grpSp>
      <ns0:sp>
        <ns0:nvSpPr>
          <ns0:cNvPr name="TextBox 12" id="12"/>
          <ns0:cNvSpPr txBox="true"/>
          <ns0:nvPr/>
        </ns0:nvSpPr>
        <ns0:spPr>
          <ns1:xfrm rot="0">
            <ns1:off x="891540" y="2617470"/>
            <ns1:ext cx="4800600" cy="1149637"/>
          </ns1:xfrm>
          <ns1:prstGeom prst="rect">
            <ns1:avLst/>
          </ns1:prstGeom>
        </ns0:spPr>
        <ns0:txBody>
          <ns1:bodyPr anchor="t" rtlCol="false" tIns="0" lIns="0" bIns="0" rIns="0">
            <ns1:spAutoFit/>
          </ns1:bodyPr>
          <ns1:lstStyle/>
          <ns1:p>
            <ns1:pPr algn="l">
              <ns1:lnSpc>
                <ns1:spcPts val="2494"/>
              </ns1:lnSpc>
            </ns1:pPr>
            <ns1:r>
              <ns1:rPr lang="en-US" sz="1924" b="true">
                <ns1:solidFill>
                  <ns1:srgbClr val="FFFFFF"/>
                </ns1:solidFill>
                <ns1:latin typeface="Calibri (MS) Bold"/>
                <ns1:ea typeface="Calibri (MS) Bold"/>
                <ns1:cs typeface="Calibri (MS) Bold"/>
                <ns1:sym typeface="Calibri (MS) Bold"/>
              </ns1:rPr>
              <ns1:t>Adapter, not rebuild</ns1:t>
            </ns1:r>
          </ns1:p>
          <ns1:p>
            <ns1:pPr algn="l">
              <ns1:lnSpc>
                <ns1:spcPts val="2144"/>
              </ns1:lnSpc>
            </ns1:pPr>
          </ns1:p>
          <ns1:p>
            <ns1:pPr algn="l">
              <ns1:lnSpc>
                <ns1:spcPts val="2144"/>
              </ns1:lnSpc>
            </ns1:pPr>
            <ns1:r>
              <ns1:rPr lang="en-US" sz="1654">
                <ns1:solidFill>
                  <ns1:srgbClr val="C7D3E4"/>
                </ns1:solidFill>
                <ns1:latin typeface="Calibri (MS)"/>
                <ns1:ea typeface="Calibri (MS)"/>
                <ns1:cs typeface="Calibri (MS)"/>
                <ns1:sym typeface="Calibri (MS)"/>
              </ns1:rPr>
              <ns1:t>Wraps each department's existing system with a containerized DMZ adapter on read-replicas — zero vendor rebuild required.</ns1:t>
            </ns1:r>
          </ns1:p>
        </ns0:txBody>
      </ns0:sp>
      <ns0:sp>
        <ns0:nvSpPr>
          <ns0:cNvPr name="TextBox 13" id="13"/>
          <ns0:cNvSpPr txBox="true"/>
          <ns0:nvPr/>
        </ns0:nvSpPr>
        <ns0:spPr>
          <ns1:xfrm rot="0">
            <ns1:off x="891540" y="4331970"/>
            <ns1:ext cx="4800600" cy="1149637"/>
          </ns1:xfrm>
          <ns1:prstGeom prst="rect">
            <ns1:avLst/>
          </ns1:prstGeom>
        </ns0:spPr>
        <ns0:txBody>
          <ns1:bodyPr anchor="t" rtlCol="false" tIns="0" lIns="0" bIns="0" rIns="0">
            <ns1:spAutoFit/>
          </ns1:bodyPr>
          <ns1:lstStyle/>
          <ns1:p>
            <ns1:pPr algn="l">
              <ns1:lnSpc>
                <ns1:spcPts val="2494"/>
              </ns1:lnSpc>
            </ns1:pPr>
            <ns1:r>
              <ns1:rPr lang="en-US" sz="1924" b="true">
                <ns1:solidFill>
                  <ns1:srgbClr val="FFFFFF"/>
                </ns1:solidFill>
                <ns1:latin typeface="Calibri (MS) Bold"/>
                <ns1:ea typeface="Calibri (MS) Bold"/>
                <ns1:cs typeface="Calibri (MS) Bold"/>
                <ns1:sym typeface="Calibri (MS) Bold"/>
              </ns1:rPr>
              <ns1:t>Federated by design</ns1:t>
            </ns1:r>
          </ns1:p>
          <ns1:p>
            <ns1:pPr algn="l">
              <ns1:lnSpc>
                <ns1:spcPts val="2144"/>
              </ns1:lnSpc>
            </ns1:pPr>
          </ns1:p>
          <ns1:p>
            <ns1:pPr algn="l">
              <ns1:lnSpc>
                <ns1:spcPts val="2144"/>
              </ns1:lnSpc>
            </ns1:pPr>
            <ns1:r>
              <ns1:rPr lang="en-US" sz="1654">
                <ns1:solidFill>
                  <ns1:srgbClr val="C7D3E4"/>
                </ns1:solidFill>
                <ns1:latin typeface="Calibri (MS)"/>
                <ns1:ea typeface="Calibri (MS)"/>
                <ns1:cs typeface="Calibri (MS)"/>
                <ns1:sym typeface="Calibri (MS)"/>
              </ns1:rPr>
              <ns1:t>Stateless Zero-Persistence: Real-time queries resolve via pointers; no central citizen database, eliminating DPDP liability.</ns1:t>
            </ns1:r>
          </ns1:p>
        </ns0:txBody>
      </ns0:sp>
      <ns0:sp>
        <ns0:nvSpPr>
          <ns0:cNvPr name="TextBox 14" id="14"/>
          <ns0:cNvSpPr txBox="true"/>
          <ns0:nvPr/>
        </ns0:nvSpPr>
        <ns0:spPr>
          <ns1:xfrm rot="0">
            <ns1:off x="891540" y="6046470"/>
            <ns1:ext cx="4800600" cy="1149637"/>
          </ns1:xfrm>
          <ns1:prstGeom prst="rect">
            <ns1:avLst/>
          </ns1:prstGeom>
        </ns0:spPr>
        <ns0:txBody>
          <ns1:bodyPr anchor="t" rtlCol="false" tIns="0" lIns="0" bIns="0" rIns="0">
            <ns1:spAutoFit/>
          </ns1:bodyPr>
          <ns1:lstStyle/>
          <ns1:p>
            <ns1:pPr algn="l">
              <ns1:lnSpc>
                <ns1:spcPts val="2494"/>
              </ns1:lnSpc>
            </ns1:pPr>
            <ns1:r>
              <ns1:rPr lang="en-US" sz="1924" b="true">
                <ns1:solidFill>
                  <ns1:srgbClr val="FFFFFF"/>
                </ns1:solidFill>
                <ns1:latin typeface="Calibri (MS) Bold"/>
                <ns1:ea typeface="Calibri (MS) Bold"/>
                <ns1:cs typeface="Calibri (MS) Bold"/>
                <ns1:sym typeface="Calibri (MS) Bold"/>
              </ns1:rPr>
              <ns1:t>Standards &amp; Interoperability</ns1:t>
            </ns1:r>
          </ns1:p>
          <ns1:p>
            <ns1:pPr algn="l">
              <ns1:lnSpc>
                <ns1:spcPts val="2144"/>
              </ns1:lnSpc>
            </ns1:pPr>
          </ns1:p>
          <ns1:p>
            <ns1:pPr algn="l">
              <ns1:lnSpc>
                <ns1:spcPts val="2144"/>
              </ns1:lnSpc>
            </ns1:pPr>
            <ns1:r>
              <ns1:rPr lang="en-US" sz="1654">
                <ns1:solidFill>
                  <ns1:srgbClr val="C7D3E4"/>
                </ns1:solidFill>
                <ns1:latin typeface="Calibri (MS)"/>
                <ns1:ea typeface="Calibri (MS)"/>
                <ns1:cs typeface="Calibri (MS)"/>
                <ns1:sym typeface="Calibri (MS)"/>
              </ns1:rPr>
              <ns1:t>Standardized on Maharashtra Govt API Standard (MGAS), publishing directly to national API Setu.</ns1:t>
            </ns1:r>
          </ns1:p>
        </ns0:txBody>
      </ns0:sp>
      <ns0:sp>
        <ns0:nvSpPr>
          <ns0:cNvPr name="TextBox 15" id="15"/>
          <ns0:cNvSpPr txBox="true"/>
          <ns0:nvPr/>
        </ns0:nvSpPr>
        <ns0:spPr>
          <ns1:xfrm rot="0">
            <ns1:off x="891540" y="7760970"/>
            <ns1:ext cx="4800600" cy="1149637"/>
          </ns1:xfrm>
          <ns1:prstGeom prst="rect">
            <ns1:avLst/>
          </ns1:prstGeom>
        </ns0:spPr>
        <ns0:txBody>
          <ns1:bodyPr anchor="t" rtlCol="false" tIns="0" lIns="0" bIns="0" rIns="0">
            <ns1:spAutoFit/>
          </ns1:bodyPr>
          <ns1:lstStyle/>
          <ns1:p>
            <ns1:pPr algn="l">
              <ns1:lnSpc>
                <ns1:spcPts val="2494"/>
              </ns1:lnSpc>
            </ns1:pPr>
            <ns1:r>
              <ns1:rPr lang="en-US" sz="1924" b="true">
                <ns1:solidFill>
                  <ns1:srgbClr val="FFFFFF"/>
                </ns1:solidFill>
                <ns1:latin typeface="Calibri (MS) Bold"/>
                <ns1:ea typeface="Calibri (MS) Bold"/>
                <ns1:cs typeface="Calibri (MS) Bold"/>
                <ns1:sym typeface="Calibri (MS) Bold"/>
              </ns1:rPr>
              <ns1:t>Rapid Phased Rollout Blueprint</ns1:t>
            </ns1:r>
          </ns1:p>
          <ns1:p>
            <ns1:pPr algn="l">
              <ns1:lnSpc>
                <ns1:spcPts val="2144"/>
              </ns1:lnSpc>
            </ns1:pPr>
          </ns1:p>
          <ns1:p>
            <ns1:pPr algn="l">
              <ns1:lnSpc>
                <ns1:spcPts val="2144"/>
              </ns1:lnSpc>
            </ns1:pPr>
            <ns1:r>
              <ns1:rPr lang="en-US" sz="1654">
                <ns1:solidFill>
                  <ns1:srgbClr val="C7D3E4"/>
                </ns1:solidFill>
                <ns1:latin typeface="Calibri (MS)"/>
                <ns1:ea typeface="Calibri (MS)"/>
                <ns1:cs typeface="Calibri (MS)"/>
                <ns1:sym typeface="Calibri (MS)"/>
              </ns1:rPr>
              <ns1:t>48-hour containerized department onboarding; Phase-1 pilot in Pune &amp; Nagpur districts before statewide 36-district rollout.</ns1:t>
            </ns1:r>
          </ns1:p>
        </ns0:txBody>
      </ns0:sp>
      <ns0:grpSp>
        <ns0:nvGrpSpPr>
          <ns0:cNvPr name="Group 16" id="16"/>
          <ns0:cNvGrpSpPr/>
          <ns0:nvPr/>
        </ns0:nvGrpSpPr>
        <ns0:grpSpPr>
          <ns1:xfrm rot="0">
            <ns1:off x="6336792" y="1645920"/>
            <ns1:ext cx="5486400" cy="7818120"/>
            <ns1:chOff x="0" y="0"/>
            <ns1:chExt cx="7315200" cy="10424160"/>
          </ns1:xfrm>
        </ns0:grpSpPr>
        <ns0:sp>
          <ns0:nvSpPr>
            <ns0:cNvPr name="Freeform 17" id="17"/>
            <ns0:cNvSpPr/>
            <ns0:nvPr/>
          </ns0:nvSpPr>
          <ns0:spPr>
            <ns1:xfrm flipH="false" flipV="false" rot="0">
              <ns1:off x="0" y="0"/>
              <ns1:ext cx="7315200" cy="10424161"/>
            </ns1:xfrm>
            <ns1:custGeom>
              <ns1:avLst/>
              <ns1:gdLst/>
              <ns1:ahLst/>
              <ns1:cxnLst/>
              <ns1:rect r="r" b="b" t="t" l="l"/>
              <ns1:pathLst>
                <ns1:path h="10424161" w="7315200">
                  <ns1:moveTo>
                    <ns1:pt x="0" y="146304"/>
                  </ns1:moveTo>
                  <ns1:cubicBezTo>
                    <ns1:pt x="0" y="65532"/>
                    <ns1:pt x="65532" y="0"/>
                    <ns1:pt x="146304" y="0"/>
                  </ns1:cubicBezTo>
                  <ns1:lnTo>
                    <ns1:pt x="7168896" y="0"/>
                  </ns1:lnTo>
                  <ns1:cubicBezTo>
                    <ns1:pt x="7249668" y="0"/>
                    <ns1:pt x="7315200" y="65532"/>
                    <ns1:pt x="7315200" y="146304"/>
                  </ns1:cubicBezTo>
                  <ns1:lnTo>
                    <ns1:pt x="7315200" y="10277856"/>
                  </ns1:lnTo>
                  <ns1:cubicBezTo>
                    <ns1:pt x="7315200" y="10358628"/>
                    <ns1:pt x="7249668" y="10424161"/>
                    <ns1:pt x="7168896" y="10424161"/>
                  </ns1:cubicBezTo>
                  <ns1:lnTo>
                    <ns1:pt x="146304" y="10424161"/>
                  </ns1:lnTo>
                  <ns1:cubicBezTo>
                    <ns1:pt x="65532" y="10424160"/>
                    <ns1:pt x="0" y="10358628"/>
                    <ns1:pt x="0" y="10277856"/>
                  </ns1:cubicBezTo>
                  <ns1:close/>
                </ns1:path>
              </ns1:pathLst>
            </ns1:custGeom>
            <ns1:solidFill>
              <ns1:srgbClr val="12305A"/>
            </ns1:solidFill>
          </ns0:spPr>
        </ns0:sp>
      </ns0:grpSp>
      <ns0:grpSp>
        <ns0:nvGrpSpPr>
          <ns0:cNvPr name="Group 18" id="18"/>
          <ns0:cNvGrpSpPr/>
          <ns0:nvPr/>
        </ns0:nvGrpSpPr>
        <ns0:grpSpPr>
          <ns1:xfrm rot="0">
            <ns1:off x="6679692" y="1920240"/>
            <ns1:ext cx="4800600" cy="548640"/>
            <ns1:chOff x="0" y="0"/>
            <ns1:chExt cx="6400800" cy="731520"/>
          </ns1:xfrm>
        </ns0:grpSpPr>
        <ns0:sp>
          <ns0:nvSpPr>
            <ns0:cNvPr name="Freeform 19" id="19"/>
            <ns0:cNvSpPr/>
            <ns0:nvPr/>
          </ns0:nvSpPr>
          <ns0:spPr>
            <ns1:xfrm flipH="false" flipV="false" rot="0">
              <ns1:off x="0" y="0"/>
              <ns1:ext cx="6400800" cy="731520"/>
            </ns1:xfrm>
            <ns1:custGeom>
              <ns1:avLst/>
              <ns1:gdLst/>
              <ns1:ahLst/>
              <ns1:cxnLst/>
              <ns1:rect r="r" b="b" t="t" l="l"/>
              <ns1:pathLst>
                <ns1:path h="731520" w="6400800">
                  <ns1:moveTo>
                    <ns1:pt x="0" y="0"/>
                  </ns1:moveTo>
                  <ns1:lnTo>
                    <ns1:pt x="6400800" y="0"/>
                  </ns1:lnTo>
                  <ns1:lnTo>
                    <ns1:pt x="6400800" y="731520"/>
                  </ns1:lnTo>
                  <ns1:lnTo>
                    <ns1:pt x="0" y="731520"/>
                  </ns1:lnTo>
                  <ns1:close/>
                </ns1:path>
              </ns1:pathLst>
            </ns1:custGeom>
            <ns1:blipFill>
              <ns1:blip ns2:embed="rId3">
                <ns1:alphaModFix amt="0"/>
              </ns1:blip>
              <ns1:stretch>
                <ns1:fillRect l="0" t="-120494" r="0" b="-120494"/>
              </ns1:stretch>
            </ns1:blipFill>
          </ns0:spPr>
        </ns0:sp>
        <ns0:sp>
          <ns0:nvSpPr>
            <ns0:cNvPr name="TextBox 20" id="20"/>
            <ns0:cNvSpPr txBox="true"/>
            <ns0:nvPr/>
          </ns0:nvSpPr>
          <ns0:spPr>
            <ns1:xfrm>
              <ns1:off x="0" y="-47625"/>
              <ns1:ext cx="6400800" cy="779145"/>
            </ns1:xfrm>
            <ns1:prstGeom prst="rect">
              <ns1:avLst/>
            </ns1:prstGeom>
          </ns0:spPr>
          <ns0:txBody>
            <ns1:bodyPr anchor="ctr" rtlCol="false" tIns="0" lIns="0" bIns="0" rIns="0"/>
            <ns1:lstStyle/>
            <ns1:p>
              <ns1:pPr algn="l">
                <ns1:lnSpc>
                  <ns1:spcPts val="2699"/>
                </ns1:lnSpc>
              </ns1:pPr>
              <ns1:r>
                <ns1:rPr lang="en-US" sz="2249" b="true">
                  <ns1:solidFill>
                    <ns1:srgbClr val="D98E04"/>
                  </ns1:solidFill>
                  <ns1:latin typeface="Calibri (MS) Bold"/>
                  <ns1:ea typeface="Calibri (MS) Bold"/>
                  <ns1:cs typeface="Calibri (MS) Bold"/>
                  <ns1:sym typeface="Calibri (MS) Bold"/>
                </ns1:rPr>
                <ns1:t>VIABILITY</ns1:t>
              </ns1:r>
            </ns1:p>
          </ns0:txBody>
        </ns0:sp>
      </ns0:grpSp>
      <ns0:sp>
        <ns0:nvSpPr>
          <ns0:cNvPr name="TextBox 21" id="21"/>
          <ns0:cNvSpPr txBox="true"/>
          <ns0:nvPr/>
        </ns0:nvSpPr>
        <ns0:spPr>
          <ns1:xfrm rot="0">
            <ns1:off x="6679692" y="2617470"/>
            <ns1:ext cx="4800600" cy="1149637"/>
          </ns1:xfrm>
          <ns1:prstGeom prst="rect">
            <ns1:avLst/>
          </ns1:prstGeom>
        </ns0:spPr>
        <ns0:txBody>
          <ns1:bodyPr anchor="t" rtlCol="false" tIns="0" lIns="0" bIns="0" rIns="0">
            <ns1:spAutoFit/>
          </ns1:bodyPr>
          <ns1:lstStyle/>
          <ns1:p>
            <ns1:pPr algn="l">
              <ns1:lnSpc>
                <ns1:spcPts val="2494"/>
              </ns1:lnSpc>
            </ns1:pPr>
            <ns1:r>
              <ns1:rPr lang="en-US" sz="1924" b="true">
                <ns1:solidFill>
                  <ns1:srgbClr val="FFFFFF"/>
                </ns1:solidFill>
                <ns1:latin typeface="Calibri (MS) Bold"/>
                <ns1:ea typeface="Calibri (MS) Bold"/>
                <ns1:cs typeface="Calibri (MS) Bold"/>
                <ns1:sym typeface="Calibri (MS) Bold"/>
              </ns1:rPr>
              <ns1:t>Battle-Tested Model</ns1:t>
            </ns1:r>
          </ns1:p>
          <ns1:p>
            <ns1:pPr algn="l">
              <ns1:lnSpc>
                <ns1:spcPts val="2144"/>
              </ns1:lnSpc>
            </ns1:pPr>
          </ns1:p>
          <ns1:p>
            <ns1:pPr algn="l">
              <ns1:lnSpc>
                <ns1:spcPts val="2144"/>
              </ns1:lnSpc>
            </ns1:pPr>
            <ns1:r>
              <ns1:rPr lang="en-US" sz="1654">
                <ns1:solidFill>
                  <ns1:srgbClr val="C7D3E4"/>
                </ns1:solidFill>
                <ns1:latin typeface="Calibri (MS)"/>
                <ns1:ea typeface="Calibri (MS)"/>
                <ns1:cs typeface="Calibri (MS)"/>
                <ns1:sym typeface="Calibri (MS)"/>
              </ns1:rPr>
              <ns1:t>Estonia X-Road (&lt;€1M/yr) &amp; IndEA 2.0 benchmarked; provides 99.9% federated uptime at state scale.</ns1:t>
            </ns1:r>
          </ns1:p>
        </ns0:txBody>
      </ns0:sp>
      <ns0:sp>
        <ns0:nvSpPr>
          <ns0:cNvPr name="TextBox 22" id="22"/>
          <ns0:cNvSpPr txBox="true"/>
          <ns0:nvPr/>
        </ns0:nvSpPr>
        <ns0:spPr>
          <ns1:xfrm rot="0">
            <ns1:off x="6679692" y="4331970"/>
            <ns1:ext cx="4800600" cy="1149637"/>
          </ns1:xfrm>
          <ns1:prstGeom prst="rect">
            <ns1:avLst/>
          </ns1:prstGeom>
        </ns0:spPr>
        <ns0:txBody>
          <ns1:bodyPr anchor="t" rtlCol="false" tIns="0" lIns="0" bIns="0" rIns="0">
            <ns1:spAutoFit/>
          </ns1:bodyPr>
          <ns1:lstStyle/>
          <ns1:p>
            <ns1:pPr algn="l">
              <ns1:lnSpc>
                <ns1:spcPts val="2494"/>
              </ns1:lnSpc>
            </ns1:pPr>
            <ns1:r>
              <ns1:rPr lang="en-US" sz="1924" b="true">
                <ns1:solidFill>
                  <ns1:srgbClr val="FFFFFF"/>
                </ns1:solidFill>
                <ns1:latin typeface="Calibri (MS) Bold"/>
                <ns1:ea typeface="Calibri (MS) Bold"/>
                <ns1:cs typeface="Calibri (MS) Bold"/>
                <ns1:sym typeface="Calibri (MS) Bold"/>
              </ns1:rPr>
              <ns1:t>DPDP Act Compliance</ns1:t>
            </ns1:r>
          </ns1:p>
          <ns1:p>
            <ns1:pPr algn="l">
              <ns1:lnSpc>
                <ns1:spcPts val="2144"/>
              </ns1:lnSpc>
            </ns1:pPr>
          </ns1:p>
          <ns1:p>
            <ns1:pPr algn="l">
              <ns1:lnSpc>
                <ns1:spcPts val="2144"/>
              </ns1:lnSpc>
            </ns1:pPr>
            <ns1:r>
              <ns1:rPr lang="en-US" sz="1654">
                <ns1:solidFill>
                  <ns1:srgbClr val="C7D3E4"/>
                </ns1:solidFill>
                <ns1:latin typeface="Calibri (MS)"/>
                <ns1:ea typeface="Calibri (MS)"/>
                <ns1:cs typeface="Calibri (MS)"/>
                <ns1:sym typeface="Calibri (MS)"/>
              </ns1:rPr>
              <ns1:t>Section 6 consent artifacts + immutable SHA-256 hash chains fulfill Right to Services (RTS) audits.</ns1:t>
            </ns1:r>
          </ns1:p>
        </ns0:txBody>
      </ns0:sp>
      <ns0:sp>
        <ns0:nvSpPr>
          <ns0:cNvPr name="TextBox 23" id="23"/>
          <ns0:cNvSpPr txBox="true"/>
          <ns0:nvPr/>
        </ns0:nvSpPr>
        <ns0:spPr>
          <ns1:xfrm rot="0">
            <ns1:off x="6679692" y="6046470"/>
            <ns1:ext cx="4800600" cy="1149637"/>
          </ns1:xfrm>
          <ns1:prstGeom prst="rect">
            <ns1:avLst/>
          </ns1:prstGeom>
        </ns0:spPr>
        <ns0:txBody>
          <ns1:bodyPr anchor="t" rtlCol="false" tIns="0" lIns="0" bIns="0" rIns="0">
            <ns1:spAutoFit/>
          </ns1:bodyPr>
          <ns1:lstStyle/>
          <ns1:p>
            <ns1:pPr algn="l">
              <ns1:lnSpc>
                <ns1:spcPts val="2494"/>
              </ns1:lnSpc>
            </ns1:pPr>
            <ns1:r>
              <ns1:rPr lang="en-US" sz="1924" b="true">
                <ns1:solidFill>
                  <ns1:srgbClr val="FFFFFF"/>
                </ns1:solidFill>
                <ns1:latin typeface="Calibri (MS) Bold"/>
                <ns1:ea typeface="Calibri (MS) Bold"/>
                <ns1:cs typeface="Calibri (MS) Bold"/>
                <ns1:sym typeface="Calibri (MS) Bold"/>
              </ns1:rPr>
              <ns1:t>State Data Authority Mandate</ns1:t>
            </ns1:r>
          </ns1:p>
          <ns1:p>
            <ns1:pPr algn="l">
              <ns1:lnSpc>
                <ns1:spcPts val="2144"/>
              </ns1:lnSpc>
            </ns1:pPr>
          </ns1:p>
          <ns1:p>
            <ns1:pPr algn="l">
              <ns1:lnSpc>
                <ns1:spcPts val="2144"/>
              </ns1:lnSpc>
            </ns1:pPr>
            <ns1:r>
              <ns1:rPr lang="en-US" sz="1654">
                <ns1:solidFill>
                  <ns1:srgbClr val="C7D3E4"/>
                </ns1:solidFill>
                <ns1:latin typeface="Calibri (MS)"/>
                <ns1:ea typeface="Calibri (MS)"/>
                <ns1:cs typeface="Calibri (MS)"/>
                <ns1:sym typeface="Calibri (MS)"/>
              </ns1:rPr>
              <ns1:t>Backed by Maharashtra State Data Policy (MSDP-2024) to enforce unified API data-sharing.</ns1:t>
            </ns1:r>
          </ns1:p>
        </ns0:txBody>
      </ns0:sp>
      <ns0:sp>
        <ns0:nvSpPr>
          <ns0:cNvPr name="TextBox 24" id="24"/>
          <ns0:cNvSpPr txBox="true"/>
          <ns0:nvPr/>
        </ns0:nvSpPr>
        <ns0:spPr>
          <ns1:xfrm rot="0">
            <ns1:off x="6679692" y="7760970"/>
            <ns1:ext cx="4800600" cy="1416299"/>
          </ns1:xfrm>
          <ns1:prstGeom prst="rect">
            <ns1:avLst/>
          </ns1:prstGeom>
        </ns0:spPr>
        <ns0:txBody>
          <ns1:bodyPr anchor="t" rtlCol="false" tIns="0" lIns="0" bIns="0" rIns="0">
            <ns1:spAutoFit/>
          </ns1:bodyPr>
          <ns1:lstStyle/>
          <ns1:p>
            <ns1:pPr algn="l">
              <ns1:lnSpc>
                <ns1:spcPts val="2494"/>
              </ns1:lnSpc>
            </ns1:pPr>
            <ns1:r>
              <ns1:rPr lang="en-US" sz="1924" b="true">
                <ns1:solidFill>
                  <ns1:srgbClr val="FFFFFF"/>
                </ns1:solidFill>
                <ns1:latin typeface="Calibri (MS) Bold"/>
                <ns1:ea typeface="Calibri (MS) Bold"/>
                <ns1:cs typeface="Calibri (MS) Bold"/>
                <ns1:sym typeface="Calibri (MS) Bold"/>
              </ns1:rPr>
              <ns1:t>Digital India Alignment</ns1:t>
            </ns1:r>
          </ns1:p>
          <ns1:p>
            <ns1:pPr algn="l">
              <ns1:lnSpc>
                <ns1:spcPts val="2144"/>
              </ns1:lnSpc>
            </ns1:pPr>
          </ns1:p>
          <ns1:p>
            <ns1:pPr algn="l">
              <ns1:lnSpc>
                <ns1:spcPts val="2144"/>
              </ns1:lnSpc>
            </ns1:pPr>
            <ns1:r>
              <ns1:rPr lang="en-US" sz="1654">
                <ns1:solidFill>
                  <ns1:srgbClr val="C7D3E4"/>
                </ns1:solidFill>
                <ns1:latin typeface="Calibri (MS)"/>
                <ns1:ea typeface="Calibri (MS)"/>
                <ns1:cs typeface="Calibri (MS)"/>
                <ns1:sym typeface="Calibri (MS)"/>
              </ns1:rPr>
              <ns1:t>Plugs into Meri Pehchaan, DigiLocker, and API Setu; complements national digital public infrastructure.</ns1:t>
            </ns1:r>
          </ns1:p>
        </ns0:txBody>
      </ns0:sp>
      <ns0:grpSp>
        <ns0:nvGrpSpPr>
          <ns0:cNvPr name="Group 25" id="25"/>
          <ns0:cNvGrpSpPr/>
          <ns0:nvPr/>
        </ns0:nvGrpSpPr>
        <ns0:grpSpPr>
          <ns1:xfrm rot="0">
            <ns1:off x="12124944" y="1645920"/>
            <ns1:ext cx="5486400" cy="7818120"/>
            <ns1:chOff x="0" y="0"/>
            <ns1:chExt cx="7315200" cy="10424160"/>
          </ns1:xfrm>
        </ns0:grpSpPr>
        <ns0:sp>
          <ns0:nvSpPr>
            <ns0:cNvPr name="Freeform 26" id="26"/>
            <ns0:cNvSpPr/>
            <ns0:nvPr/>
          </ns0:nvSpPr>
          <ns0:spPr>
            <ns1:xfrm flipH="false" flipV="false" rot="0">
              <ns1:off x="0" y="0"/>
              <ns1:ext cx="7315200" cy="10424161"/>
            </ns1:xfrm>
            <ns1:custGeom>
              <ns1:avLst/>
              <ns1:gdLst/>
              <ns1:ahLst/>
              <ns1:cxnLst/>
              <ns1:rect r="r" b="b" t="t" l="l"/>
              <ns1:pathLst>
                <ns1:path h="10424161" w="7315200">
                  <ns1:moveTo>
                    <ns1:pt x="0" y="146304"/>
                  </ns1:moveTo>
                  <ns1:cubicBezTo>
                    <ns1:pt x="0" y="65532"/>
                    <ns1:pt x="65532" y="0"/>
                    <ns1:pt x="146304" y="0"/>
                  </ns1:cubicBezTo>
                  <ns1:lnTo>
                    <ns1:pt x="7168896" y="0"/>
                  </ns1:lnTo>
                  <ns1:cubicBezTo>
                    <ns1:pt x="7249668" y="0"/>
                    <ns1:pt x="7315200" y="65532"/>
                    <ns1:pt x="7315200" y="146304"/>
                  </ns1:cubicBezTo>
                  <ns1:lnTo>
                    <ns1:pt x="7315200" y="10277856"/>
                  </ns1:lnTo>
                  <ns1:cubicBezTo>
                    <ns1:pt x="7315200" y="10358628"/>
                    <ns1:pt x="7249668" y="10424161"/>
                    <ns1:pt x="7168896" y="10424161"/>
                  </ns1:cubicBezTo>
                  <ns1:lnTo>
                    <ns1:pt x="146304" y="10424161"/>
                  </ns1:lnTo>
                  <ns1:cubicBezTo>
                    <ns1:pt x="65532" y="10424160"/>
                    <ns1:pt x="0" y="10358628"/>
                    <ns1:pt x="0" y="10277856"/>
                  </ns1:cubicBezTo>
                  <ns1:close/>
                </ns1:path>
              </ns1:pathLst>
            </ns1:custGeom>
            <ns1:solidFill>
              <ns1:srgbClr val="11676A"/>
            </ns1:solidFill>
          </ns0:spPr>
        </ns0:sp>
      </ns0:grpSp>
      <ns0:grpSp>
        <ns0:nvGrpSpPr>
          <ns0:cNvPr name="Group 27" id="27"/>
          <ns0:cNvGrpSpPr/>
          <ns0:nvPr/>
        </ns0:nvGrpSpPr>
        <ns0:grpSpPr>
          <ns1:xfrm rot="0">
            <ns1:off x="12467844" y="1920240"/>
            <ns1:ext cx="4800600" cy="548640"/>
            <ns1:chOff x="0" y="0"/>
            <ns1:chExt cx="6400800" cy="731520"/>
          </ns1:xfrm>
        </ns0:grpSpPr>
        <ns0:sp>
          <ns0:nvSpPr>
            <ns0:cNvPr name="Freeform 28" id="28"/>
            <ns0:cNvSpPr/>
            <ns0:nvPr/>
          </ns0:nvSpPr>
          <ns0:spPr>
            <ns1:xfrm flipH="false" flipV="false" rot="0">
              <ns1:off x="0" y="0"/>
              <ns1:ext cx="6400800" cy="731520"/>
            </ns1:xfrm>
            <ns1:custGeom>
              <ns1:avLst/>
              <ns1:gdLst/>
              <ns1:ahLst/>
              <ns1:cxnLst/>
              <ns1:rect r="r" b="b" t="t" l="l"/>
              <ns1:pathLst>
                <ns1:path h="731520" w="6400800">
                  <ns1:moveTo>
                    <ns1:pt x="0" y="0"/>
                  </ns1:moveTo>
                  <ns1:lnTo>
                    <ns1:pt x="6400800" y="0"/>
                  </ns1:lnTo>
                  <ns1:lnTo>
                    <ns1:pt x="6400800" y="731520"/>
                  </ns1:lnTo>
                  <ns1:lnTo>
                    <ns1:pt x="0" y="731520"/>
                  </ns1:lnTo>
                  <ns1:close/>
                </ns1:path>
              </ns1:pathLst>
            </ns1:custGeom>
            <ns1:blipFill>
              <ns1:blip ns2:embed="rId3">
                <ns1:alphaModFix amt="0"/>
              </ns1:blip>
              <ns1:stretch>
                <ns1:fillRect l="0" t="-120494" r="0" b="-120494"/>
              </ns1:stretch>
            </ns1:blipFill>
          </ns0:spPr>
        </ns0:sp>
        <ns0:sp>
          <ns0:nvSpPr>
            <ns0:cNvPr name="TextBox 29" id="29"/>
            <ns0:cNvSpPr txBox="true"/>
            <ns0:nvPr/>
          </ns0:nvSpPr>
          <ns0:spPr>
            <ns1:xfrm>
              <ns1:off x="0" y="-47625"/>
              <ns1:ext cx="6400800" cy="779145"/>
            </ns1:xfrm>
            <ns1:prstGeom prst="rect">
              <ns1:avLst/>
            </ns1:prstGeom>
          </ns0:spPr>
          <ns0:txBody>
            <ns1:bodyPr anchor="ctr" rtlCol="false" tIns="0" lIns="0" bIns="0" rIns="0"/>
            <ns1:lstStyle/>
            <ns1:p>
              <ns1:pPr algn="l">
                <ns1:lnSpc>
                  <ns1:spcPts val="2699"/>
                </ns1:lnSpc>
              </ns1:pPr>
              <ns1:r>
                <ns1:rPr lang="en-US" sz="2249" b="true">
                  <ns1:solidFill>
                    <ns1:srgbClr val="D98E04"/>
                  </ns1:solidFill>
                  <ns1:latin typeface="Calibri (MS) Bold"/>
                  <ns1:ea typeface="Calibri (MS) Bold"/>
                  <ns1:cs typeface="Calibri (MS) Bold"/>
                  <ns1:sym typeface="Calibri (MS) Bold"/>
                </ns1:rPr>
                <ns1:t>BUSINESS POTENTIAL</ns1:t>
              </ns1:r>
            </ns1:p>
          </ns0:txBody>
        </ns0:sp>
      </ns0:grpSp>
      <ns0:sp>
        <ns0:nvSpPr>
          <ns0:cNvPr name="TextBox 30" id="30"/>
          <ns0:cNvSpPr txBox="true"/>
          <ns0:nvPr/>
        </ns0:nvSpPr>
        <ns0:spPr>
          <ns1:xfrm rot="0">
            <ns1:off x="12467844" y="2617470"/>
            <ns1:ext cx="4800600" cy="1149637"/>
          </ns1:xfrm>
          <ns1:prstGeom prst="rect">
            <ns1:avLst/>
          </ns1:prstGeom>
        </ns0:spPr>
        <ns0:txBody>
          <ns1:bodyPr anchor="t" rtlCol="false" tIns="0" lIns="0" bIns="0" rIns="0">
            <ns1:spAutoFit/>
          </ns1:bodyPr>
          <ns1:lstStyle/>
          <ns1:p>
            <ns1:pPr algn="l">
              <ns1:lnSpc>
                <ns1:spcPts val="2494"/>
              </ns1:lnSpc>
            </ns1:pPr>
            <ns1:r>
              <ns1:rPr lang="en-US" sz="1924" b="true">
                <ns1:solidFill>
                  <ns1:srgbClr val="FFFFFF"/>
                </ns1:solidFill>
                <ns1:latin typeface="Calibri (MS) Bold"/>
                <ns1:ea typeface="Calibri (MS) Bold"/>
                <ns1:cs typeface="Calibri (MS) Bold"/>
                <ns1:sym typeface="Calibri (MS) Bold"/>
              </ns1:rPr>
              <ns1:t>₹500 Cr Budget Savings</ns1:t>
            </ns1:r>
          </ns1:p>
          <ns1:p>
            <ns1:pPr algn="l">
              <ns1:lnSpc>
                <ns1:spcPts val="2144"/>
              </ns1:lnSpc>
            </ns1:pPr>
          </ns1:p>
          <ns1:p>
            <ns1:pPr algn="l">
              <ns1:lnSpc>
                <ns1:spcPts val="2144"/>
              </ns1:lnSpc>
            </ns1:pPr>
            <ns1:r>
              <ns1:rPr lang="en-US" sz="1654">
                <ns1:solidFill>
                  <ns1:srgbClr val="C7D3E4"/>
                </ns1:solidFill>
                <ns1:latin typeface="Calibri (MS)"/>
                <ns1:ea typeface="Calibri (MS)"/>
                <ns1:cs typeface="Calibri (MS)"/>
                <ns1:sym typeface="Calibri (MS)"/>
              </ns1:rPr>
              <ns1:t>Eliminates redundant departmental software tenders and duplicate data verification infrastructure.</ns1:t>
            </ns1:r>
          </ns1:p>
        </ns0:txBody>
      </ns0:sp>
      <ns0:sp>
        <ns0:nvSpPr>
          <ns0:cNvPr name="TextBox 31" id="31"/>
          <ns0:cNvSpPr txBox="true"/>
          <ns0:nvPr/>
        </ns0:nvSpPr>
        <ns0:spPr>
          <ns1:xfrm rot="0">
            <ns1:off x="12467844" y="4331970"/>
            <ns1:ext cx="4800600" cy="1149637"/>
          </ns1:xfrm>
          <ns1:prstGeom prst="rect">
            <ns1:avLst/>
          </ns1:prstGeom>
        </ns0:spPr>
        <ns0:txBody>
          <ns1:bodyPr anchor="t" rtlCol="false" tIns="0" lIns="0" bIns="0" rIns="0">
            <ns1:spAutoFit/>
          </ns1:bodyPr>
          <ns1:lstStyle/>
          <ns1:p>
            <ns1:pPr algn="l">
              <ns1:lnSpc>
                <ns1:spcPts val="2494"/>
              </ns1:lnSpc>
            </ns1:pPr>
            <ns1:r>
              <ns1:rPr lang="en-US" sz="1924" b="true">
                <ns1:solidFill>
                  <ns1:srgbClr val="FFFFFF"/>
                </ns1:solidFill>
                <ns1:latin typeface="Calibri (MS) Bold"/>
                <ns1:ea typeface="Calibri (MS) Bold"/>
                <ns1:cs typeface="Calibri (MS) Bold"/>
                <ns1:sym typeface="Calibri (MS) Bold"/>
              </ns1:rPr>
              <ns1:t>Institutional Funding</ns1:t>
            </ns1:r>
          </ns1:p>
          <ns1:p>
            <ns1:pPr algn="l">
              <ns1:lnSpc>
                <ns1:spcPts val="2144"/>
              </ns1:lnSpc>
            </ns1:pPr>
          </ns1:p>
          <ns1:p>
            <ns1:pPr algn="l">
              <ns1:lnSpc>
                <ns1:spcPts val="2144"/>
              </ns1:lnSpc>
            </ns1:pPr>
            <ns1:r>
              <ns1:rPr lang="en-US" sz="1654">
                <ns1:solidFill>
                  <ns1:srgbClr val="C7D3E4"/>
                </ns1:solidFill>
                <ns1:latin typeface="Calibri (MS)"/>
                <ns1:ea typeface="Calibri (MS)"/>
                <ns1:cs typeface="Calibri (MS)"/>
                <ns1:sym typeface="Calibri (MS)"/>
              </ns1:rPr>
              <ns1:t>Funded through Digital India Mission state component, MeitY grants, and MSDP-2024 allocations.</ns1:t>
            </ns1:r>
          </ns1:p>
        </ns0:txBody>
      </ns0:sp>
      <ns0:sp>
        <ns0:nvSpPr>
          <ns0:cNvPr name="TextBox 32" id="32"/>
          <ns0:cNvSpPr txBox="true"/>
          <ns0:nvPr/>
        </ns0:nvSpPr>
        <ns0:spPr>
          <ns1:xfrm rot="0">
            <ns1:off x="12467844" y="6046470"/>
            <ns1:ext cx="4800600" cy="1149637"/>
          </ns1:xfrm>
          <ns1:prstGeom prst="rect">
            <ns1:avLst/>
          </ns1:prstGeom>
        </ns0:spPr>
        <ns0:txBody>
          <ns1:bodyPr anchor="t" rtlCol="false" tIns="0" lIns="0" bIns="0" rIns="0">
            <ns1:spAutoFit/>
          </ns1:bodyPr>
          <ns1:lstStyle/>
          <ns1:p>
            <ns1:pPr algn="l">
              <ns1:lnSpc>
                <ns1:spcPts val="2494"/>
              </ns1:lnSpc>
            </ns1:pPr>
            <ns1:r>
              <ns1:rPr lang="en-US" sz="1924" b="true">
                <ns1:solidFill>
                  <ns1:srgbClr val="FFFFFF"/>
                </ns1:solidFill>
                <ns1:latin typeface="Calibri (MS) Bold"/>
                <ns1:ea typeface="Calibri (MS) Bold"/>
                <ns1:cs typeface="Calibri (MS) Bold"/>
                <ns1:sym typeface="Calibri (MS) Bold"/>
              </ns1:rPr>
              <ns1:t>Sustainable Cost Recovery</ns1:t>
            </ns1:r>
          </ns1:p>
          <ns1:p>
            <ns1:pPr algn="l">
              <ns1:lnSpc>
                <ns1:spcPts val="2144"/>
              </ns1:lnSpc>
            </ns1:pPr>
          </ns1:p>
          <ns1:p>
            <ns1:pPr algn="l">
              <ns1:lnSpc>
                <ns1:spcPts val="2144"/>
              </ns1:lnSpc>
            </ns1:pPr>
            <ns1:r>
              <ns1:rPr lang="en-US" sz="1654">
                <ns1:solidFill>
                  <ns1:srgbClr val="C7D3E4"/>
                </ns1:solidFill>
                <ns1:latin typeface="Calibri (MS)"/>
                <ns1:ea typeface="Calibri (MS)"/>
                <ns1:cs typeface="Calibri (MS)"/>
                <ns1:sym typeface="Calibri (MS)"/>
              </ns1:rPr>
              <ns1:t>Nominal per-transaction API clearing fee ensures self-sustaining operations post-deployment.</ns1:t>
            </ns1:r>
          </ns1:p>
        </ns0:txBody>
      </ns0:sp>
      <ns0:sp>
        <ns0:nvSpPr>
          <ns0:cNvPr name="TextBox 33" id="33"/>
          <ns0:cNvSpPr txBox="true"/>
          <ns0:nvPr/>
        </ns0:nvSpPr>
        <ns0:spPr>
          <ns1:xfrm rot="0">
            <ns1:off x="12467844" y="7760970"/>
            <ns1:ext cx="4800600" cy="1149637"/>
          </ns1:xfrm>
          <ns1:prstGeom prst="rect">
            <ns1:avLst/>
          </ns1:prstGeom>
        </ns0:spPr>
        <ns0:txBody>
          <ns1:bodyPr anchor="t" rtlCol="false" tIns="0" lIns="0" bIns="0" rIns="0">
            <ns1:spAutoFit/>
          </ns1:bodyPr>
          <ns1:lstStyle/>
          <ns1:p>
            <ns1:pPr algn="l">
              <ns1:lnSpc>
                <ns1:spcPts val="2494"/>
              </ns1:lnSpc>
            </ns1:pPr>
            <ns1:r>
              <ns1:rPr lang="en-US" sz="1924" b="true">
                <ns1:solidFill>
                  <ns1:srgbClr val="FFFFFF"/>
                </ns1:solidFill>
                <ns1:latin typeface="Calibri (MS) Bold"/>
                <ns1:ea typeface="Calibri (MS) Bold"/>
                <ns1:cs typeface="Calibri (MS) Bold"/>
                <ns1:sym typeface="Calibri (MS) Bold"/>
              </ns1:rPr>
              <ns1:t>Digital Public Good (DPG)</ns1:t>
            </ns1:r>
          </ns1:p>
          <ns1:p>
            <ns1:pPr algn="l">
              <ns1:lnSpc>
                <ns1:spcPts val="2144"/>
              </ns1:lnSpc>
            </ns1:pPr>
          </ns1:p>
          <ns1:p>
            <ns1:pPr algn="l">
              <ns1:lnSpc>
                <ns1:spcPts val="2144"/>
              </ns1:lnSpc>
            </ns1:pPr>
            <ns1:r>
              <ns1:rPr lang="en-US" sz="1654">
                <ns1:solidFill>
                  <ns1:srgbClr val="C7D3E4"/>
                </ns1:solidFill>
                <ns1:latin typeface="Calibri (MS)"/>
                <ns1:ea typeface="Calibri (MS)"/>
                <ns1:cs typeface="Calibri (MS)"/>
                <ns1:sym typeface="Calibri (MS)"/>
              </ns1:rPr>
              <ns1:t>Open-source 'State Interoperability Kit' allows immediate replication across other Indian states.</ns1:t>
            </ns1:r>
          </ns1:p>
        </ns0:txBody>
      </ns0:sp>
      <ns0:grpSp>
        <ns0:nvGrpSpPr>
          <ns0:cNvPr name="Group 34" id="34"/>
          <ns0:cNvGrpSpPr/>
          <ns0:nvPr/>
        </ns0:nvGrpSpPr>
        <ns0:grpSpPr>
          <ns1:xfrm rot="0">
            <ns1:off x="0" y="9793224"/>
            <ns1:ext cx="18283428" cy="493776"/>
            <ns1:chOff x="0" y="0"/>
            <ns1:chExt cx="24377904" cy="658368"/>
          </ns1:xfrm>
        </ns0:grpSpPr>
        <ns0:sp>
          <ns0:nvSpPr>
            <ns0:cNvPr name="Freeform 35" id="35"/>
            <ns0:cNvSpPr/>
            <ns0:nvPr/>
          </ns0:nvSpPr>
          <ns0:spPr>
            <ns1:xfrm flipH="false" flipV="false" rot="0">
              <ns1:off x="0" y="0"/>
              <ns1:ext cx="24377904" cy="658368"/>
            </ns1:xfrm>
            <ns1:custGeom>
              <ns1:avLst/>
              <ns1:gdLst/>
              <ns1:ahLst/>
              <ns1:cxnLst/>
              <ns1:rect r="r" b="b" t="t" l="l"/>
              <ns1:pathLst>
                <ns1:path h="658368" w="24377904">
                  <ns1:moveTo>
                    <ns1:pt x="0" y="0"/>
                  </ns1:moveTo>
                  <ns1:lnTo>
                    <ns1:pt x="24377904" y="0"/>
                  </ns1:lnTo>
                  <ns1:lnTo>
                    <ns1:pt x="24377904" y="658368"/>
                  </ns1:lnTo>
                  <ns1:lnTo>
                    <ns1:pt x="0" y="658368"/>
                  </ns1:lnTo>
                  <ns1:close/>
                </ns1:path>
              </ns1:pathLst>
            </ns1:custGeom>
            <ns1:solidFill>
              <ns1:srgbClr val="081B33"/>
            </ns1:solidFill>
          </ns0:spPr>
        </ns0:sp>
      </ns0:grpSp>
      <ns0:grpSp>
        <ns0:nvGrpSpPr>
          <ns0:cNvPr name="Group 36" id="36"/>
          <ns0:cNvGrpSpPr/>
          <ns0:nvPr/>
        </ns0:nvGrpSpPr>
        <ns0:grpSpPr>
          <ns1:xfrm rot="0">
            <ns1:off x="17282160" y="9793224"/>
            <ns1:ext cx="685800" cy="493776"/>
            <ns1:chOff x="0" y="0"/>
            <ns1:chExt cx="914400" cy="658368"/>
          </ns1:xfrm>
        </ns0:grpSpPr>
        <ns0:sp>
          <ns0:nvSpPr>
            <ns0:cNvPr name="Freeform 37" id="37"/>
            <ns0:cNvSpPr/>
            <ns0:nvPr/>
          </ns0:nvSpPr>
          <ns0:spPr>
            <ns1:xfrm flipH="false" flipV="false" rot="0">
              <ns1:off x="0" y="0"/>
              <ns1:ext cx="914400" cy="658368"/>
            </ns1:xfrm>
            <ns1:custGeom>
              <ns1:avLst/>
              <ns1:gdLst/>
              <ns1:ahLst/>
              <ns1:cxnLst/>
              <ns1:rect r="r" b="b" t="t" l="l"/>
              <ns1:pathLst>
                <ns1:path h="658368" w="914400">
                  <ns1:moveTo>
                    <ns1:pt x="0" y="0"/>
                  </ns1:moveTo>
                  <ns1:lnTo>
                    <ns1:pt x="914400" y="0"/>
                  </ns1:lnTo>
                  <ns1:lnTo>
                    <ns1:pt x="914400" y="658368"/>
                  </ns1:lnTo>
                  <ns1:lnTo>
                    <ns1:pt x="0" y="658368"/>
                  </ns1:lnTo>
                  <ns1:close/>
                </ns1:path>
              </ns1:pathLst>
            </ns1:custGeom>
            <ns1:blipFill>
              <ns1:blip ns2:embed="rId3">
                <ns1:alphaModFix amt="0"/>
              </ns1:blip>
              <ns1:stretch>
                <ns1:fillRect l="-42378" t="0" r="-42378" b="0"/>
              </ns1:stretch>
            </ns1:blipFill>
          </ns0:spPr>
        </ns0:sp>
        <ns0:sp>
          <ns0:nvSpPr>
            <ns0:cNvPr name="TextBox 38" id="38"/>
            <ns0:cNvSpPr txBox="true"/>
            <ns0:nvPr/>
          </ns0:nvSpPr>
          <ns0:spPr>
            <ns1:xfrm>
              <ns1:off x="0" y="-38100"/>
              <ns1:ext cx="914400" cy="696468"/>
            </ns1:xfrm>
            <ns1:prstGeom prst="rect">
              <ns1:avLst/>
            </ns1:prstGeom>
          </ns0:spPr>
          <ns0:txBody>
            <ns1:bodyPr anchor="ctr" rtlCol="false" tIns="0" lIns="0" bIns="0" rIns="0"/>
            <ns1:lstStyle/>
            <ns1:p>
              <ns1:pPr algn="r">
                <ns1:lnSpc>
                  <ns1:spcPts val="1800"/>
                </ns1:lnSpc>
              </ns1:pPr>
              <ns1:r>
                <ns1:rPr lang="en-US" sz="1500">
                  <ns1:solidFill>
                    <ns1:srgbClr val="AFC3DA"/>
                  </ns1:solidFill>
                  <ns1:latin typeface="Calibri (MS)"/>
                  <ns1:ea typeface="Calibri (MS)"/>
                  <ns1:cs typeface="Calibri (MS)"/>
                  <ns1:sym typeface="Calibri (MS)"/>
                </ns1:rPr>
                <ns1:t>4</ns1:t>
              </ns1:r>
            </ns1:p>
          </ns0:txBody>
        </ns0:sp>
      </ns0:grpSp>
      <ns0:sp>
        <ns0:nvSpPr>
          <ns0:cNvPr name="TextBox 39" id="39"/>
          <ns0:cNvSpPr txBox="true"/>
          <ns0:nvPr/>
        </ns0:nvSpPr>
        <ns0:spPr>
          <ns1:xfrm rot="0">
            <ns1:off x="5692140" y="541382"/>
            <ns1:ext cx="6451435" cy="590588"/>
          </ns1:xfrm>
          <ns1:prstGeom prst="rect">
            <ns1:avLst/>
          </ns1:prstGeom>
        </ns0:spPr>
        <ns0:txBody>
          <ns1:bodyPr anchor="t" rtlCol="false" tIns="0" lIns="0" bIns="0" rIns="0">
            <ns1:spAutoFit/>
          </ns1:bodyPr>
          <ns1:lstStyle/>
          <ns1:p>
            <ns1:pPr algn="ctr">
              <ns1:lnSpc>
                <ns1:spcPts val="4679"/>
              </ns1:lnSpc>
              <ns1:spcBef>
                <ns1:spcPct val="0"/>
              </ns1:spcBef>
            </ns1:pPr>
            <ns1:r>
              <ns1:rPr lang="en-US" b="true" sz="3899">
                <ns1:solidFill>
                  <ns1:srgbClr val="15263B"/>
                </ns1:solidFill>
                <ns1:latin typeface="Cambria Bold"/>
                <ns1:ea typeface="Cambria Bold"/>
                <ns1:cs typeface="Cambria Bold"/>
                <ns1:sym typeface="Cambria Bold"/>
              </ns1:rPr>
              <ns1:t>FEASIBILIT</ns1:t>
            </ns1:r>
            <ns1:r>
              <ns1:rPr lang="en-US" b="true" sz="3899">
                <ns1:solidFill>
                  <ns1:srgbClr val="15263B"/>
                </ns1:solidFill>
                <ns1:latin typeface="Cambria Bold"/>
                <ns1:ea typeface="Cambria Bold"/>
                <ns1:cs typeface="Cambria Bold"/>
                <ns1:sym typeface="Cambria Bold"/>
              </ns1:rPr>
              <ns1:t>Y AND VIABILITY</ns1:t>
            </ns1:r>
          </ns1:p>
        </ns0:txBody>
      </ns0:sp>
      <ns0:sp>
        <ns0:nvSpPr>
          <ns0:cNvPr name="TextBox 40" id="40"/>
          <ns0:cNvSpPr txBox="true"/>
          <ns0:nvPr/>
        </ns0:nvSpPr>
        <ns0:spPr>
          <ns1:xfrm rot="0">
            <ns1:off x="7269823" y="9863880"/>
            <ns1:ext cx="3743782" cy="314363"/>
          </ns1:xfrm>
          <ns1:prstGeom prst="rect">
            <ns1:avLst/>
          </ns1:prstGeom>
        </ns0:spPr>
        <ns0:txBody>
          <ns1:bodyPr anchor="t" rtlCol="false" tIns="0" lIns="0" bIns="0" rIns="0">
            <ns1:spAutoFit/>
          </ns1:bodyPr>
          <ns1:lstStyle/>
          <ns1:p>
            <ns1:pPr algn="ctr">
              <ns1:lnSpc>
                <ns1:spcPts val="2249"/>
              </ns1:lnSpc>
              <ns1:spcBef>
                <ns1:spcPct val="0"/>
              </ns1:spcBef>
            </ns1:pPr>
            <ns1:r>
              <ns1:rPr lang="en-US" sz="1874">
                <ns1:solidFill>
                  <ns1:srgbClr val="AFC3DA"/>
                </ns1:solidFill>
                <ns1:latin typeface="Calibri (MS)"/>
                <ns1:ea typeface="Calibri (MS)"/>
                <ns1:cs typeface="Calibri (MS)"/>
                <ns1:sym typeface="Calibri (MS)"/>
              </ns1:rPr>
              <ns1:t>SIH 2026</ns1:t>
            </ns1:r>
            <ns1:r>
              <ns1:rPr lang="en-US" sz="1874">
                <ns1:solidFill>
                  <ns1:srgbClr val="AFC3DA"/>
                </ns1:solidFill>
                <ns1:latin typeface="Calibri (MS)"/>
                <ns1:ea typeface="Calibri (MS)"/>
                <ns1:cs typeface="Calibri (MS)"/>
                <ns1:sym typeface="Calibri (MS)"/>
              </ns1:rPr>
              <ns1:t> Idea Submission — MahaLink</ns1:t>
            </ns1:r>
          </ns1:p>
        </ns0:txBody>
      </ns0:sp>
    </ns0:spTree>
  </ns0:cSld>
  <ns0:clrMapOvr>
    <ns1:masterClrMapping/>
  </ns0:clrMapOvr>
</ns0:sld>
</file>

<file path=ppt/slides/slide5.xml><?xml version="1.0" encoding="utf-8"?>
<ns0:sld xmlns:ns0="http://schemas.openxmlformats.org/presentationml/2006/main" xmlns:ns1="http://schemas.openxmlformats.org/drawingml/2006/main" xmlns:ns2="http://schemas.openxmlformats.org/officeDocument/2006/relationships">
  <ns0:cSld>
    <ns0:bg>
      <ns0:bgPr>
        <ns1:solidFill>
          <ns1:srgbClr val="F4F6F9"/>
        </ns1:solidFill>
      </ns0:bgPr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grpSp>
        <ns0:nvGrpSpPr>
          <ns0:cNvPr name="Group 2" id="2"/>
          <ns0:cNvGrpSpPr/>
          <ns0:nvPr/>
        </ns0:nvGrpSpPr>
        <ns0:grpSpPr>
          <ns1:xfrm rot="0">
            <ns1:off x="470535" y="401955"/>
            <ns1:ext cx="2076450" cy="869442"/>
            <ns1:chOff x="0" y="0"/>
            <ns1:chExt cx="2768600" cy="1159256"/>
          </ns1:xfrm>
        </ns0:grpSpPr>
        <ns0:sp>
          <ns0:nvSpPr>
            <ns0:cNvPr name="Freeform 3" id="3"/>
            <ns0:cNvSpPr/>
            <ns0:nvPr/>
          </ns0:nvSpPr>
          <ns0:spPr>
            <ns1:xfrm flipH="false" flipV="false" rot="0">
              <ns1:off x="0" y="0"/>
              <ns1:ext cx="2768600" cy="1159256"/>
            </ns1:xfrm>
            <ns1:custGeom>
              <ns1:avLst/>
              <ns1:gdLst/>
              <ns1:ahLst/>
              <ns1:cxnLst/>
              <ns1:rect r="r" b="b" t="t" l="l"/>
              <ns1:pathLst>
                <ns1:path h="1159256" w="2768600">
                  <ns1:moveTo>
                    <ns1:pt x="0" y="186944"/>
                  </ns1:moveTo>
                  <ns1:cubicBezTo>
                    <ns1:pt x="0" y="83693"/>
                    <ns1:pt x="83693" y="0"/>
                    <ns1:pt x="186944" y="0"/>
                  </ns1:cubicBezTo>
                  <ns1:lnTo>
                    <ns1:pt x="2581656" y="0"/>
                  </ns1:lnTo>
                  <ns1:cubicBezTo>
                    <ns1:pt x="2684907" y="0"/>
                    <ns1:pt x="2768600" y="83693"/>
                    <ns1:pt x="2768600" y="186944"/>
                  </ns1:cubicBezTo>
                  <ns1:lnTo>
                    <ns1:pt x="2768600" y="972312"/>
                  </ns1:lnTo>
                  <ns1:cubicBezTo>
                    <ns1:pt x="2768600" y="1075563"/>
                    <ns1:pt x="2684907" y="1159256"/>
                    <ns1:pt x="2581656" y="1159256"/>
                  </ns1:cubicBezTo>
                  <ns1:lnTo>
                    <ns1:pt x="186944" y="1159256"/>
                  </ns1:lnTo>
                  <ns1:cubicBezTo>
                    <ns1:pt x="83693" y="1159256"/>
                    <ns1:pt x="0" y="1075563"/>
                    <ns1:pt x="0" y="972312"/>
                  </ns1:cubicBezTo>
                  <ns1:close/>
                </ns1:path>
              </ns1:pathLst>
            </ns1:custGeom>
            <ns1:solidFill>
              <ns1:srgbClr val="FFFFFF"/>
            </ns1:solidFill>
            <ns1:ln w="19050" cap="sq">
              <ns1:solidFill>
                <ns1:srgbClr val="1C7293"/>
              </ns1:solidFill>
              <ns1:prstDash val="solid"/>
              <ns1:miter/>
            </ns1:ln>
          </ns0:spPr>
        </ns0:sp>
      </ns0:grpSp>
      <ns0:grpSp>
        <ns0:nvGrpSpPr>
          <ns0:cNvPr name="Group 4" id="4"/>
          <ns0:cNvGrpSpPr/>
          <ns0:nvPr/>
        </ns0:nvGrpSpPr>
        <ns0:grpSpPr>
          <ns1:xfrm rot="0">
            <ns1:off x="480060" y="411480"/>
            <ns1:ext cx="2057400" cy="850392"/>
            <ns1:chOff x="0" y="0"/>
            <ns1:chExt cx="2743200" cy="1133856"/>
          </ns1:xfrm>
        </ns0:grpSpPr>
        <ns0:sp>
          <ns0:nvSpPr>
            <ns0:cNvPr name="Freeform 5" id="5"/>
            <ns0:cNvSpPr/>
            <ns0:nvPr/>
          </ns0:nvSpPr>
          <ns0:spPr>
            <ns1:xfrm flipH="false" flipV="false" rot="0">
              <ns1:off x="0" y="0"/>
              <ns1:ext cx="2743200" cy="1133856"/>
            </ns1:xfrm>
            <ns1:custGeom>
              <ns1:avLst/>
              <ns1:gdLst/>
              <ns1:ahLst/>
              <ns1:cxnLst/>
              <ns1:rect r="r" b="b" t="t" l="l"/>
              <ns1:pathLst>
                <ns1:path h="1133856" w="2743200">
                  <ns1:moveTo>
                    <ns1:pt x="0" y="0"/>
                  </ns1:moveTo>
                  <ns1:lnTo>
                    <ns1:pt x="2743200" y="0"/>
                  </ns1:lnTo>
                  <ns1:lnTo>
                    <ns1:pt x="2743200" y="1133856"/>
                  </ns1:lnTo>
                  <ns1:lnTo>
                    <ns1:pt x="0" y="1133856"/>
                  </ns1:lnTo>
                  <ns1:close/>
                </ns1:path>
              </ns1:pathLst>
            </ns1:custGeom>
            <ns1:blipFill>
              <ns1:blip ns2:embed="rId3">
                <ns1:alphaModFix amt="0"/>
              </ns1:blip>
              <ns1:stretch>
                <ns1:fillRect l="-3032" t="0" r="-3032" b="0"/>
              </ns1:stretch>
            </ns1:blipFill>
          </ns0:spPr>
        </ns0:sp>
        <ns0:sp>
          <ns0:nvSpPr>
            <ns0:cNvPr name="TextBox 6" id="6"/>
            <ns0:cNvSpPr txBox="true"/>
            <ns0:nvPr/>
          </ns0:nvSpPr>
          <ns0:spPr>
            <ns1:xfrm>
              <ns1:off x="0" y="-47625"/>
              <ns1:ext cx="2743200" cy="1181481"/>
            </ns1:xfrm>
            <ns1:prstGeom prst="rect">
              <ns1:avLst/>
            </ns1:prstGeom>
          </ns0:spPr>
          <ns0:txBody>
            <ns1:bodyPr anchor="ctr" rtlCol="false" tIns="0" lIns="0" bIns="0" rIns="0"/>
            <ns1:lstStyle/>
            <ns1:p>
              <ns1:pPr algn="ctr">
                <ns1:lnSpc>
                  <ns1:spcPts val="2519"/>
                </ns1:lnSpc>
              </ns1:pPr>
              <ns1:r>
                <ns1:rPr lang="en-US" b="true" sz="2099">
                  <ns1:gradFill>
                    <ns1:gsLst>
                      <ns1:gs pos="0">
                        <ns1:srgbClr val="091E27">
                          <ns1:alpha val="100000"/>
                        </ns1:srgbClr>
                      </ns1:gs>
                      <ns1:gs pos="100000">
                        <ns1:srgbClr val="48F0E7">
                          <ns1:alpha val="100000"/>
                        </ns1:srgbClr>
                      </ns1:gs>
                    </ns1:gsLst>
                    <ns1:lin ang="18900000"/>
                  </ns1:gradFill>
                  <ns1:latin typeface="Calibri (MS) Bold"/>
                  <ns1:ea typeface="Calibri (MS) Bold"/>
                  <ns1:cs typeface="Calibri (MS) Bold"/>
                  <ns1:sym typeface="Calibri (MS) Bold"/>
                </ns1:rPr>
                <ns1:t>INFERNO VI</ns1:t>
              </ns1:r>
            </ns1:p>
          </ns0:txBody>
        </ns0:sp>
      </ns0:grpSp>
      <ns0:grpSp>
        <ns0:nvGrpSpPr>
          <ns0:cNvPr name="Group 7" id="7"/>
          <ns0:cNvGrpSpPr/>
          <ns0:nvPr/>
        </ns0:nvGrpSpPr>
        <ns0:grpSpPr>
          <ns1:xfrm rot="0">
            <ns1:off x="6315075" y="438912"/>
            <ns1:ext cx="12344400" cy="822960"/>
            <ns1:chOff x="0" y="0"/>
            <ns1:chExt cx="16459200" cy="1097280"/>
          </ns1:xfrm>
        </ns0:grpSpPr>
        <ns0:sp>
          <ns0:nvSpPr>
            <ns0:cNvPr name="Freeform 8" id="8"/>
            <ns0:cNvSpPr/>
            <ns0:nvPr/>
          </ns0:nvSpPr>
          <ns0:spPr>
            <ns1:xfrm flipH="false" flipV="false" rot="0">
              <ns1:off x="0" y="0"/>
              <ns1:ext cx="16459200" cy="1097280"/>
            </ns1:xfrm>
            <ns1:custGeom>
              <ns1:avLst/>
              <ns1:gdLst/>
              <ns1:ahLst/>
              <ns1:cxnLst/>
              <ns1:rect r="r" b="b" t="t" l="l"/>
              <ns1:pathLst>
                <ns1:path h="1097280" w="16459200">
                  <ns1:moveTo>
                    <ns1:pt x="0" y="0"/>
                  </ns1:moveTo>
                  <ns1:lnTo>
                    <ns1:pt x="16459200" y="0"/>
                  </ns1:lnTo>
                  <ns1:lnTo>
                    <ns1:pt x="16459200" y="1097280"/>
                  </ns1:lnTo>
                  <ns1:lnTo>
                    <ns1:pt x="0" y="1097280"/>
                  </ns1:lnTo>
                  <ns1:close/>
                </ns1:path>
              </ns1:pathLst>
            </ns1:custGeom>
            <ns1:blipFill>
              <ns1:blip ns2:embed="rId3">
                <ns1:alphaModFix amt="0"/>
              </ns1:blip>
              <ns1:stretch>
                <ns1:fillRect l="0" t="-242275" r="0" b="-242275"/>
              </ns1:stretch>
            </ns1:blipFill>
          </ns0:spPr>
        </ns0:sp>
        <ns0:sp>
          <ns0:nvSpPr>
            <ns0:cNvPr name="TextBox 9" id="9"/>
            <ns0:cNvSpPr txBox="true"/>
            <ns0:nvPr/>
          </ns0:nvSpPr>
          <ns0:spPr>
            <ns1:xfrm>
              <ns1:off x="0" y="0"/>
              <ns1:ext cx="16459200" cy="1097280"/>
            </ns1:xfrm>
            <ns1:prstGeom prst="rect">
              <ns1:avLst/>
            </ns1:prstGeom>
          </ns0:spPr>
          <ns0:txBody>
            <ns1:bodyPr anchor="ctr" rtlCol="false" tIns="0" lIns="0" bIns="0" rIns="0"/>
            <ns1:lstStyle/>
            <ns1:p>
              <ns1:pPr algn="l">
                <ns1:lnSpc>
                  <ns1:spcPts val="4680"/>
                </ns1:lnSpc>
              </ns1:pPr>
              <ns1:r>
                <ns1:rPr lang="en-US" sz="3900" b="true">
                  <ns1:solidFill>
                    <ns1:srgbClr val="0B2545"/>
                  </ns1:solidFill>
                  <ns1:latin typeface="Cambria Bold"/>
                  <ns1:ea typeface="Cambria Bold"/>
                  <ns1:cs typeface="Cambria Bold"/>
                  <ns1:sym typeface="Cambria Bold"/>
                </ns1:rPr>
                <ns1:t>IMPACT AND BENEFITS</ns1:t>
              </ns1:r>
            </ns1:p>
          </ns0:txBody>
        </ns0:sp>
      </ns0:grpSp>
      <ns0:grpSp>
        <ns0:nvGrpSpPr>
          <ns0:cNvPr name="Group 10" id="10"/>
          <ns0:cNvGrpSpPr/>
          <ns0:nvPr/>
        </ns0:nvGrpSpPr>
        <ns0:grpSpPr>
          <ns1:xfrm rot="0">
            <ns1:off x="539115" y="1773555"/>
            <ns1:ext cx="4888230" cy="2323338"/>
            <ns1:chOff x="0" y="0"/>
            <ns1:chExt cx="6517640" cy="3097784"/>
          </ns1:xfrm>
        </ns0:grpSpPr>
        <ns0:sp>
          <ns0:nvSpPr>
            <ns0:cNvPr name="Freeform 11" id="11"/>
            <ns0:cNvSpPr/>
            <ns0:nvPr/>
          </ns0:nvSpPr>
          <ns0:spPr>
            <ns1:xfrm flipH="false" flipV="false" rot="0">
              <ns1:off x="0" y="0"/>
              <ns1:ext cx="6517640" cy="3097784"/>
            </ns1:xfrm>
            <ns1:custGeom>
              <ns1:avLst/>
              <ns1:gdLst/>
              <ns1:ahLst/>
              <ns1:cxnLst/>
              <ns1:rect r="r" b="b" t="t" l="l"/>
              <ns1:pathLst>
                <ns1:path h="3097784" w="6517640">
                  <ns1:moveTo>
                    <ns1:pt x="0" y="147574"/>
                  </ns1:moveTo>
                  <ns1:cubicBezTo>
                    <ns1:pt x="0" y="66040"/>
                    <ns1:pt x="66040" y="0"/>
                    <ns1:pt x="147574" y="0"/>
                  </ns1:cubicBezTo>
                  <ns1:lnTo>
                    <ns1:pt x="6370066" y="0"/>
                  </ns1:lnTo>
                  <ns1:cubicBezTo>
                    <ns1:pt x="6451600" y="0"/>
                    <ns1:pt x="6517640" y="66040"/>
                    <ns1:pt x="6517640" y="147574"/>
                  </ns1:cubicBezTo>
                  <ns1:lnTo>
                    <ns1:pt x="6517640" y="2950210"/>
                  </ns1:lnTo>
                  <ns1:cubicBezTo>
                    <ns1:pt x="6517640" y="3031744"/>
                    <ns1:pt x="6451600" y="3097784"/>
                    <ns1:pt x="6370066" y="3097784"/>
                  </ns1:cubicBezTo>
                  <ns1:lnTo>
                    <ns1:pt x="147574" y="3097784"/>
                  </ns1:lnTo>
                  <ns1:cubicBezTo>
                    <ns1:pt x="66040" y="3097784"/>
                    <ns1:pt x="0" y="3031744"/>
                    <ns1:pt x="0" y="2950210"/>
                  </ns1:cubicBezTo>
                  <ns1:close/>
                </ns1:path>
              </ns1:pathLst>
            </ns1:custGeom>
            <ns1:solidFill>
              <ns1:srgbClr val="FFFFFF"/>
            </ns1:solidFill>
            <ns1:ln w="19050" cap="sq">
              <ns1:solidFill>
                <ns1:srgbClr val="D8DEE8"/>
              </ns1:solidFill>
              <ns1:prstDash val="solid"/>
              <ns1:miter/>
            </ns1:ln>
          </ns0:spPr>
        </ns0:sp>
      </ns0:grpSp>
      <ns0:grpSp>
        <ns0:nvGrpSpPr>
          <ns0:cNvPr name="Group 12" id="12"/>
          <ns0:cNvGrpSpPr/>
          <ns0:nvPr/>
        </ns0:nvGrpSpPr>
        <ns0:grpSpPr>
          <ns1:xfrm rot="0">
            <ns1:off x="822960" y="1938528"/>
            <ns1:ext cx="576072" cy="576072"/>
            <ns1:chOff x="0" y="0"/>
            <ns1:chExt cx="768096" cy="768096"/>
          </ns1:xfrm>
        </ns0:grpSpPr>
        <ns0:sp>
          <ns0:nvSpPr>
            <ns0:cNvPr name="Freeform 13" id="13"/>
            <ns0:cNvSpPr/>
            <ns0:nvPr/>
          </ns0:nvSpPr>
          <ns0:spPr>
            <ns1:xfrm flipH="false" flipV="false" rot="0">
              <ns1:off x="0" y="0"/>
              <ns1:ext cx="768096" cy="768096"/>
            </ns1:xfrm>
            <ns1:custGeom>
              <ns1:avLst/>
              <ns1:gdLst/>
              <ns1:ahLst/>
              <ns1:cxnLst/>
              <ns1:rect r="r" b="b" t="t" l="l"/>
              <ns1:pathLst>
                <ns1:path h="768096" w="768096">
                  <ns1:moveTo>
                    <ns1:pt x="0" y="384048"/>
                  </ns1:moveTo>
                  <ns1:cubicBezTo>
                    <ns1:pt x="0" y="171958"/>
                    <ns1:pt x="171958" y="0"/>
                    <ns1:pt x="384048" y="0"/>
                  </ns1:cubicBezTo>
                  <ns1:cubicBezTo>
                    <ns1:pt x="596138" y="0"/>
                    <ns1:pt x="768096" y="171958"/>
                    <ns1:pt x="768096" y="384048"/>
                  </ns1:cubicBezTo>
                  <ns1:cubicBezTo>
                    <ns1:pt x="768096" y="596138"/>
                    <ns1:pt x="596138" y="768096"/>
                    <ns1:pt x="384048" y="768096"/>
                  </ns1:cubicBezTo>
                  <ns1:cubicBezTo>
                    <ns1:pt x="171958" y="768096"/>
                    <ns1:pt x="0" y="596138"/>
                    <ns1:pt x="0" y="384048"/>
                  </ns1:cubicBezTo>
                  <ns1:close/>
                </ns1:path>
              </ns1:pathLst>
            </ns1:custGeom>
            <ns1:solidFill>
              <ns1:srgbClr val="1C7293"/>
            </ns1:solidFill>
          </ns0:spPr>
        </ns0:sp>
      </ns0:grpSp>
      <ns0:grpSp>
        <ns0:nvGrpSpPr>
          <ns0:cNvPr name="Group 14" id="14"/>
          <ns0:cNvGrpSpPr/>
          <ns0:nvPr/>
        </ns0:nvGrpSpPr>
        <ns0:grpSpPr>
          <ns1:xfrm rot="0">
            <ns1:off x="822960" y="1938528"/>
            <ns1:ext cx="576072" cy="576072"/>
            <ns1:chOff x="0" y="0"/>
            <ns1:chExt cx="768096" cy="768096"/>
          </ns1:xfrm>
        </ns0:grpSpPr>
        <ns0:sp>
          <ns0:nvSpPr>
            <ns0:cNvPr name="Freeform 15" id="15"/>
            <ns0:cNvSpPr/>
            <ns0:nvPr/>
          </ns0:nvSpPr>
          <ns0:spPr>
            <ns1:xfrm flipH="false" flipV="false" rot="0">
              <ns1:off x="0" y="0"/>
              <ns1:ext cx="768096" cy="768096"/>
            </ns1:xfrm>
            <ns1:custGeom>
              <ns1:avLst/>
              <ns1:gdLst/>
              <ns1:ahLst/>
              <ns1:cxnLst/>
              <ns1:rect r="r" b="b" t="t" l="l"/>
              <ns1:pathLst>
                <ns1:path h="768096" w="768096">
                  <ns1:moveTo>
                    <ns1:pt x="0" y="0"/>
                  </ns1:moveTo>
                  <ns1:lnTo>
                    <ns1:pt x="768096" y="0"/>
                  </ns1:lnTo>
                  <ns1:lnTo>
                    <ns1:pt x="768096" y="768096"/>
                  </ns1:lnTo>
                  <ns1:lnTo>
                    <ns1:pt x="0" y="768096"/>
                  </ns1:lnTo>
                  <ns1:close/>
                </ns1:path>
              </ns1:pathLst>
            </ns1:custGeom>
            <ns1:blipFill>
              <ns1:blip ns2:embed="rId3">
                <ns1:alphaModFix amt="0"/>
              </ns1:blip>
              <ns1:stretch>
                <ns1:fillRect l="-78303" t="0" r="-78303" b="0"/>
              </ns1:stretch>
            </ns1:blipFill>
          </ns0:spPr>
        </ns0:sp>
        <ns0:sp>
          <ns0:nvSpPr>
            <ns0:cNvPr name="TextBox 16" id="16"/>
            <ns0:cNvSpPr txBox="true"/>
            <ns0:nvPr/>
          </ns0:nvSpPr>
          <ns0:spPr>
            <ns1:xfrm>
              <ns1:off x="0" y="-57150"/>
              <ns1:ext cx="768096" cy="825246"/>
            </ns1:xfrm>
            <ns1:prstGeom prst="rect">
              <ns1:avLst/>
            </ns1:prstGeom>
          </ns0:spPr>
          <ns0:txBody>
            <ns1:bodyPr anchor="ctr" rtlCol="false" tIns="0" lIns="0" bIns="0" rIns="0"/>
            <ns1:lstStyle/>
            <ns1:p>
              <ns1:pPr algn="ctr">
                <ns1:lnSpc>
                  <ns1:spcPts val="2879"/>
                </ns1:lnSpc>
              </ns1:pPr>
              <ns1:r>
                <ns1:rPr lang="en-US" sz="2399" b="true">
                  <ns1:solidFill>
                    <ns1:srgbClr val="FFFFFF"/>
                  </ns1:solidFill>
                  <ns1:latin typeface="Calibri (MS) Bold"/>
                  <ns1:ea typeface="Calibri (MS) Bold"/>
                  <ns1:cs typeface="Calibri (MS) Bold"/>
                  <ns1:sym typeface="Calibri (MS) Bold"/>
                </ns1:rPr>
                <ns1:t>1</ns1:t>
              </ns1:r>
            </ns1:p>
          </ns0:txBody>
        </ns0:sp>
      </ns0:grpSp>
      <ns0:grpSp>
        <ns0:nvGrpSpPr>
          <ns0:cNvPr name="Group 17" id="17"/>
          <ns0:cNvGrpSpPr/>
          <ns0:nvPr/>
        </ns0:nvGrpSpPr>
        <ns0:grpSpPr>
          <ns1:xfrm rot="0">
            <ns1:off x="1618488" y="2002536"/>
            <ns1:ext cx="3497580" cy="431038"/>
            <ns1:chOff x="0" y="0"/>
            <ns1:chExt cx="4663440" cy="574717"/>
          </ns1:xfrm>
        </ns0:grpSpPr>
        <ns0:sp>
          <ns0:nvSpPr>
            <ns0:cNvPr name="Freeform 18" id="18"/>
            <ns0:cNvSpPr/>
            <ns0:nvPr/>
          </ns0:nvSpPr>
          <ns0:spPr>
            <ns1:xfrm flipH="false" flipV="false" rot="0">
              <ns1:off x="0" y="0"/>
              <ns1:ext cx="4663440" cy="574717"/>
            </ns1:xfrm>
            <ns1:custGeom>
              <ns1:avLst/>
              <ns1:gdLst/>
              <ns1:ahLst/>
              <ns1:cxnLst/>
              <ns1:rect r="r" b="b" t="t" l="l"/>
              <ns1:pathLst>
                <ns1:path h="574717" w="4663440">
                  <ns1:moveTo>
                    <ns1:pt x="0" y="0"/>
                  </ns1:moveTo>
                  <ns1:lnTo>
                    <ns1:pt x="4663440" y="0"/>
                  </ns1:lnTo>
                  <ns1:lnTo>
                    <ns1:pt x="4663440" y="574717"/>
                  </ns1:lnTo>
                  <ns1:lnTo>
                    <ns1:pt x="0" y="574717"/>
                  </ns1:lnTo>
                  <ns1:close/>
                </ns1:path>
              </ns1:pathLst>
            </ns1:custGeom>
            <ns1:blipFill>
              <ns1:blip ns2:embed="rId3">
                <ns1:alphaModFix amt="0"/>
              </ns1:blip>
              <ns1:stretch>
                <ns1:fillRect l="0" t="-110376" r="0" b="-105839"/>
              </ns1:stretch>
            </ns1:blipFill>
          </ns0:spPr>
        </ns0:sp>
        <ns0:sp>
          <ns0:nvSpPr>
            <ns0:cNvPr name="TextBox 19" id="19"/>
            <ns0:cNvSpPr txBox="true"/>
            <ns0:nvPr/>
          </ns0:nvSpPr>
          <ns0:spPr>
            <ns1:xfrm>
              <ns1:off x="0" y="-47625"/>
              <ns1:ext cx="4663440" cy="622342"/>
            </ns1:xfrm>
            <ns1:prstGeom prst="rect">
              <ns1:avLst/>
            </ns1:prstGeom>
          </ns0:spPr>
          <ns0:txBody>
            <ns1:bodyPr anchor="ctr" rtlCol="false" tIns="0" lIns="0" bIns="0" rIns="0"/>
            <ns1:lstStyle/>
            <ns1:p>
              <ns1:pPr algn="l">
                <ns1:lnSpc>
                  <ns1:spcPts val="2609"/>
                </ns1:lnSpc>
              </ns1:pPr>
              <ns1:r>
                <ns1:rPr lang="en-US" sz="2174" b="true">
                  <ns1:solidFill>
                    <ns1:srgbClr val="0B2545"/>
                  </ns1:solidFill>
                  <ns1:latin typeface="Calibri (MS) Bold"/>
                  <ns1:ea typeface="Calibri (MS) Bold"/>
                  <ns1:cs typeface="Calibri (MS) Bold"/>
                  <ns1:sym typeface="Calibri (MS) Bold"/>
                </ns1:rPr>
                <ns1:t>Time saved</ns1:t>
              </ns1:r>
            </ns1:p>
          </ns0:txBody>
        </ns0:sp>
      </ns0:grpSp>
      <ns0:sp>
        <ns0:nvSpPr>
          <ns0:cNvPr name="TextBox 20" id="20"/>
          <ns0:cNvSpPr txBox="true"/>
          <ns0:nvPr/>
        </ns0:nvSpPr>
        <ns0:spPr>
          <ns1:xfrm rot="0">
            <ns1:off x="877824" y="2686050"/>
            <ns1:ext cx="4210812" cy="620649"/>
          </ns1:xfrm>
          <ns1:prstGeom prst="rect">
            <ns1:avLst/>
          </ns1:prstGeom>
        </ns0:spPr>
        <ns0:txBody>
          <ns1:bodyPr anchor="t" rtlCol="false" tIns="0" lIns="0" bIns="0" rIns="0">
            <ns1:spAutoFit/>
          </ns1:bodyPr>
          <ns1:lstStyle/>
          <ns1:p>
            <ns1:pPr algn="l">
              <ns1:lnSpc>
                <ns1:spcPts val="2336"/>
              </ns1:lnSpc>
            </ns1:pPr>
            <ns1:r>
              <ns1:rPr lang="en-US" sz="1769">
                <ns1:solidFill>
                  <ns1:srgbClr val="15263B"/>
                </ns1:solidFill>
                <ns1:latin typeface="Calibri (MS)"/>
                <ns1:ea typeface="Calibri (MS)"/>
                <ns1:cs typeface="Calibri (MS)"/>
                <ns1:sym typeface="Calibri (MS)"/>
              </ns1:rPr>
              <ns1:t>Sub-Second Service Delivery: Application processing time reduced from 15-21 days to sub-second authoritative auto-verification.</ns1:t>
            </ns1:r>
          </ns1:p>
        </ns0:txBody>
      </ns0:sp>
      <ns0:grpSp>
        <ns0:nvGrpSpPr>
          <ns0:cNvPr name="Group 21" id="21"/>
          <ns0:cNvGrpSpPr/>
          <ns0:nvPr/>
        </ns0:nvGrpSpPr>
        <ns0:grpSpPr>
          <ns1:xfrm rot="0">
            <ns1:off x="5655183" y="1773555"/>
            <ns1:ext cx="4888230" cy="2323338"/>
            <ns1:chOff x="0" y="0"/>
            <ns1:chExt cx="6517640" cy="3097784"/>
          </ns1:xfrm>
        </ns0:grpSpPr>
        <ns0:sp>
          <ns0:nvSpPr>
            <ns0:cNvPr name="Freeform 22" id="22"/>
            <ns0:cNvSpPr/>
            <ns0:nvPr/>
          </ns0:nvSpPr>
          <ns0:spPr>
            <ns1:xfrm flipH="false" flipV="false" rot="0">
              <ns1:off x="0" y="0"/>
              <ns1:ext cx="6517640" cy="3097784"/>
            </ns1:xfrm>
            <ns1:custGeom>
              <ns1:avLst/>
              <ns1:gdLst/>
              <ns1:ahLst/>
              <ns1:cxnLst/>
              <ns1:rect r="r" b="b" t="t" l="l"/>
              <ns1:pathLst>
                <ns1:path h="3097784" w="6517640">
                  <ns1:moveTo>
                    <ns1:pt x="0" y="147574"/>
                  </ns1:moveTo>
                  <ns1:cubicBezTo>
                    <ns1:pt x="0" y="66040"/>
                    <ns1:pt x="66040" y="0"/>
                    <ns1:pt x="147574" y="0"/>
                  </ns1:cubicBezTo>
                  <ns1:lnTo>
                    <ns1:pt x="6370066" y="0"/>
                  </ns1:lnTo>
                  <ns1:cubicBezTo>
                    <ns1:pt x="6451600" y="0"/>
                    <ns1:pt x="6517640" y="66040"/>
                    <ns1:pt x="6517640" y="147574"/>
                  </ns1:cubicBezTo>
                  <ns1:lnTo>
                    <ns1:pt x="6517640" y="2950210"/>
                  </ns1:lnTo>
                  <ns1:cubicBezTo>
                    <ns1:pt x="6517640" y="3031744"/>
                    <ns1:pt x="6451600" y="3097784"/>
                    <ns1:pt x="6370066" y="3097784"/>
                  </ns1:cubicBezTo>
                  <ns1:lnTo>
                    <ns1:pt x="147574" y="3097784"/>
                  </ns1:lnTo>
                  <ns1:cubicBezTo>
                    <ns1:pt x="66040" y="3097784"/>
                    <ns1:pt x="0" y="3031744"/>
                    <ns1:pt x="0" y="2950210"/>
                  </ns1:cubicBezTo>
                  <ns1:close/>
                </ns1:path>
              </ns1:pathLst>
            </ns1:custGeom>
            <ns1:solidFill>
              <ns1:srgbClr val="FFFFFF"/>
            </ns1:solidFill>
            <ns1:ln w="19050" cap="sq">
              <ns1:solidFill>
                <ns1:srgbClr val="D8DEE8"/>
              </ns1:solidFill>
              <ns1:prstDash val="solid"/>
              <ns1:miter/>
            </ns1:ln>
          </ns0:spPr>
        </ns0:sp>
      </ns0:grpSp>
      <ns0:grpSp>
        <ns0:nvGrpSpPr>
          <ns0:cNvPr name="Group 23" id="23"/>
          <ns0:cNvGrpSpPr/>
          <ns0:nvPr/>
        </ns0:nvGrpSpPr>
        <ns0:grpSpPr>
          <ns1:xfrm rot="0">
            <ns1:off x="5939028" y="1930019"/>
            <ns1:ext cx="576072" cy="576072"/>
            <ns1:chOff x="0" y="0"/>
            <ns1:chExt cx="768096" cy="768096"/>
          </ns1:xfrm>
        </ns0:grpSpPr>
        <ns0:sp>
          <ns0:nvSpPr>
            <ns0:cNvPr name="Freeform 24" id="24"/>
            <ns0:cNvSpPr/>
            <ns0:nvPr/>
          </ns0:nvSpPr>
          <ns0:spPr>
            <ns1:xfrm flipH="false" flipV="false" rot="0">
              <ns1:off x="0" y="0"/>
              <ns1:ext cx="768096" cy="768096"/>
            </ns1:xfrm>
            <ns1:custGeom>
              <ns1:avLst/>
              <ns1:gdLst/>
              <ns1:ahLst/>
              <ns1:cxnLst/>
              <ns1:rect r="r" b="b" t="t" l="l"/>
              <ns1:pathLst>
                <ns1:path h="768096" w="768096">
                  <ns1:moveTo>
                    <ns1:pt x="0" y="384048"/>
                  </ns1:moveTo>
                  <ns1:cubicBezTo>
                    <ns1:pt x="0" y="171958"/>
                    <ns1:pt x="171958" y="0"/>
                    <ns1:pt x="384048" y="0"/>
                  </ns1:cubicBezTo>
                  <ns1:cubicBezTo>
                    <ns1:pt x="596138" y="0"/>
                    <ns1:pt x="768096" y="171958"/>
                    <ns1:pt x="768096" y="384048"/>
                  </ns1:cubicBezTo>
                  <ns1:cubicBezTo>
                    <ns1:pt x="768096" y="596138"/>
                    <ns1:pt x="596138" y="768096"/>
                    <ns1:pt x="384048" y="768096"/>
                  </ns1:cubicBezTo>
                  <ns1:cubicBezTo>
                    <ns1:pt x="171958" y="768096"/>
                    <ns1:pt x="0" y="596138"/>
                    <ns1:pt x="0" y="384048"/>
                  </ns1:cubicBezTo>
                  <ns1:close/>
                </ns1:path>
              </ns1:pathLst>
            </ns1:custGeom>
            <ns1:solidFill>
              <ns1:srgbClr val="0B2545"/>
            </ns1:solidFill>
          </ns0:spPr>
        </ns0:sp>
      </ns0:grpSp>
      <ns0:grpSp>
        <ns0:nvGrpSpPr>
          <ns0:cNvPr name="Group 25" id="25"/>
          <ns0:cNvGrpSpPr/>
          <ns0:nvPr/>
        </ns0:nvGrpSpPr>
        <ns0:grpSpPr>
          <ns1:xfrm rot="0">
            <ns1:off x="5939028" y="1930019"/>
            <ns1:ext cx="576072" cy="576072"/>
            <ns1:chOff x="0" y="0"/>
            <ns1:chExt cx="768096" cy="768096"/>
          </ns1:xfrm>
        </ns0:grpSpPr>
        <ns0:sp>
          <ns0:nvSpPr>
            <ns0:cNvPr name="Freeform 26" id="26"/>
            <ns0:cNvSpPr/>
            <ns0:nvPr/>
          </ns0:nvSpPr>
          <ns0:spPr>
            <ns1:xfrm flipH="false" flipV="false" rot="0">
              <ns1:off x="0" y="0"/>
              <ns1:ext cx="768096" cy="768096"/>
            </ns1:xfrm>
            <ns1:custGeom>
              <ns1:avLst/>
              <ns1:gdLst/>
              <ns1:ahLst/>
              <ns1:cxnLst/>
              <ns1:rect r="r" b="b" t="t" l="l"/>
              <ns1:pathLst>
                <ns1:path h="768096" w="768096">
                  <ns1:moveTo>
                    <ns1:pt x="0" y="0"/>
                  </ns1:moveTo>
                  <ns1:lnTo>
                    <ns1:pt x="768096" y="0"/>
                  </ns1:lnTo>
                  <ns1:lnTo>
                    <ns1:pt x="768096" y="768096"/>
                  </ns1:lnTo>
                  <ns1:lnTo>
                    <ns1:pt x="0" y="768096"/>
                  </ns1:lnTo>
                  <ns1:close/>
                </ns1:path>
              </ns1:pathLst>
            </ns1:custGeom>
            <ns1:blipFill>
              <ns1:blip ns2:embed="rId3">
                <ns1:alphaModFix amt="0"/>
              </ns1:blip>
              <ns1:stretch>
                <ns1:fillRect l="-78303" t="0" r="-78303" b="0"/>
              </ns1:stretch>
            </ns1:blipFill>
          </ns0:spPr>
        </ns0:sp>
        <ns0:sp>
          <ns0:nvSpPr>
            <ns0:cNvPr name="TextBox 27" id="27"/>
            <ns0:cNvSpPr txBox="true"/>
            <ns0:nvPr/>
          </ns0:nvSpPr>
          <ns0:spPr>
            <ns1:xfrm>
              <ns1:off x="0" y="-57150"/>
              <ns1:ext cx="768096" cy="825246"/>
            </ns1:xfrm>
            <ns1:prstGeom prst="rect">
              <ns1:avLst/>
            </ns1:prstGeom>
          </ns0:spPr>
          <ns0:txBody>
            <ns1:bodyPr anchor="ctr" rtlCol="false" tIns="0" lIns="0" bIns="0" rIns="0"/>
            <ns1:lstStyle/>
            <ns1:p>
              <ns1:pPr algn="ctr">
                <ns1:lnSpc>
                  <ns1:spcPts val="2879"/>
                </ns1:lnSpc>
              </ns1:pPr>
              <ns1:r>
                <ns1:rPr lang="en-US" sz="2399" b="true">
                  <ns1:solidFill>
                    <ns1:srgbClr val="FFFFFF"/>
                  </ns1:solidFill>
                  <ns1:latin typeface="Calibri (MS) Bold"/>
                  <ns1:ea typeface="Calibri (MS) Bold"/>
                  <ns1:cs typeface="Calibri (MS) Bold"/>
                  <ns1:sym typeface="Calibri (MS) Bold"/>
                </ns1:rPr>
                <ns1:t>2</ns1:t>
              </ns1:r>
            </ns1:p>
          </ns0:txBody>
        </ns0:sp>
      </ns0:grpSp>
      <ns0:grpSp>
        <ns0:nvGrpSpPr>
          <ns0:cNvPr name="Group 28" id="28"/>
          <ns0:cNvGrpSpPr/>
          <ns0:nvPr/>
        </ns0:nvGrpSpPr>
        <ns0:grpSpPr>
          <ns1:xfrm rot="0">
            <ns1:off x="6734556" y="2002536"/>
            <ns1:ext cx="3497580" cy="431038"/>
            <ns1:chOff x="0" y="0"/>
            <ns1:chExt cx="4663440" cy="574717"/>
          </ns1:xfrm>
        </ns0:grpSpPr>
        <ns0:sp>
          <ns0:nvSpPr>
            <ns0:cNvPr name="Freeform 29" id="29"/>
            <ns0:cNvSpPr/>
            <ns0:nvPr/>
          </ns0:nvSpPr>
          <ns0:spPr>
            <ns1:xfrm flipH="false" flipV="false" rot="0">
              <ns1:off x="0" y="0"/>
              <ns1:ext cx="4663440" cy="574717"/>
            </ns1:xfrm>
            <ns1:custGeom>
              <ns1:avLst/>
              <ns1:gdLst/>
              <ns1:ahLst/>
              <ns1:cxnLst/>
              <ns1:rect r="r" b="b" t="t" l="l"/>
              <ns1:pathLst>
                <ns1:path h="574717" w="4663440">
                  <ns1:moveTo>
                    <ns1:pt x="0" y="0"/>
                  </ns1:moveTo>
                  <ns1:lnTo>
                    <ns1:pt x="4663440" y="0"/>
                  </ns1:lnTo>
                  <ns1:lnTo>
                    <ns1:pt x="4663440" y="574717"/>
                  </ns1:lnTo>
                  <ns1:lnTo>
                    <ns1:pt x="0" y="574717"/>
                  </ns1:lnTo>
                  <ns1:close/>
                </ns1:path>
              </ns1:pathLst>
            </ns1:custGeom>
            <ns1:blipFill>
              <ns1:blip ns2:embed="rId3">
                <ns1:alphaModFix amt="0"/>
              </ns1:blip>
              <ns1:stretch>
                <ns1:fillRect l="0" t="-110376" r="0" b="-105839"/>
              </ns1:stretch>
            </ns1:blipFill>
          </ns0:spPr>
        </ns0:sp>
        <ns0:sp>
          <ns0:nvSpPr>
            <ns0:cNvPr name="TextBox 30" id="30"/>
            <ns0:cNvSpPr txBox="true"/>
            <ns0:nvPr/>
          </ns0:nvSpPr>
          <ns0:spPr>
            <ns1:xfrm>
              <ns1:off x="0" y="-47625"/>
              <ns1:ext cx="4663440" cy="622342"/>
            </ns1:xfrm>
            <ns1:prstGeom prst="rect">
              <ns1:avLst/>
            </ns1:prstGeom>
          </ns0:spPr>
          <ns0:txBody>
            <ns1:bodyPr anchor="ctr" rtlCol="false" tIns="0" lIns="0" bIns="0" rIns="0"/>
            <ns1:lstStyle/>
            <ns1:p>
              <ns1:pPr algn="l">
                <ns1:lnSpc>
                  <ns1:spcPts val="2609"/>
                </ns1:lnSpc>
              </ns1:pPr>
              <ns1:r>
                <ns1:rPr lang="en-US" sz="2174" b="true">
                  <ns1:solidFill>
                    <ns1:srgbClr val="0B2545"/>
                  </ns1:solidFill>
                  <ns1:latin typeface="Calibri (MS) Bold"/>
                  <ns1:ea typeface="Calibri (MS) Bold"/>
                  <ns1:cs typeface="Calibri (MS) Bold"/>
                  <ns1:sym typeface="Calibri (MS) Bold"/>
                </ns1:rPr>
                <ns1:t>Scale</ns1:t>
              </ns1:r>
            </ns1:p>
          </ns0:txBody>
        </ns0:sp>
      </ns0:grpSp>
      <ns0:sp>
        <ns0:nvSpPr>
          <ns0:cNvPr name="TextBox 31" id="31"/>
          <ns0:cNvSpPr txBox="true"/>
          <ns0:nvPr/>
        </ns0:nvSpPr>
        <ns0:spPr>
          <ns1:xfrm rot="0">
            <ns1:off x="5993892" y="2686050"/>
            <ns1:ext cx="4210812" cy="620649"/>
          </ns1:xfrm>
          <ns1:prstGeom prst="rect">
            <ns1:avLst/>
          </ns1:prstGeom>
        </ns0:spPr>
        <ns0:txBody>
          <ns1:bodyPr anchor="t" rtlCol="false" tIns="0" lIns="0" bIns="0" rIns="0">
            <ns1:spAutoFit/>
          </ns1:bodyPr>
          <ns1:lstStyle/>
          <ns1:p>
            <ns1:pPr algn="l">
              <ns1:lnSpc>
                <ns1:spcPts val="2336"/>
              </ns1:lnSpc>
            </ns1:pPr>
            <ns1:r>
              <ns1:rPr lang="en-US" sz="1769">
                <ns1:solidFill>
                  <ns1:srgbClr val="15263B"/>
                </ns1:solidFill>
                <ns1:latin typeface="Calibri (MS)"/>
                <ns1:ea typeface="Calibri (MS)"/>
                <ns1:cs typeface="Calibri (MS)"/>
                <ns1:sym typeface="Calibri (MS)"/>
              </ns1:rPr>
              <ns1:t>Statewide Citizen Impact: 125M citizens served; 20M annual service requests saving 40+ million citizen-hours annually.</ns1:t>
            </ns1:r>
          </ns1:p>
        </ns0:txBody>
      </ns0:sp>
      <ns0:grpSp>
        <ns0:nvGrpSpPr>
          <ns0:cNvPr name="Group 32" id="32"/>
          <ns0:cNvGrpSpPr/>
          <ns0:nvPr/>
        </ns0:nvGrpSpPr>
        <ns0:grpSpPr>
          <ns1:xfrm rot="0">
            <ns1:off x="539115" y="4324731"/>
            <ns1:ext cx="4888230" cy="2323338"/>
            <ns1:chOff x="0" y="0"/>
            <ns1:chExt cx="6517640" cy="3097784"/>
          </ns1:xfrm>
        </ns0:grpSpPr>
        <ns0:sp>
          <ns0:nvSpPr>
            <ns0:cNvPr name="Freeform 33" id="33"/>
            <ns0:cNvSpPr/>
            <ns0:nvPr/>
          </ns0:nvSpPr>
          <ns0:spPr>
            <ns1:xfrm flipH="false" flipV="false" rot="0">
              <ns1:off x="0" y="0"/>
              <ns1:ext cx="6517640" cy="3097784"/>
            </ns1:xfrm>
            <ns1:custGeom>
              <ns1:avLst/>
              <ns1:gdLst/>
              <ns1:ahLst/>
              <ns1:cxnLst/>
              <ns1:rect r="r" b="b" t="t" l="l"/>
              <ns1:pathLst>
                <ns1:path h="3097784" w="6517640">
                  <ns1:moveTo>
                    <ns1:pt x="0" y="147574"/>
                  </ns1:moveTo>
                  <ns1:cubicBezTo>
                    <ns1:pt x="0" y="66040"/>
                    <ns1:pt x="66040" y="0"/>
                    <ns1:pt x="147574" y="0"/>
                  </ns1:cubicBezTo>
                  <ns1:lnTo>
                    <ns1:pt x="6370066" y="0"/>
                  </ns1:lnTo>
                  <ns1:cubicBezTo>
                    <ns1:pt x="6451600" y="0"/>
                    <ns1:pt x="6517640" y="66040"/>
                    <ns1:pt x="6517640" y="147574"/>
                  </ns1:cubicBezTo>
                  <ns1:lnTo>
                    <ns1:pt x="6517640" y="2950210"/>
                  </ns1:lnTo>
                  <ns1:cubicBezTo>
                    <ns1:pt x="6517640" y="3031744"/>
                    <ns1:pt x="6451600" y="3097784"/>
                    <ns1:pt x="6370066" y="3097784"/>
                  </ns1:cubicBezTo>
                  <ns1:lnTo>
                    <ns1:pt x="147574" y="3097784"/>
                  </ns1:lnTo>
                  <ns1:cubicBezTo>
                    <ns1:pt x="66040" y="3097784"/>
                    <ns1:pt x="0" y="3031744"/>
                    <ns1:pt x="0" y="2950210"/>
                  </ns1:cubicBezTo>
                  <ns1:close/>
                </ns1:path>
              </ns1:pathLst>
            </ns1:custGeom>
            <ns1:solidFill>
              <ns1:srgbClr val="FFFFFF"/>
            </ns1:solidFill>
            <ns1:ln w="19050" cap="sq">
              <ns1:solidFill>
                <ns1:srgbClr val="D8DEE8"/>
              </ns1:solidFill>
              <ns1:prstDash val="solid"/>
              <ns1:miter/>
            </ns1:ln>
          </ns0:spPr>
        </ns0:sp>
      </ns0:grpSp>
      <ns0:grpSp>
        <ns0:nvGrpSpPr>
          <ns0:cNvPr name="Group 34" id="34"/>
          <ns0:cNvGrpSpPr/>
          <ns0:nvPr/>
        </ns0:nvGrpSpPr>
        <ns0:grpSpPr>
          <ns1:xfrm rot="0">
            <ns1:off x="822960" y="4487037"/>
            <ns1:ext cx="576072" cy="576072"/>
            <ns1:chOff x="0" y="0"/>
            <ns1:chExt cx="768096" cy="768096"/>
          </ns1:xfrm>
        </ns0:grpSpPr>
        <ns0:sp>
          <ns0:nvSpPr>
            <ns0:cNvPr name="Freeform 35" id="35"/>
            <ns0:cNvSpPr/>
            <ns0:nvPr/>
          </ns0:nvSpPr>
          <ns0:spPr>
            <ns1:xfrm flipH="false" flipV="false" rot="0">
              <ns1:off x="0" y="0"/>
              <ns1:ext cx="768096" cy="768096"/>
            </ns1:xfrm>
            <ns1:custGeom>
              <ns1:avLst/>
              <ns1:gdLst/>
              <ns1:ahLst/>
              <ns1:cxnLst/>
              <ns1:rect r="r" b="b" t="t" l="l"/>
              <ns1:pathLst>
                <ns1:path h="768096" w="768096">
                  <ns1:moveTo>
                    <ns1:pt x="0" y="384048"/>
                  </ns1:moveTo>
                  <ns1:cubicBezTo>
                    <ns1:pt x="0" y="171958"/>
                    <ns1:pt x="171958" y="0"/>
                    <ns1:pt x="384048" y="0"/>
                  </ns1:cubicBezTo>
                  <ns1:cubicBezTo>
                    <ns1:pt x="596138" y="0"/>
                    <ns1:pt x="768096" y="171958"/>
                    <ns1:pt x="768096" y="384048"/>
                  </ns1:cubicBezTo>
                  <ns1:cubicBezTo>
                    <ns1:pt x="768096" y="596138"/>
                    <ns1:pt x="596138" y="768096"/>
                    <ns1:pt x="384048" y="768096"/>
                  </ns1:cubicBezTo>
                  <ns1:cubicBezTo>
                    <ns1:pt x="171958" y="768096"/>
                    <ns1:pt x="0" y="596138"/>
                    <ns1:pt x="0" y="384048"/>
                  </ns1:cubicBezTo>
                  <ns1:close/>
                </ns1:path>
              </ns1:pathLst>
            </ns1:custGeom>
            <ns1:solidFill>
              <ns1:srgbClr val="D98E04"/>
            </ns1:solidFill>
          </ns0:spPr>
        </ns0:sp>
      </ns0:grpSp>
      <ns0:grpSp>
        <ns0:nvGrpSpPr>
          <ns0:cNvPr name="Group 36" id="36"/>
          <ns0:cNvGrpSpPr/>
          <ns0:nvPr/>
        </ns0:nvGrpSpPr>
        <ns0:grpSpPr>
          <ns1:xfrm rot="0">
            <ns1:off x="822960" y="4487037"/>
            <ns1:ext cx="576072" cy="576072"/>
            <ns1:chOff x="0" y="0"/>
            <ns1:chExt cx="768096" cy="768096"/>
          </ns1:xfrm>
        </ns0:grpSpPr>
        <ns0:sp>
          <ns0:nvSpPr>
            <ns0:cNvPr name="Freeform 37" id="37"/>
            <ns0:cNvSpPr/>
            <ns0:nvPr/>
          </ns0:nvSpPr>
          <ns0:spPr>
            <ns1:xfrm flipH="false" flipV="false" rot="0">
              <ns1:off x="0" y="0"/>
              <ns1:ext cx="768096" cy="768096"/>
            </ns1:xfrm>
            <ns1:custGeom>
              <ns1:avLst/>
              <ns1:gdLst/>
              <ns1:ahLst/>
              <ns1:cxnLst/>
              <ns1:rect r="r" b="b" t="t" l="l"/>
              <ns1:pathLst>
                <ns1:path h="768096" w="768096">
                  <ns1:moveTo>
                    <ns1:pt x="0" y="0"/>
                  </ns1:moveTo>
                  <ns1:lnTo>
                    <ns1:pt x="768096" y="0"/>
                  </ns1:lnTo>
                  <ns1:lnTo>
                    <ns1:pt x="768096" y="768096"/>
                  </ns1:lnTo>
                  <ns1:lnTo>
                    <ns1:pt x="0" y="768096"/>
                  </ns1:lnTo>
                  <ns1:close/>
                </ns1:path>
              </ns1:pathLst>
            </ns1:custGeom>
            <ns1:blipFill>
              <ns1:blip ns2:embed="rId3">
                <ns1:alphaModFix amt="0"/>
              </ns1:blip>
              <ns1:stretch>
                <ns1:fillRect l="-78303" t="0" r="-78303" b="0"/>
              </ns1:stretch>
            </ns1:blipFill>
          </ns0:spPr>
        </ns0:sp>
        <ns0:sp>
          <ns0:nvSpPr>
            <ns0:cNvPr name="TextBox 38" id="38"/>
            <ns0:cNvSpPr txBox="true"/>
            <ns0:nvPr/>
          </ns0:nvSpPr>
          <ns0:spPr>
            <ns1:xfrm>
              <ns1:off x="0" y="-57150"/>
              <ns1:ext cx="768096" cy="825246"/>
            </ns1:xfrm>
            <ns1:prstGeom prst="rect">
              <ns1:avLst/>
            </ns1:prstGeom>
          </ns0:spPr>
          <ns0:txBody>
            <ns1:bodyPr anchor="ctr" rtlCol="false" tIns="0" lIns="0" bIns="0" rIns="0"/>
            <ns1:lstStyle/>
            <ns1:p>
              <ns1:pPr algn="ctr">
                <ns1:lnSpc>
                  <ns1:spcPts val="2879"/>
                </ns1:lnSpc>
              </ns1:pPr>
              <ns1:r>
                <ns1:rPr lang="en-US" sz="2399" b="true">
                  <ns1:solidFill>
                    <ns1:srgbClr val="FFFFFF"/>
                  </ns1:solidFill>
                  <ns1:latin typeface="Calibri (MS) Bold"/>
                  <ns1:ea typeface="Calibri (MS) Bold"/>
                  <ns1:cs typeface="Calibri (MS) Bold"/>
                  <ns1:sym typeface="Calibri (MS) Bold"/>
                </ns1:rPr>
                <ns1:t>3</ns1:t>
              </ns1:r>
            </ns1:p>
          </ns0:txBody>
        </ns0:sp>
      </ns0:grpSp>
      <ns0:grpSp>
        <ns0:nvGrpSpPr>
          <ns0:cNvPr name="Group 39" id="39"/>
          <ns0:cNvGrpSpPr/>
          <ns0:nvPr/>
        </ns0:nvGrpSpPr>
        <ns0:grpSpPr>
          <ns1:xfrm rot="0">
            <ns1:off x="1618488" y="4553712"/>
            <ns1:ext cx="3497580" cy="431038"/>
            <ns1:chOff x="0" y="0"/>
            <ns1:chExt cx="4663440" cy="574717"/>
          </ns1:xfrm>
        </ns0:grpSpPr>
        <ns0:sp>
          <ns0:nvSpPr>
            <ns0:cNvPr name="Freeform 40" id="40"/>
            <ns0:cNvSpPr/>
            <ns0:nvPr/>
          </ns0:nvSpPr>
          <ns0:spPr>
            <ns1:xfrm flipH="false" flipV="false" rot="0">
              <ns1:off x="0" y="0"/>
              <ns1:ext cx="4663440" cy="574717"/>
            </ns1:xfrm>
            <ns1:custGeom>
              <ns1:avLst/>
              <ns1:gdLst/>
              <ns1:ahLst/>
              <ns1:cxnLst/>
              <ns1:rect r="r" b="b" t="t" l="l"/>
              <ns1:pathLst>
                <ns1:path h="574717" w="4663440">
                  <ns1:moveTo>
                    <ns1:pt x="0" y="0"/>
                  </ns1:moveTo>
                  <ns1:lnTo>
                    <ns1:pt x="4663440" y="0"/>
                  </ns1:lnTo>
                  <ns1:lnTo>
                    <ns1:pt x="4663440" y="574717"/>
                  </ns1:lnTo>
                  <ns1:lnTo>
                    <ns1:pt x="0" y="574717"/>
                  </ns1:lnTo>
                  <ns1:close/>
                </ns1:path>
              </ns1:pathLst>
            </ns1:custGeom>
            <ns1:blipFill>
              <ns1:blip ns2:embed="rId3">
                <ns1:alphaModFix amt="0"/>
              </ns1:blip>
              <ns1:stretch>
                <ns1:fillRect l="0" t="-110376" r="0" b="-105839"/>
              </ns1:stretch>
            </ns1:blipFill>
          </ns0:spPr>
        </ns0:sp>
        <ns0:sp>
          <ns0:nvSpPr>
            <ns0:cNvPr name="TextBox 41" id="41"/>
            <ns0:cNvSpPr txBox="true"/>
            <ns0:nvPr/>
          </ns0:nvSpPr>
          <ns0:spPr>
            <ns1:xfrm>
              <ns1:off x="0" y="-47625"/>
              <ns1:ext cx="4663440" cy="622342"/>
            </ns1:xfrm>
            <ns1:prstGeom prst="rect">
              <ns1:avLst/>
            </ns1:prstGeom>
          </ns0:spPr>
          <ns0:txBody>
            <ns1:bodyPr anchor="ctr" rtlCol="false" tIns="0" lIns="0" bIns="0" rIns="0"/>
            <ns1:lstStyle/>
            <ns1:p>
              <ns1:pPr algn="l">
                <ns1:lnSpc>
                  <ns1:spcPts val="2609"/>
                </ns1:lnSpc>
              </ns1:pPr>
              <ns1:r>
                <ns1:rPr lang="en-US" sz="2174" b="true">
                  <ns1:solidFill>
                    <ns1:srgbClr val="0B2545"/>
                  </ns1:solidFill>
                  <ns1:latin typeface="Calibri (MS) Bold"/>
                  <ns1:ea typeface="Calibri (MS) Bold"/>
                  <ns1:cs typeface="Calibri (MS) Bold"/>
                  <ns1:sym typeface="Calibri (MS) Bold"/>
                </ns1:rPr>
                <ns1:t>Fewer trips</ns1:t>
              </ns1:r>
            </ns1:p>
          </ns0:txBody>
        </ns0:sp>
      </ns0:grpSp>
      <ns0:sp>
        <ns0:nvSpPr>
          <ns0:cNvPr name="TextBox 42" id="42"/>
          <ns0:cNvSpPr txBox="true"/>
          <ns0:nvPr/>
        </ns0:nvSpPr>
        <ns0:spPr>
          <ns1:xfrm rot="0">
            <ns1:off x="877824" y="5237226"/>
            <ns1:ext cx="4210812" cy="620649"/>
          </ns1:xfrm>
          <ns1:prstGeom prst="rect">
            <ns1:avLst/>
          </ns1:prstGeom>
        </ns0:spPr>
        <ns0:txBody>
          <ns1:bodyPr anchor="t" rtlCol="false" tIns="0" lIns="0" bIns="0" rIns="0">
            <ns1:spAutoFit/>
          </ns1:bodyPr>
          <ns1:lstStyle/>
          <ns1:p>
            <ns1:pPr algn="l">
              <ns1:lnSpc>
                <ns1:spcPts val="2336"/>
              </ns1:lnSpc>
            </ns1:pPr>
            <ns1:r>
              <ns1:rPr lang="en-US" sz="1769">
                <ns1:solidFill>
                  <ns1:srgbClr val="15263B"/>
                </ns1:solidFill>
                <ns1:latin typeface="Calibri (MS)"/>
                <ns1:ea typeface="Calibri (MS)"/>
                <ns1:cs typeface="Calibri (MS)"/>
                <ns1:sym typeface="Calibri (MS)"/>
              </ns1:rPr>
              <ns1:t>Elimination of Physical Visits: Over 20 million physical trips to Tehsildar &amp; Setu Kendras avoided every year.</ns1:t>
            </ns1:r>
          </ns1:p>
        </ns0:txBody>
      </ns0:sp>
      <ns0:grpSp>
        <ns0:nvGrpSpPr>
          <ns0:cNvPr name="Group 43" id="43"/>
          <ns0:cNvGrpSpPr/>
          <ns0:nvPr/>
        </ns0:nvGrpSpPr>
        <ns0:grpSpPr>
          <ns1:xfrm rot="0">
            <ns1:off x="5655183" y="4324731"/>
            <ns1:ext cx="4888230" cy="2323338"/>
            <ns1:chOff x="0" y="0"/>
            <ns1:chExt cx="6517640" cy="3097784"/>
          </ns1:xfrm>
        </ns0:grpSpPr>
        <ns0:sp>
          <ns0:nvSpPr>
            <ns0:cNvPr name="Freeform 44" id="44"/>
            <ns0:cNvSpPr/>
            <ns0:nvPr/>
          </ns0:nvSpPr>
          <ns0:spPr>
            <ns1:xfrm flipH="false" flipV="false" rot="0">
              <ns1:off x="0" y="0"/>
              <ns1:ext cx="6517640" cy="3097784"/>
            </ns1:xfrm>
            <ns1:custGeom>
              <ns1:avLst/>
              <ns1:gdLst/>
              <ns1:ahLst/>
              <ns1:cxnLst/>
              <ns1:rect r="r" b="b" t="t" l="l"/>
              <ns1:pathLst>
                <ns1:path h="3097784" w="6517640">
                  <ns1:moveTo>
                    <ns1:pt x="0" y="147574"/>
                  </ns1:moveTo>
                  <ns1:cubicBezTo>
                    <ns1:pt x="0" y="66040"/>
                    <ns1:pt x="66040" y="0"/>
                    <ns1:pt x="147574" y="0"/>
                  </ns1:cubicBezTo>
                  <ns1:lnTo>
                    <ns1:pt x="6370066" y="0"/>
                  </ns1:lnTo>
                  <ns1:cubicBezTo>
                    <ns1:pt x="6451600" y="0"/>
                    <ns1:pt x="6517640" y="66040"/>
                    <ns1:pt x="6517640" y="147574"/>
                  </ns1:cubicBezTo>
                  <ns1:lnTo>
                    <ns1:pt x="6517640" y="2950210"/>
                  </ns1:lnTo>
                  <ns1:cubicBezTo>
                    <ns1:pt x="6517640" y="3031744"/>
                    <ns1:pt x="6451600" y="3097784"/>
                    <ns1:pt x="6370066" y="3097784"/>
                  </ns1:cubicBezTo>
                  <ns1:lnTo>
                    <ns1:pt x="147574" y="3097784"/>
                  </ns1:lnTo>
                  <ns1:cubicBezTo>
                    <ns1:pt x="66040" y="3097784"/>
                    <ns1:pt x="0" y="3031744"/>
                    <ns1:pt x="0" y="2950210"/>
                  </ns1:cubicBezTo>
                  <ns1:close/>
                </ns1:path>
              </ns1:pathLst>
            </ns1:custGeom>
            <ns1:solidFill>
              <ns1:srgbClr val="FFFFFF"/>
            </ns1:solidFill>
            <ns1:ln w="19050" cap="sq">
              <ns1:solidFill>
                <ns1:srgbClr val="D8DEE8"/>
              </ns1:solidFill>
              <ns1:prstDash val="solid"/>
              <ns1:miter/>
            </ns1:ln>
          </ns0:spPr>
        </ns0:sp>
      </ns0:grpSp>
      <ns0:grpSp>
        <ns0:nvGrpSpPr>
          <ns0:cNvPr name="Group 45" id="45"/>
          <ns0:cNvGrpSpPr/>
          <ns0:nvPr/>
        </ns0:nvGrpSpPr>
        <ns0:grpSpPr>
          <ns1:xfrm rot="0">
            <ns1:off x="5939028" y="4481195"/>
            <ns1:ext cx="576072" cy="576072"/>
            <ns1:chOff x="0" y="0"/>
            <ns1:chExt cx="768096" cy="768096"/>
          </ns1:xfrm>
        </ns0:grpSpPr>
        <ns0:sp>
          <ns0:nvSpPr>
            <ns0:cNvPr name="Freeform 46" id="46"/>
            <ns0:cNvSpPr/>
            <ns0:nvPr/>
          </ns0:nvSpPr>
          <ns0:spPr>
            <ns1:xfrm flipH="false" flipV="false" rot="0">
              <ns1:off x="0" y="0"/>
              <ns1:ext cx="768096" cy="768096"/>
            </ns1:xfrm>
            <ns1:custGeom>
              <ns1:avLst/>
              <ns1:gdLst/>
              <ns1:ahLst/>
              <ns1:cxnLst/>
              <ns1:rect r="r" b="b" t="t" l="l"/>
              <ns1:pathLst>
                <ns1:path h="768096" w="768096">
                  <ns1:moveTo>
                    <ns1:pt x="0" y="384048"/>
                  </ns1:moveTo>
                  <ns1:cubicBezTo>
                    <ns1:pt x="0" y="171958"/>
                    <ns1:pt x="171958" y="0"/>
                    <ns1:pt x="384048" y="0"/>
                  </ns1:cubicBezTo>
                  <ns1:cubicBezTo>
                    <ns1:pt x="596138" y="0"/>
                    <ns1:pt x="768096" y="171958"/>
                    <ns1:pt x="768096" y="384048"/>
                  </ns1:cubicBezTo>
                  <ns1:cubicBezTo>
                    <ns1:pt x="768096" y="596138"/>
                    <ns1:pt x="596138" y="768096"/>
                    <ns1:pt x="384048" y="768096"/>
                  </ns1:cubicBezTo>
                  <ns1:cubicBezTo>
                    <ns1:pt x="171958" y="768096"/>
                    <ns1:pt x="0" y="596138"/>
                    <ns1:pt x="0" y="384048"/>
                  </ns1:cubicBezTo>
                  <ns1:close/>
                </ns1:path>
              </ns1:pathLst>
            </ns1:custGeom>
            <ns1:solidFill>
              <ns1:srgbClr val="1C7293"/>
            </ns1:solidFill>
          </ns0:spPr>
        </ns0:sp>
      </ns0:grpSp>
      <ns0:grpSp>
        <ns0:nvGrpSpPr>
          <ns0:cNvPr name="Group 47" id="47"/>
          <ns0:cNvGrpSpPr/>
          <ns0:nvPr/>
        </ns0:nvGrpSpPr>
        <ns0:grpSpPr>
          <ns1:xfrm rot="0">
            <ns1:off x="5939028" y="4481195"/>
            <ns1:ext cx="576072" cy="576072"/>
            <ns1:chOff x="0" y="0"/>
            <ns1:chExt cx="768096" cy="768096"/>
          </ns1:xfrm>
        </ns0:grpSpPr>
        <ns0:sp>
          <ns0:nvSpPr>
            <ns0:cNvPr name="Freeform 48" id="48"/>
            <ns0:cNvSpPr/>
            <ns0:nvPr/>
          </ns0:nvSpPr>
          <ns0:spPr>
            <ns1:xfrm flipH="false" flipV="false" rot="0">
              <ns1:off x="0" y="0"/>
              <ns1:ext cx="768096" cy="768096"/>
            </ns1:xfrm>
            <ns1:custGeom>
              <ns1:avLst/>
              <ns1:gdLst/>
              <ns1:ahLst/>
              <ns1:cxnLst/>
              <ns1:rect r="r" b="b" t="t" l="l"/>
              <ns1:pathLst>
                <ns1:path h="768096" w="768096">
                  <ns1:moveTo>
                    <ns1:pt x="0" y="0"/>
                  </ns1:moveTo>
                  <ns1:lnTo>
                    <ns1:pt x="768096" y="0"/>
                  </ns1:lnTo>
                  <ns1:lnTo>
                    <ns1:pt x="768096" y="768096"/>
                  </ns1:lnTo>
                  <ns1:lnTo>
                    <ns1:pt x="0" y="768096"/>
                  </ns1:lnTo>
                  <ns1:close/>
                </ns1:path>
              </ns1:pathLst>
            </ns1:custGeom>
            <ns1:blipFill>
              <ns1:blip ns2:embed="rId3">
                <ns1:alphaModFix amt="0"/>
              </ns1:blip>
              <ns1:stretch>
                <ns1:fillRect l="-78303" t="0" r="-78303" b="0"/>
              </ns1:stretch>
            </ns1:blipFill>
          </ns0:spPr>
        </ns0:sp>
        <ns0:sp>
          <ns0:nvSpPr>
            <ns0:cNvPr name="TextBox 49" id="49"/>
            <ns0:cNvSpPr txBox="true"/>
            <ns0:nvPr/>
          </ns0:nvSpPr>
          <ns0:spPr>
            <ns1:xfrm>
              <ns1:off x="0" y="-57150"/>
              <ns1:ext cx="768096" cy="825246"/>
            </ns1:xfrm>
            <ns1:prstGeom prst="rect">
              <ns1:avLst/>
            </ns1:prstGeom>
          </ns0:spPr>
          <ns0:txBody>
            <ns1:bodyPr anchor="ctr" rtlCol="false" tIns="0" lIns="0" bIns="0" rIns="0"/>
            <ns1:lstStyle/>
            <ns1:p>
              <ns1:pPr algn="ctr">
                <ns1:lnSpc>
                  <ns1:spcPts val="2879"/>
                </ns1:lnSpc>
              </ns1:pPr>
              <ns1:r>
                <ns1:rPr lang="en-US" sz="2399" b="true">
                  <ns1:solidFill>
                    <ns1:srgbClr val="FFFFFF"/>
                  </ns1:solidFill>
                  <ns1:latin typeface="Calibri (MS) Bold"/>
                  <ns1:ea typeface="Calibri (MS) Bold"/>
                  <ns1:cs typeface="Calibri (MS) Bold"/>
                  <ns1:sym typeface="Calibri (MS) Bold"/>
                </ns1:rPr>
                <ns1:t>4</ns1:t>
              </ns1:r>
            </ns1:p>
          </ns0:txBody>
        </ns0:sp>
      </ns0:grpSp>
      <ns0:grpSp>
        <ns0:nvGrpSpPr>
          <ns0:cNvPr name="Group 50" id="50"/>
          <ns0:cNvGrpSpPr/>
          <ns0:nvPr/>
        </ns0:nvGrpSpPr>
        <ns0:grpSpPr>
          <ns1:xfrm rot="0">
            <ns1:off x="6734556" y="4553712"/>
            <ns1:ext cx="3497580" cy="431038"/>
            <ns1:chOff x="0" y="0"/>
            <ns1:chExt cx="4663440" cy="574717"/>
          </ns1:xfrm>
        </ns0:grpSpPr>
        <ns0:sp>
          <ns0:nvSpPr>
            <ns0:cNvPr name="Freeform 51" id="51"/>
            <ns0:cNvSpPr/>
            <ns0:nvPr/>
          </ns0:nvSpPr>
          <ns0:spPr>
            <ns1:xfrm flipH="false" flipV="false" rot="0">
              <ns1:off x="0" y="0"/>
              <ns1:ext cx="4663440" cy="574717"/>
            </ns1:xfrm>
            <ns1:custGeom>
              <ns1:avLst/>
              <ns1:gdLst/>
              <ns1:ahLst/>
              <ns1:cxnLst/>
              <ns1:rect r="r" b="b" t="t" l="l"/>
              <ns1:pathLst>
                <ns1:path h="574717" w="4663440">
                  <ns1:moveTo>
                    <ns1:pt x="0" y="0"/>
                  </ns1:moveTo>
                  <ns1:lnTo>
                    <ns1:pt x="4663440" y="0"/>
                  </ns1:lnTo>
                  <ns1:lnTo>
                    <ns1:pt x="4663440" y="574717"/>
                  </ns1:lnTo>
                  <ns1:lnTo>
                    <ns1:pt x="0" y="574717"/>
                  </ns1:lnTo>
                  <ns1:close/>
                </ns1:path>
              </ns1:pathLst>
            </ns1:custGeom>
            <ns1:blipFill>
              <ns1:blip ns2:embed="rId3">
                <ns1:alphaModFix amt="0"/>
              </ns1:blip>
              <ns1:stretch>
                <ns1:fillRect l="0" t="-110376" r="0" b="-105839"/>
              </ns1:stretch>
            </ns1:blipFill>
          </ns0:spPr>
        </ns0:sp>
        <ns0:sp>
          <ns0:nvSpPr>
            <ns0:cNvPr name="TextBox 52" id="52"/>
            <ns0:cNvSpPr txBox="true"/>
            <ns0:nvPr/>
          </ns0:nvSpPr>
          <ns0:spPr>
            <ns1:xfrm>
              <ns1:off x="0" y="-47625"/>
              <ns1:ext cx="4663440" cy="622342"/>
            </ns1:xfrm>
            <ns1:prstGeom prst="rect">
              <ns1:avLst/>
            </ns1:prstGeom>
          </ns0:spPr>
          <ns0:txBody>
            <ns1:bodyPr anchor="ctr" rtlCol="false" tIns="0" lIns="0" bIns="0" rIns="0"/>
            <ns1:lstStyle/>
            <ns1:p>
              <ns1:pPr algn="l">
                <ns1:lnSpc>
                  <ns1:spcPts val="2609"/>
                </ns1:lnSpc>
              </ns1:pPr>
              <ns1:r>
                <ns1:rPr lang="en-US" sz="2174" b="true">
                  <ns1:solidFill>
                    <ns1:srgbClr val="0B2545"/>
                  </ns1:solidFill>
                  <ns1:latin typeface="Calibri (MS) Bold"/>
                  <ns1:ea typeface="Calibri (MS) Bold"/>
                  <ns1:cs typeface="Calibri (MS) Bold"/>
                  <ns1:sym typeface="Calibri (MS) Bold"/>
                </ns1:rPr>
                <ns1:t>Compliance</ns1:t>
              </ns1:r>
            </ns1:p>
          </ns0:txBody>
        </ns0:sp>
      </ns0:grpSp>
      <ns0:sp>
        <ns0:nvSpPr>
          <ns0:cNvPr name="TextBox 53" id="53"/>
          <ns0:cNvSpPr txBox="true"/>
          <ns0:nvPr/>
        </ns0:nvSpPr>
        <ns0:spPr>
          <ns1:xfrm rot="0">
            <ns1:off x="5993892" y="5237226"/>
            <ns1:ext cx="4210812" cy="620649"/>
          </ns1:xfrm>
          <ns1:prstGeom prst="rect">
            <ns1:avLst/>
          </ns1:prstGeom>
        </ns0:spPr>
        <ns0:txBody>
          <ns1:bodyPr anchor="t" rtlCol="false" tIns="0" lIns="0" bIns="0" rIns="0">
            <ns1:spAutoFit/>
          </ns1:bodyPr>
          <ns1:lstStyle/>
          <ns1:p>
            <ns1:pPr algn="l">
              <ns1:lnSpc>
                <ns1:spcPts val="2336"/>
              </ns1:lnSpc>
            </ns1:pPr>
            <ns1:r>
              <ns1:rPr lang="en-US" sz="1769">
                <ns1:solidFill>
                  <ns1:srgbClr val="15263B"/>
                </ns1:solidFill>
                <ns1:latin typeface="Calibri (MS)"/>
                <ns1:ea typeface="Calibri (MS)"/>
                <ns1:cs typeface="Calibri (MS)"/>
                <ns1:sym typeface="Calibri (MS)"/>
              </ns1:rPr>
              <ns1:t>Statutory RTS &amp; DPDP Compliance: 100% automated SLA tracking under Maharashtra Right to Public Services Act 2015.</ns1:t>
            </ns1:r>
          </ns1:p>
        </ns0:txBody>
      </ns0:sp>
      <ns0:grpSp>
        <ns0:nvGrpSpPr>
          <ns0:cNvPr name="Group 54" id="54"/>
          <ns0:cNvGrpSpPr/>
          <ns0:nvPr/>
        </ns0:nvGrpSpPr>
        <ns0:grpSpPr>
          <ns1:xfrm rot="0">
            <ns1:off x="539115" y="6875907"/>
            <ns1:ext cx="4888230" cy="2323338"/>
            <ns1:chOff x="0" y="0"/>
            <ns1:chExt cx="6517640" cy="3097784"/>
          </ns1:xfrm>
        </ns0:grpSpPr>
        <ns0:sp>
          <ns0:nvSpPr>
            <ns0:cNvPr name="Freeform 55" id="55"/>
            <ns0:cNvSpPr/>
            <ns0:nvPr/>
          </ns0:nvSpPr>
          <ns0:spPr>
            <ns1:xfrm flipH="false" flipV="false" rot="0">
              <ns1:off x="0" y="0"/>
              <ns1:ext cx="6517640" cy="3097784"/>
            </ns1:xfrm>
            <ns1:custGeom>
              <ns1:avLst/>
              <ns1:gdLst/>
              <ns1:ahLst/>
              <ns1:cxnLst/>
              <ns1:rect r="r" b="b" t="t" l="l"/>
              <ns1:pathLst>
                <ns1:path h="3097784" w="6517640">
                  <ns1:moveTo>
                    <ns1:pt x="0" y="147574"/>
                  </ns1:moveTo>
                  <ns1:cubicBezTo>
                    <ns1:pt x="0" y="66040"/>
                    <ns1:pt x="66040" y="0"/>
                    <ns1:pt x="147574" y="0"/>
                  </ns1:cubicBezTo>
                  <ns1:lnTo>
                    <ns1:pt x="6370066" y="0"/>
                  </ns1:lnTo>
                  <ns1:cubicBezTo>
                    <ns1:pt x="6451600" y="0"/>
                    <ns1:pt x="6517640" y="66040"/>
                    <ns1:pt x="6517640" y="147574"/>
                  </ns1:cubicBezTo>
                  <ns1:lnTo>
                    <ns1:pt x="6517640" y="2950210"/>
                  </ns1:lnTo>
                  <ns1:cubicBezTo>
                    <ns1:pt x="6517640" y="3031744"/>
                    <ns1:pt x="6451600" y="3097784"/>
                    <ns1:pt x="6370066" y="3097784"/>
                  </ns1:cubicBezTo>
                  <ns1:lnTo>
                    <ns1:pt x="147574" y="3097784"/>
                  </ns1:lnTo>
                  <ns1:cubicBezTo>
                    <ns1:pt x="66040" y="3097784"/>
                    <ns1:pt x="0" y="3031744"/>
                    <ns1:pt x="0" y="2950210"/>
                  </ns1:cubicBezTo>
                  <ns1:close/>
                </ns1:path>
              </ns1:pathLst>
            </ns1:custGeom>
            <ns1:solidFill>
              <ns1:srgbClr val="FFFFFF"/>
            </ns1:solidFill>
            <ns1:ln w="19050" cap="sq">
              <ns1:solidFill>
                <ns1:srgbClr val="D8DEE8"/>
              </ns1:solidFill>
              <ns1:prstDash val="solid"/>
              <ns1:miter/>
            </ns1:ln>
          </ns0:spPr>
        </ns0:sp>
      </ns0:grpSp>
      <ns0:grpSp>
        <ns0:nvGrpSpPr>
          <ns0:cNvPr name="Group 56" id="56"/>
          <ns0:cNvGrpSpPr/>
          <ns0:nvPr/>
        </ns0:nvGrpSpPr>
        <ns0:grpSpPr>
          <ns1:xfrm rot="0">
            <ns1:off x="822960" y="7010019"/>
            <ns1:ext cx="576072" cy="576072"/>
            <ns1:chOff x="0" y="0"/>
            <ns1:chExt cx="768096" cy="768096"/>
          </ns1:xfrm>
        </ns0:grpSpPr>
        <ns0:sp>
          <ns0:nvSpPr>
            <ns0:cNvPr name="Freeform 57" id="57"/>
            <ns0:cNvSpPr/>
            <ns0:nvPr/>
          </ns0:nvSpPr>
          <ns0:spPr>
            <ns1:xfrm flipH="false" flipV="false" rot="0">
              <ns1:off x="0" y="0"/>
              <ns1:ext cx="768096" cy="768096"/>
            </ns1:xfrm>
            <ns1:custGeom>
              <ns1:avLst/>
              <ns1:gdLst/>
              <ns1:ahLst/>
              <ns1:cxnLst/>
              <ns1:rect r="r" b="b" t="t" l="l"/>
              <ns1:pathLst>
                <ns1:path h="768096" w="768096">
                  <ns1:moveTo>
                    <ns1:pt x="0" y="384048"/>
                  </ns1:moveTo>
                  <ns1:cubicBezTo>
                    <ns1:pt x="0" y="171958"/>
                    <ns1:pt x="171958" y="0"/>
                    <ns1:pt x="384048" y="0"/>
                  </ns1:cubicBezTo>
                  <ns1:cubicBezTo>
                    <ns1:pt x="596138" y="0"/>
                    <ns1:pt x="768096" y="171958"/>
                    <ns1:pt x="768096" y="384048"/>
                  </ns1:cubicBezTo>
                  <ns1:cubicBezTo>
                    <ns1:pt x="768096" y="596138"/>
                    <ns1:pt x="596138" y="768096"/>
                    <ns1:pt x="384048" y="768096"/>
                  </ns1:cubicBezTo>
                  <ns1:cubicBezTo>
                    <ns1:pt x="171958" y="768096"/>
                    <ns1:pt x="0" y="596138"/>
                    <ns1:pt x="0" y="384048"/>
                  </ns1:cubicBezTo>
                  <ns1:close/>
                </ns1:path>
              </ns1:pathLst>
            </ns1:custGeom>
            <ns1:solidFill>
              <ns1:srgbClr val="0B2545"/>
            </ns1:solidFill>
          </ns0:spPr>
        </ns0:sp>
      </ns0:grpSp>
      <ns0:grpSp>
        <ns0:nvGrpSpPr>
          <ns0:cNvPr name="Group 58" id="58"/>
          <ns0:cNvGrpSpPr/>
          <ns0:nvPr/>
        </ns0:nvGrpSpPr>
        <ns0:grpSpPr>
          <ns1:xfrm rot="0">
            <ns1:off x="822960" y="7010019"/>
            <ns1:ext cx="576072" cy="576072"/>
            <ns1:chOff x="0" y="0"/>
            <ns1:chExt cx="768096" cy="768096"/>
          </ns1:xfrm>
        </ns0:grpSpPr>
        <ns0:sp>
          <ns0:nvSpPr>
            <ns0:cNvPr name="Freeform 59" id="59"/>
            <ns0:cNvSpPr/>
            <ns0:nvPr/>
          </ns0:nvSpPr>
          <ns0:spPr>
            <ns1:xfrm flipH="false" flipV="false" rot="0">
              <ns1:off x="0" y="0"/>
              <ns1:ext cx="768096" cy="768096"/>
            </ns1:xfrm>
            <ns1:custGeom>
              <ns1:avLst/>
              <ns1:gdLst/>
              <ns1:ahLst/>
              <ns1:cxnLst/>
              <ns1:rect r="r" b="b" t="t" l="l"/>
              <ns1:pathLst>
                <ns1:path h="768096" w="768096">
                  <ns1:moveTo>
                    <ns1:pt x="0" y="0"/>
                  </ns1:moveTo>
                  <ns1:lnTo>
                    <ns1:pt x="768096" y="0"/>
                  </ns1:lnTo>
                  <ns1:lnTo>
                    <ns1:pt x="768096" y="768096"/>
                  </ns1:lnTo>
                  <ns1:lnTo>
                    <ns1:pt x="0" y="768096"/>
                  </ns1:lnTo>
                  <ns1:close/>
                </ns1:path>
              </ns1:pathLst>
            </ns1:custGeom>
            <ns1:blipFill>
              <ns1:blip ns2:embed="rId3">
                <ns1:alphaModFix amt="0"/>
              </ns1:blip>
              <ns1:stretch>
                <ns1:fillRect l="-78303" t="0" r="-78303" b="0"/>
              </ns1:stretch>
            </ns1:blipFill>
          </ns0:spPr>
        </ns0:sp>
        <ns0:sp>
          <ns0:nvSpPr>
            <ns0:cNvPr name="TextBox 60" id="60"/>
            <ns0:cNvSpPr txBox="true"/>
            <ns0:nvPr/>
          </ns0:nvSpPr>
          <ns0:spPr>
            <ns1:xfrm>
              <ns1:off x="0" y="-57150"/>
              <ns1:ext cx="768096" cy="825246"/>
            </ns1:xfrm>
            <ns1:prstGeom prst="rect">
              <ns1:avLst/>
            </ns1:prstGeom>
          </ns0:spPr>
          <ns0:txBody>
            <ns1:bodyPr anchor="ctr" rtlCol="false" tIns="0" lIns="0" bIns="0" rIns="0"/>
            <ns1:lstStyle/>
            <ns1:p>
              <ns1:pPr algn="ctr">
                <ns1:lnSpc>
                  <ns1:spcPts val="2879"/>
                </ns1:lnSpc>
              </ns1:pPr>
              <ns1:r>
                <ns1:rPr lang="en-US" sz="2399" b="true">
                  <ns1:solidFill>
                    <ns1:srgbClr val="FFFFFF"/>
                  </ns1:solidFill>
                  <ns1:latin typeface="Calibri (MS) Bold"/>
                  <ns1:ea typeface="Calibri (MS) Bold"/>
                  <ns1:cs typeface="Calibri (MS) Bold"/>
                  <ns1:sym typeface="Calibri (MS) Bold"/>
                </ns1:rPr>
                <ns1:t>5</ns1:t>
              </ns1:r>
            </ns1:p>
          </ns0:txBody>
        </ns0:sp>
      </ns0:grpSp>
      <ns0:grpSp>
        <ns0:nvGrpSpPr>
          <ns0:cNvPr name="Group 61" id="61"/>
          <ns0:cNvGrpSpPr/>
          <ns0:nvPr/>
        </ns0:nvGrpSpPr>
        <ns0:grpSpPr>
          <ns1:xfrm rot="0">
            <ns1:off x="1618488" y="7104888"/>
            <ns1:ext cx="3497580" cy="431038"/>
            <ns1:chOff x="0" y="0"/>
            <ns1:chExt cx="4663440" cy="574717"/>
          </ns1:xfrm>
        </ns0:grpSpPr>
        <ns0:sp>
          <ns0:nvSpPr>
            <ns0:cNvPr name="Freeform 62" id="62"/>
            <ns0:cNvSpPr/>
            <ns0:nvPr/>
          </ns0:nvSpPr>
          <ns0:spPr>
            <ns1:xfrm flipH="false" flipV="false" rot="0">
              <ns1:off x="0" y="0"/>
              <ns1:ext cx="4663440" cy="574717"/>
            </ns1:xfrm>
            <ns1:custGeom>
              <ns1:avLst/>
              <ns1:gdLst/>
              <ns1:ahLst/>
              <ns1:cxnLst/>
              <ns1:rect r="r" b="b" t="t" l="l"/>
              <ns1:pathLst>
                <ns1:path h="574717" w="4663440">
                  <ns1:moveTo>
                    <ns1:pt x="0" y="0"/>
                  </ns1:moveTo>
                  <ns1:lnTo>
                    <ns1:pt x="4663440" y="0"/>
                  </ns1:lnTo>
                  <ns1:lnTo>
                    <ns1:pt x="4663440" y="574717"/>
                  </ns1:lnTo>
                  <ns1:lnTo>
                    <ns1:pt x="0" y="574717"/>
                  </ns1:lnTo>
                  <ns1:close/>
                </ns1:path>
              </ns1:pathLst>
            </ns1:custGeom>
            <ns1:blipFill>
              <ns1:blip ns2:embed="rId3">
                <ns1:alphaModFix amt="0"/>
              </ns1:blip>
              <ns1:stretch>
                <ns1:fillRect l="0" t="-110376" r="0" b="-105839"/>
              </ns1:stretch>
            </ns1:blipFill>
          </ns0:spPr>
        </ns0:sp>
        <ns0:sp>
          <ns0:nvSpPr>
            <ns0:cNvPr name="TextBox 63" id="63"/>
            <ns0:cNvSpPr txBox="true"/>
            <ns0:nvPr/>
          </ns0:nvSpPr>
          <ns0:spPr>
            <ns1:xfrm>
              <ns1:off x="0" y="-47625"/>
              <ns1:ext cx="4663440" cy="622342"/>
            </ns1:xfrm>
            <ns1:prstGeom prst="rect">
              <ns1:avLst/>
            </ns1:prstGeom>
          </ns0:spPr>
          <ns0:txBody>
            <ns1:bodyPr anchor="ctr" rtlCol="false" tIns="0" lIns="0" bIns="0" rIns="0"/>
            <ns1:lstStyle/>
            <ns1:p>
              <ns1:pPr algn="l">
                <ns1:lnSpc>
                  <ns1:spcPts val="2609"/>
                </ns1:lnSpc>
              </ns1:pPr>
              <ns1:r>
                <ns1:rPr lang="en-US" sz="2174" b="true">
                  <ns1:solidFill>
                    <ns1:srgbClr val="0B2545"/>
                  </ns1:solidFill>
                  <ns1:latin typeface="Calibri (MS) Bold"/>
                  <ns1:ea typeface="Calibri (MS) Bold"/>
                  <ns1:cs typeface="Calibri (MS) Bold"/>
                  <ns1:sym typeface="Calibri (MS) Bold"/>
                </ns1:rPr>
                <ns1:t>Trust</ns1:t>
              </ns1:r>
            </ns1:p>
          </ns0:txBody>
        </ns0:sp>
      </ns0:grpSp>
      <ns0:sp>
        <ns0:nvSpPr>
          <ns0:cNvPr name="TextBox 64" id="64"/>
          <ns0:cNvSpPr txBox="true"/>
          <ns0:nvPr/>
        </ns0:nvSpPr>
        <ns0:spPr>
          <ns1:xfrm rot="0">
            <ns1:off x="877824" y="7788402"/>
            <ns1:ext cx="4210812" cy="620649"/>
          </ns1:xfrm>
          <ns1:prstGeom prst="rect">
            <ns1:avLst/>
          </ns1:prstGeom>
        </ns0:spPr>
        <ns0:txBody>
          <ns1:bodyPr anchor="t" rtlCol="false" tIns="0" lIns="0" bIns="0" rIns="0">
            <ns1:spAutoFit/>
          </ns1:bodyPr>
          <ns1:lstStyle/>
          <ns1:p>
            <ns1:pPr algn="l">
              <ns1:lnSpc>
                <ns1:spcPts val="2336"/>
              </ns1:lnSpc>
            </ns1:pPr>
            <ns1:r>
              <ns1:rPr lang="en-US" sz="1769">
                <ns1:solidFill>
                  <ns1:srgbClr val="15263B"/>
                </ns1:solidFill>
                <ns1:latin typeface="Calibri (MS)"/>
                <ns1:ea typeface="Calibri (MS)"/>
                <ns1:cs typeface="Calibri (MS)"/>
                <ns1:sym typeface="Calibri (MS)"/>
              </ns1:rPr>
              <ns1:t>Cryptographic Fraud Prevention: Eliminates fake paper/PDF certificates via direct cryptographic source verification.</ns1:t>
            </ns1:r>
          </ns1:p>
        </ns0:txBody>
      </ns0:sp>
      <ns0:grpSp>
        <ns0:nvGrpSpPr>
          <ns0:cNvPr name="Group 65" id="65"/>
          <ns0:cNvGrpSpPr/>
          <ns0:nvPr/>
        </ns0:nvGrpSpPr>
        <ns0:grpSpPr>
          <ns1:xfrm rot="0">
            <ns1:off x="5655183" y="6875907"/>
            <ns1:ext cx="4888230" cy="2323338"/>
            <ns1:chOff x="0" y="0"/>
            <ns1:chExt cx="6517640" cy="3097784"/>
          </ns1:xfrm>
        </ns0:grpSpPr>
        <ns0:sp>
          <ns0:nvSpPr>
            <ns0:cNvPr name="Freeform 66" id="66"/>
            <ns0:cNvSpPr/>
            <ns0:nvPr/>
          </ns0:nvSpPr>
          <ns0:spPr>
            <ns1:xfrm flipH="false" flipV="false" rot="0">
              <ns1:off x="0" y="0"/>
              <ns1:ext cx="6517640" cy="3097784"/>
            </ns1:xfrm>
            <ns1:custGeom>
              <ns1:avLst/>
              <ns1:gdLst/>
              <ns1:ahLst/>
              <ns1:cxnLst/>
              <ns1:rect r="r" b="b" t="t" l="l"/>
              <ns1:pathLst>
                <ns1:path h="3097784" w="6517640">
                  <ns1:moveTo>
                    <ns1:pt x="0" y="147574"/>
                  </ns1:moveTo>
                  <ns1:cubicBezTo>
                    <ns1:pt x="0" y="66040"/>
                    <ns1:pt x="66040" y="0"/>
                    <ns1:pt x="147574" y="0"/>
                  </ns1:cubicBezTo>
                  <ns1:lnTo>
                    <ns1:pt x="6370066" y="0"/>
                  </ns1:lnTo>
                  <ns1:cubicBezTo>
                    <ns1:pt x="6451600" y="0"/>
                    <ns1:pt x="6517640" y="66040"/>
                    <ns1:pt x="6517640" y="147574"/>
                  </ns1:cubicBezTo>
                  <ns1:lnTo>
                    <ns1:pt x="6517640" y="2950210"/>
                  </ns1:lnTo>
                  <ns1:cubicBezTo>
                    <ns1:pt x="6517640" y="3031744"/>
                    <ns1:pt x="6451600" y="3097784"/>
                    <ns1:pt x="6370066" y="3097784"/>
                  </ns1:cubicBezTo>
                  <ns1:lnTo>
                    <ns1:pt x="147574" y="3097784"/>
                  </ns1:lnTo>
                  <ns1:cubicBezTo>
                    <ns1:pt x="66040" y="3097784"/>
                    <ns1:pt x="0" y="3031744"/>
                    <ns1:pt x="0" y="2950210"/>
                  </ns1:cubicBezTo>
                  <ns1:close/>
                </ns1:path>
              </ns1:pathLst>
            </ns1:custGeom>
            <ns1:solidFill>
              <ns1:srgbClr val="FFFFFF"/>
            </ns1:solidFill>
            <ns1:ln w="19050" cap="sq">
              <ns1:solidFill>
                <ns1:srgbClr val="D8DEE8"/>
              </ns1:solidFill>
              <ns1:prstDash val="solid"/>
              <ns1:miter/>
            </ns1:ln>
          </ns0:spPr>
        </ns0:sp>
      </ns0:grpSp>
      <ns0:grpSp>
        <ns0:nvGrpSpPr>
          <ns0:cNvPr name="Group 67" id="67"/>
          <ns0:cNvGrpSpPr/>
          <ns0:nvPr/>
        </ns0:nvGrpSpPr>
        <ns0:grpSpPr>
          <ns1:xfrm rot="0">
            <ns1:off x="5939028" y="7010019"/>
            <ns1:ext cx="576072" cy="576072"/>
            <ns1:chOff x="0" y="0"/>
            <ns1:chExt cx="768096" cy="768096"/>
          </ns1:xfrm>
        </ns0:grpSpPr>
        <ns0:sp>
          <ns0:nvSpPr>
            <ns0:cNvPr name="Freeform 68" id="68"/>
            <ns0:cNvSpPr/>
            <ns0:nvPr/>
          </ns0:nvSpPr>
          <ns0:spPr>
            <ns1:xfrm flipH="false" flipV="false" rot="0">
              <ns1:off x="0" y="0"/>
              <ns1:ext cx="768096" cy="768096"/>
            </ns1:xfrm>
            <ns1:custGeom>
              <ns1:avLst/>
              <ns1:gdLst/>
              <ns1:ahLst/>
              <ns1:cxnLst/>
              <ns1:rect r="r" b="b" t="t" l="l"/>
              <ns1:pathLst>
                <ns1:path h="768096" w="768096">
                  <ns1:moveTo>
                    <ns1:pt x="0" y="384048"/>
                  </ns1:moveTo>
                  <ns1:cubicBezTo>
                    <ns1:pt x="0" y="171958"/>
                    <ns1:pt x="171958" y="0"/>
                    <ns1:pt x="384048" y="0"/>
                  </ns1:cubicBezTo>
                  <ns1:cubicBezTo>
                    <ns1:pt x="596138" y="0"/>
                    <ns1:pt x="768096" y="171958"/>
                    <ns1:pt x="768096" y="384048"/>
                  </ns1:cubicBezTo>
                  <ns1:cubicBezTo>
                    <ns1:pt x="768096" y="596138"/>
                    <ns1:pt x="596138" y="768096"/>
                    <ns1:pt x="384048" y="768096"/>
                  </ns1:cubicBezTo>
                  <ns1:cubicBezTo>
                    <ns1:pt x="171958" y="768096"/>
                    <ns1:pt x="0" y="596138"/>
                    <ns1:pt x="0" y="384048"/>
                  </ns1:cubicBezTo>
                  <ns1:close/>
                </ns1:path>
              </ns1:pathLst>
            </ns1:custGeom>
            <ns1:solidFill>
              <ns1:srgbClr val="D98E04"/>
            </ns1:solidFill>
          </ns0:spPr>
        </ns0:sp>
      </ns0:grpSp>
      <ns0:grpSp>
        <ns0:nvGrpSpPr>
          <ns0:cNvPr name="Group 69" id="69"/>
          <ns0:cNvGrpSpPr/>
          <ns0:nvPr/>
        </ns0:nvGrpSpPr>
        <ns0:grpSpPr>
          <ns1:xfrm rot="0">
            <ns1:off x="5939028" y="7010019"/>
            <ns1:ext cx="576072" cy="576072"/>
            <ns1:chOff x="0" y="0"/>
            <ns1:chExt cx="768096" cy="768096"/>
          </ns1:xfrm>
        </ns0:grpSpPr>
        <ns0:sp>
          <ns0:nvSpPr>
            <ns0:cNvPr name="Freeform 70" id="70"/>
            <ns0:cNvSpPr/>
            <ns0:nvPr/>
          </ns0:nvSpPr>
          <ns0:spPr>
            <ns1:xfrm flipH="false" flipV="false" rot="0">
              <ns1:off x="0" y="0"/>
              <ns1:ext cx="768096" cy="768096"/>
            </ns1:xfrm>
            <ns1:custGeom>
              <ns1:avLst/>
              <ns1:gdLst/>
              <ns1:ahLst/>
              <ns1:cxnLst/>
              <ns1:rect r="r" b="b" t="t" l="l"/>
              <ns1:pathLst>
                <ns1:path h="768096" w="768096">
                  <ns1:moveTo>
                    <ns1:pt x="0" y="0"/>
                  </ns1:moveTo>
                  <ns1:lnTo>
                    <ns1:pt x="768096" y="0"/>
                  </ns1:lnTo>
                  <ns1:lnTo>
                    <ns1:pt x="768096" y="768096"/>
                  </ns1:lnTo>
                  <ns1:lnTo>
                    <ns1:pt x="0" y="768096"/>
                  </ns1:lnTo>
                  <ns1:close/>
                </ns1:path>
              </ns1:pathLst>
            </ns1:custGeom>
            <ns1:blipFill>
              <ns1:blip ns2:embed="rId3">
                <ns1:alphaModFix amt="0"/>
              </ns1:blip>
              <ns1:stretch>
                <ns1:fillRect l="-78303" t="0" r="-78303" b="0"/>
              </ns1:stretch>
            </ns1:blipFill>
          </ns0:spPr>
        </ns0:sp>
        <ns0:sp>
          <ns0:nvSpPr>
            <ns0:cNvPr name="TextBox 71" id="71"/>
            <ns0:cNvSpPr txBox="true"/>
            <ns0:nvPr/>
          </ns0:nvSpPr>
          <ns0:spPr>
            <ns1:xfrm>
              <ns1:off x="0" y="-57150"/>
              <ns1:ext cx="768096" cy="825246"/>
            </ns1:xfrm>
            <ns1:prstGeom prst="rect">
              <ns1:avLst/>
            </ns1:prstGeom>
          </ns0:spPr>
          <ns0:txBody>
            <ns1:bodyPr anchor="ctr" rtlCol="false" tIns="0" lIns="0" bIns="0" rIns="0"/>
            <ns1:lstStyle/>
            <ns1:p>
              <ns1:pPr algn="ctr">
                <ns1:lnSpc>
                  <ns1:spcPts val="2879"/>
                </ns1:lnSpc>
              </ns1:pPr>
              <ns1:r>
                <ns1:rPr lang="en-US" sz="2399" b="true">
                  <ns1:solidFill>
                    <ns1:srgbClr val="FFFFFF"/>
                  </ns1:solidFill>
                  <ns1:latin typeface="Calibri (MS) Bold"/>
                  <ns1:ea typeface="Calibri (MS) Bold"/>
                  <ns1:cs typeface="Calibri (MS) Bold"/>
                  <ns1:sym typeface="Calibri (MS) Bold"/>
                </ns1:rPr>
                <ns1:t>6</ns1:t>
              </ns1:r>
            </ns1:p>
          </ns0:txBody>
        </ns0:sp>
      </ns0:grpSp>
      <ns0:grpSp>
        <ns0:nvGrpSpPr>
          <ns0:cNvPr name="Group 72" id="72"/>
          <ns0:cNvGrpSpPr/>
          <ns0:nvPr/>
        </ns0:nvGrpSpPr>
        <ns0:grpSpPr>
          <ns1:xfrm rot="0">
            <ns1:off x="6734556" y="7104888"/>
            <ns1:ext cx="3497580" cy="431038"/>
            <ns1:chOff x="0" y="0"/>
            <ns1:chExt cx="4663440" cy="574717"/>
          </ns1:xfrm>
        </ns0:grpSpPr>
        <ns0:sp>
          <ns0:nvSpPr>
            <ns0:cNvPr name="Freeform 73" id="73"/>
            <ns0:cNvSpPr/>
            <ns0:nvPr/>
          </ns0:nvSpPr>
          <ns0:spPr>
            <ns1:xfrm flipH="false" flipV="false" rot="0">
              <ns1:off x="0" y="0"/>
              <ns1:ext cx="4663440" cy="574717"/>
            </ns1:xfrm>
            <ns1:custGeom>
              <ns1:avLst/>
              <ns1:gdLst/>
              <ns1:ahLst/>
              <ns1:cxnLst/>
              <ns1:rect r="r" b="b" t="t" l="l"/>
              <ns1:pathLst>
                <ns1:path h="574717" w="4663440">
                  <ns1:moveTo>
                    <ns1:pt x="0" y="0"/>
                  </ns1:moveTo>
                  <ns1:lnTo>
                    <ns1:pt x="4663440" y="0"/>
                  </ns1:lnTo>
                  <ns1:lnTo>
                    <ns1:pt x="4663440" y="574717"/>
                  </ns1:lnTo>
                  <ns1:lnTo>
                    <ns1:pt x="0" y="574717"/>
                  </ns1:lnTo>
                  <ns1:close/>
                </ns1:path>
              </ns1:pathLst>
            </ns1:custGeom>
            <ns1:blipFill>
              <ns1:blip ns2:embed="rId3">
                <ns1:alphaModFix amt="0"/>
              </ns1:blip>
              <ns1:stretch>
                <ns1:fillRect l="0" t="-110376" r="0" b="-105839"/>
              </ns1:stretch>
            </ns1:blipFill>
          </ns0:spPr>
        </ns0:sp>
        <ns0:sp>
          <ns0:nvSpPr>
            <ns0:cNvPr name="TextBox 74" id="74"/>
            <ns0:cNvSpPr txBox="true"/>
            <ns0:nvPr/>
          </ns0:nvSpPr>
          <ns0:spPr>
            <ns1:xfrm>
              <ns1:off x="0" y="-47625"/>
              <ns1:ext cx="4663440" cy="622342"/>
            </ns1:xfrm>
            <ns1:prstGeom prst="rect">
              <ns1:avLst/>
            </ns1:prstGeom>
          </ns0:spPr>
          <ns0:txBody>
            <ns1:bodyPr anchor="ctr" rtlCol="false" tIns="0" lIns="0" bIns="0" rIns="0"/>
            <ns1:lstStyle/>
            <ns1:p>
              <ns1:pPr algn="l">
                <ns1:lnSpc>
                  <ns1:spcPts val="2609"/>
                </ns1:lnSpc>
              </ns1:pPr>
              <ns1:r>
                <ns1:rPr lang="en-US" sz="2174" b="true">
                  <ns1:solidFill>
                    <ns1:srgbClr val="0B2545"/>
                  </ns1:solidFill>
                  <ns1:latin typeface="Calibri (MS) Bold"/>
                  <ns1:ea typeface="Calibri (MS) Bold"/>
                  <ns1:cs typeface="Calibri (MS) Bold"/>
                  <ns1:sym typeface="Calibri (MS) Bold"/>
                </ns1:rPr>
                <ns1:t>Governance</ns1:t>
              </ns1:r>
            </ns1:p>
          </ns0:txBody>
        </ns0:sp>
      </ns0:grpSp>
      <ns0:sp>
        <ns0:nvSpPr>
          <ns0:cNvPr name="TextBox 75" id="75"/>
          <ns0:cNvSpPr txBox="true"/>
          <ns0:nvPr/>
        </ns0:nvSpPr>
        <ns0:spPr>
          <ns1:xfrm rot="0">
            <ns1:off x="5993892" y="7788402"/>
            <ns1:ext cx="4210812" cy="620649"/>
          </ns1:xfrm>
          <ns1:prstGeom prst="rect">
            <ns1:avLst/>
          </ns1:prstGeom>
        </ns0:spPr>
        <ns0:txBody>
          <ns1:bodyPr anchor="t" rtlCol="false" tIns="0" lIns="0" bIns="0" rIns="0">
            <ns1:spAutoFit/>
          </ns1:bodyPr>
          <ns1:lstStyle/>
          <ns1:p>
            <ns1:pPr algn="l">
              <ns1:lnSpc>
                <ns1:spcPts val="2336"/>
              </ns1:lnSpc>
            </ns1:pPr>
            <ns1:r>
              <ns1:rPr lang="en-US" sz="1769">
                <ns1:solidFill>
                  <ns1:srgbClr val="15263B"/>
                </ns1:solidFill>
                <ns1:latin typeface="Calibri (MS)"/>
                <ns1:ea typeface="Calibri (MS)"/>
                <ns1:cs typeface="Calibri (MS)"/>
                <ns1:sym typeface="Calibri (MS)"/>
              </ns1:rPr>
              <ns1:t>Resilient Zero-Downtime Governance: Circuit-breaker isolated architecture eliminates the single point of failure that plagued SSDG.</ns1:t>
            </ns1:r>
          </ns1:p>
        </ns0:txBody>
      </ns0:sp>
      <ns0:grpSp>
        <ns0:nvGrpSpPr>
          <ns0:cNvPr name="Group 76" id="76"/>
          <ns0:cNvGrpSpPr/>
          <ns0:nvPr/>
        </ns0:nvGrpSpPr>
        <ns0:grpSpPr>
          <ns1:xfrm rot="0">
            <ns1:off x="10767060" y="1755648"/>
            <ns1:ext cx="6926580" cy="438912"/>
            <ns1:chOff x="0" y="0"/>
            <ns1:chExt cx="9235440" cy="585216"/>
          </ns1:xfrm>
        </ns0:grpSpPr>
        <ns0:sp>
          <ns0:nvSpPr>
            <ns0:cNvPr name="Freeform 77" id="77"/>
            <ns0:cNvSpPr/>
            <ns0:nvPr/>
          </ns0:nvSpPr>
          <ns0:spPr>
            <ns1:xfrm flipH="false" flipV="false" rot="0">
              <ns1:off x="0" y="0"/>
              <ns1:ext cx="9235440" cy="585216"/>
            </ns1:xfrm>
            <ns1:custGeom>
              <ns1:avLst/>
              <ns1:gdLst/>
              <ns1:ahLst/>
              <ns1:cxnLst/>
              <ns1:rect r="r" b="b" t="t" l="l"/>
              <ns1:pathLst>
                <ns1:path h="585216" w="9235440">
                  <ns1:moveTo>
                    <ns1:pt x="0" y="0"/>
                  </ns1:moveTo>
                  <ns1:lnTo>
                    <ns1:pt x="9235440" y="0"/>
                  </ns1:lnTo>
                  <ns1:lnTo>
                    <ns1:pt x="9235440" y="585216"/>
                  </ns1:lnTo>
                  <ns1:lnTo>
                    <ns1:pt x="0" y="585216"/>
                  </ns1:lnTo>
                  <ns1:close/>
                </ns1:path>
              </ns1:pathLst>
            </ns1:custGeom>
            <ns1:blipFill>
              <ns1:blip ns2:embed="rId3">
                <ns1:alphaModFix amt="0"/>
              </ns1:blip>
              <ns1:stretch>
                <ns1:fillRect l="0" t="-257498" r="0" b="-257498"/>
              </ns1:stretch>
            </ns1:blipFill>
          </ns0:spPr>
        </ns0:sp>
        <ns0:sp>
          <ns0:nvSpPr>
            <ns0:cNvPr name="TextBox 78" id="78"/>
            <ns0:cNvSpPr txBox="true"/>
            <ns0:nvPr/>
          </ns0:nvSpPr>
          <ns0:spPr>
            <ns1:xfrm>
              <ns1:off x="0" y="-28575"/>
              <ns1:ext cx="9235440" cy="613791"/>
            </ns1:xfrm>
            <ns1:prstGeom prst="rect">
              <ns1:avLst/>
            </ns1:prstGeom>
          </ns0:spPr>
          <ns0:txBody>
            <ns1:bodyPr anchor="ctr" rtlCol="false" tIns="0" lIns="0" bIns="0" rIns="0"/>
            <ns1:lstStyle/>
            <ns1:p>
              <ns1:pPr algn="l">
                <ns1:lnSpc>
                  <ns1:spcPts val="1980"/>
                </ns1:lnSpc>
              </ns1:pPr>
              <ns1:r>
                <ns1:rPr lang="en-US" sz="1650" b="true">
                  <ns1:solidFill>
                    <ns1:srgbClr val="5B6B82"/>
                  </ns1:solidFill>
                  <ns1:latin typeface="Calibri (MS) Bold"/>
                  <ns1:ea typeface="Calibri (MS) Bold"/>
                  <ns1:cs typeface="Calibri (MS) Bold"/>
                  <ns1:sym typeface="Calibri (MS) Bold"/>
                </ns1:rPr>
                <ns1:t>PRODUCTION SLAs: &lt;500ms Multi-Dept Fetch • 99.9% Uptime • Zero Central Storage • 100% DPDP Act Compliant</ns1:t>
              </ns1:r>
            </ns1:p>
          </ns0:txBody>
        </ns0:sp>
      </ns0:grpSp>
      <ns0:pic>
        <ns0:nvPicPr>
          <ns0:cNvPr name="Picture 79" id="79"/>
          <ns0:cNvPicPr>
            <ns1:picLocks noChangeAspect="true"/>
          </ns0:cNvPicPr>
          <ns0:nvPr/>
        </ns0:nvPicPr>
        <ns0:blipFill>
          <ns1:blip ns2:embed="rId4"/>
          <ns1:stretch>
            <ns1:fillRect/>
          </ns1:stretch>
        </ns0:blipFill>
        <ns0:spPr>
          <ns1:xfrm rot="0">
            <ns1:off x="10074402" y="1570482"/>
            <ns1:ext cx="8311896" cy="7420356"/>
          </ns1:xfrm>
          <ns1:prstGeom prst="rect">
            <ns1:avLst/>
          </ns1:prstGeom>
        </ns0:spPr>
      </ns0:pic>
      <ns0:grpSp>
        <ns0:nvGrpSpPr>
          <ns0:cNvPr name="Group 80" id="80"/>
          <ns0:cNvGrpSpPr/>
          <ns0:nvPr/>
        </ns0:nvGrpSpPr>
        <ns0:grpSpPr>
          <ns1:xfrm rot="0">
            <ns1:off x="0" y="9793224"/>
            <ns1:ext cx="18283428" cy="493776"/>
            <ns1:chOff x="0" y="0"/>
            <ns1:chExt cx="24377904" cy="658368"/>
          </ns1:xfrm>
        </ns0:grpSpPr>
        <ns0:sp>
          <ns0:nvSpPr>
            <ns0:cNvPr name="Freeform 81" id="81"/>
            <ns0:cNvSpPr/>
            <ns0:nvPr/>
          </ns0:nvSpPr>
          <ns0:spPr>
            <ns1:xfrm flipH="false" flipV="false" rot="0">
              <ns1:off x="0" y="0"/>
              <ns1:ext cx="24377904" cy="658368"/>
            </ns1:xfrm>
            <ns1:custGeom>
              <ns1:avLst/>
              <ns1:gdLst/>
              <ns1:ahLst/>
              <ns1:cxnLst/>
              <ns1:rect r="r" b="b" t="t" l="l"/>
              <ns1:pathLst>
                <ns1:path h="658368" w="24377904">
                  <ns1:moveTo>
                    <ns1:pt x="0" y="0"/>
                  </ns1:moveTo>
                  <ns1:lnTo>
                    <ns1:pt x="24377904" y="0"/>
                  </ns1:lnTo>
                  <ns1:lnTo>
                    <ns1:pt x="24377904" y="658368"/>
                  </ns1:lnTo>
                  <ns1:lnTo>
                    <ns1:pt x="0" y="658368"/>
                  </ns1:lnTo>
                  <ns1:close/>
                </ns1:path>
              </ns1:pathLst>
            </ns1:custGeom>
            <ns1:solidFill>
              <ns1:srgbClr val="081B33"/>
            </ns1:solidFill>
          </ns0:spPr>
        </ns0:sp>
      </ns0:grpSp>
      <ns0:grpSp>
        <ns0:nvGrpSpPr>
          <ns0:cNvPr name="Group 82" id="82"/>
          <ns0:cNvGrpSpPr/>
          <ns0:nvPr/>
        </ns0:nvGrpSpPr>
        <ns0:grpSpPr>
          <ns1:xfrm rot="0">
            <ns1:off x="17282160" y="9793224"/>
            <ns1:ext cx="685800" cy="493776"/>
            <ns1:chOff x="0" y="0"/>
            <ns1:chExt cx="914400" cy="658368"/>
          </ns1:xfrm>
        </ns0:grpSpPr>
        <ns0:sp>
          <ns0:nvSpPr>
            <ns0:cNvPr name="Freeform 83" id="83"/>
            <ns0:cNvSpPr/>
            <ns0:nvPr/>
          </ns0:nvSpPr>
          <ns0:spPr>
            <ns1:xfrm flipH="false" flipV="false" rot="0">
              <ns1:off x="0" y="0"/>
              <ns1:ext cx="914400" cy="658368"/>
            </ns1:xfrm>
            <ns1:custGeom>
              <ns1:avLst/>
              <ns1:gdLst/>
              <ns1:ahLst/>
              <ns1:cxnLst/>
              <ns1:rect r="r" b="b" t="t" l="l"/>
              <ns1:pathLst>
                <ns1:path h="658368" w="914400">
                  <ns1:moveTo>
                    <ns1:pt x="0" y="0"/>
                  </ns1:moveTo>
                  <ns1:lnTo>
                    <ns1:pt x="914400" y="0"/>
                  </ns1:lnTo>
                  <ns1:lnTo>
                    <ns1:pt x="914400" y="658368"/>
                  </ns1:lnTo>
                  <ns1:lnTo>
                    <ns1:pt x="0" y="658368"/>
                  </ns1:lnTo>
                  <ns1:close/>
                </ns1:path>
              </ns1:pathLst>
            </ns1:custGeom>
            <ns1:blipFill>
              <ns1:blip ns2:embed="rId3">
                <ns1:alphaModFix amt="0"/>
              </ns1:blip>
              <ns1:stretch>
                <ns1:fillRect l="-42378" t="0" r="-42378" b="0"/>
              </ns1:stretch>
            </ns1:blipFill>
          </ns0:spPr>
        </ns0:sp>
        <ns0:sp>
          <ns0:nvSpPr>
            <ns0:cNvPr name="TextBox 84" id="84"/>
            <ns0:cNvSpPr txBox="true"/>
            <ns0:nvPr/>
          </ns0:nvSpPr>
          <ns0:spPr>
            <ns1:xfrm>
              <ns1:off x="0" y="-38100"/>
              <ns1:ext cx="914400" cy="696468"/>
            </ns1:xfrm>
            <ns1:prstGeom prst="rect">
              <ns1:avLst/>
            </ns1:prstGeom>
          </ns0:spPr>
          <ns0:txBody>
            <ns1:bodyPr anchor="ctr" rtlCol="false" tIns="0" lIns="0" bIns="0" rIns="0"/>
            <ns1:lstStyle/>
            <ns1:p>
              <ns1:pPr algn="r">
                <ns1:lnSpc>
                  <ns1:spcPts val="1800"/>
                </ns1:lnSpc>
              </ns1:pPr>
              <ns1:r>
                <ns1:rPr lang="en-US" sz="1500">
                  <ns1:solidFill>
                    <ns1:srgbClr val="AFC3DA"/>
                  </ns1:solidFill>
                  <ns1:latin typeface="Calibri (MS)"/>
                  <ns1:ea typeface="Calibri (MS)"/>
                  <ns1:cs typeface="Calibri (MS)"/>
                  <ns1:sym typeface="Calibri (MS)"/>
                </ns1:rPr>
                <ns1:t>5</ns1:t>
              </ns1:r>
            </ns1:p>
          </ns0:txBody>
        </ns0:sp>
      </ns0:grpSp>
      <ns0:sp>
        <ns0:nvSpPr>
          <ns0:cNvPr name="TextBox 85" id="85"/>
          <ns0:cNvSpPr txBox="true"/>
          <ns0:nvPr/>
        </ns0:nvSpPr>
        <ns0:spPr>
          <ns1:xfrm rot="0">
            <ns1:off x="7269823" y="9863880"/>
            <ns1:ext cx="3743782" cy="314363"/>
          </ns1:xfrm>
          <ns1:prstGeom prst="rect">
            <ns1:avLst/>
          </ns1:prstGeom>
        </ns0:spPr>
        <ns0:txBody>
          <ns1:bodyPr anchor="t" rtlCol="false" tIns="0" lIns="0" bIns="0" rIns="0">
            <ns1:spAutoFit/>
          </ns1:bodyPr>
          <ns1:lstStyle/>
          <ns1:p>
            <ns1:pPr algn="ctr">
              <ns1:lnSpc>
                <ns1:spcPts val="2249"/>
              </ns1:lnSpc>
              <ns1:spcBef>
                <ns1:spcPct val="0"/>
              </ns1:spcBef>
            </ns1:pPr>
            <ns1:r>
              <ns1:rPr lang="en-US" sz="1874">
                <ns1:solidFill>
                  <ns1:srgbClr val="AFC3DA"/>
                </ns1:solidFill>
                <ns1:latin typeface="Calibri (MS)"/>
                <ns1:ea typeface="Calibri (MS)"/>
                <ns1:cs typeface="Calibri (MS)"/>
                <ns1:sym typeface="Calibri (MS)"/>
              </ns1:rPr>
              <ns1:t>SIH 2026</ns1:t>
            </ns1:r>
            <ns1:r>
              <ns1:rPr lang="en-US" sz="1874">
                <ns1:solidFill>
                  <ns1:srgbClr val="AFC3DA"/>
                </ns1:solidFill>
                <ns1:latin typeface="Calibri (MS)"/>
                <ns1:ea typeface="Calibri (MS)"/>
                <ns1:cs typeface="Calibri (MS)"/>
                <ns1:sym typeface="Calibri (MS)"/>
              </ns1:rPr>
              <ns1:t> Idea Submission — MahaLink</ns1:t>
            </ns1:r>
          </ns1:p>
        </ns0:txBody>
      </ns0:sp>
    </ns0:spTree>
  </ns0:cSld>
  <ns0:clrMapOvr>
    <ns1:masterClrMapping/>
  </ns0:clrMapOvr>
</ns0:sld>
</file>

<file path=ppt/slides/slide6.xml><?xml version="1.0" encoding="utf-8"?>
<ns0:sld xmlns:ns0="http://schemas.openxmlformats.org/presentationml/2006/main" xmlns:ns1="http://schemas.openxmlformats.org/drawingml/2006/main" xmlns:ns2="http://schemas.openxmlformats.org/officeDocument/2006/relationships">
  <ns0:cSld>
    <ns0:bg>
      <ns0:bgPr>
        <ns1:solidFill>
          <ns1:srgbClr val="F4F6F9"/>
        </ns1:solidFill>
      </ns0:bgPr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grpSp>
        <ns0:nvGrpSpPr>
          <ns0:cNvPr name="Group 2" id="2"/>
          <ns0:cNvGrpSpPr/>
          <ns0:nvPr/>
        </ns0:nvGrpSpPr>
        <ns0:grpSpPr>
          <ns1:xfrm rot="0">
            <ns1:off x="470535" y="401955"/>
            <ns1:ext cx="2076450" cy="869442"/>
            <ns1:chOff x="0" y="0"/>
            <ns1:chExt cx="2768600" cy="1159256"/>
          </ns1:xfrm>
        </ns0:grpSpPr>
        <ns0:sp>
          <ns0:nvSpPr>
            <ns0:cNvPr name="Freeform 3" id="3"/>
            <ns0:cNvSpPr/>
            <ns0:nvPr/>
          </ns0:nvSpPr>
          <ns0:spPr>
            <ns1:xfrm flipH="false" flipV="false" rot="0">
              <ns1:off x="0" y="0"/>
              <ns1:ext cx="2768600" cy="1159256"/>
            </ns1:xfrm>
            <ns1:custGeom>
              <ns1:avLst/>
              <ns1:gdLst/>
              <ns1:ahLst/>
              <ns1:cxnLst/>
              <ns1:rect r="r" b="b" t="t" l="l"/>
              <ns1:pathLst>
                <ns1:path h="1159256" w="2768600">
                  <ns1:moveTo>
                    <ns1:pt x="0" y="186944"/>
                  </ns1:moveTo>
                  <ns1:cubicBezTo>
                    <ns1:pt x="0" y="83693"/>
                    <ns1:pt x="83693" y="0"/>
                    <ns1:pt x="186944" y="0"/>
                  </ns1:cubicBezTo>
                  <ns1:lnTo>
                    <ns1:pt x="2581656" y="0"/>
                  </ns1:lnTo>
                  <ns1:cubicBezTo>
                    <ns1:pt x="2684907" y="0"/>
                    <ns1:pt x="2768600" y="83693"/>
                    <ns1:pt x="2768600" y="186944"/>
                  </ns1:cubicBezTo>
                  <ns1:lnTo>
                    <ns1:pt x="2768600" y="972312"/>
                  </ns1:lnTo>
                  <ns1:cubicBezTo>
                    <ns1:pt x="2768600" y="1075563"/>
                    <ns1:pt x="2684907" y="1159256"/>
                    <ns1:pt x="2581656" y="1159256"/>
                  </ns1:cubicBezTo>
                  <ns1:lnTo>
                    <ns1:pt x="186944" y="1159256"/>
                  </ns1:lnTo>
                  <ns1:cubicBezTo>
                    <ns1:pt x="83693" y="1159256"/>
                    <ns1:pt x="0" y="1075563"/>
                    <ns1:pt x="0" y="972312"/>
                  </ns1:cubicBezTo>
                  <ns1:close/>
                </ns1:path>
              </ns1:pathLst>
            </ns1:custGeom>
            <ns1:solidFill>
              <ns1:srgbClr val="FFFFFF"/>
            </ns1:solidFill>
            <ns1:ln w="19050" cap="sq">
              <ns1:solidFill>
                <ns1:srgbClr val="1C7293"/>
              </ns1:solidFill>
              <ns1:prstDash val="solid"/>
              <ns1:miter/>
            </ns1:ln>
          </ns0:spPr>
        </ns0:sp>
      </ns0:grpSp>
      <ns0:grpSp>
        <ns0:nvGrpSpPr>
          <ns0:cNvPr name="Group 4" id="4"/>
          <ns0:cNvGrpSpPr/>
          <ns0:nvPr/>
        </ns0:nvGrpSpPr>
        <ns0:grpSpPr>
          <ns1:xfrm rot="0">
            <ns1:off x="480060" y="411480"/>
            <ns1:ext cx="2057400" cy="850392"/>
            <ns1:chOff x="0" y="0"/>
            <ns1:chExt cx="2743200" cy="1133856"/>
          </ns1:xfrm>
        </ns0:grpSpPr>
        <ns0:sp>
          <ns0:nvSpPr>
            <ns0:cNvPr name="Freeform 5" id="5"/>
            <ns0:cNvSpPr/>
            <ns0:nvPr/>
          </ns0:nvSpPr>
          <ns0:spPr>
            <ns1:xfrm flipH="false" flipV="false" rot="0">
              <ns1:off x="0" y="0"/>
              <ns1:ext cx="2743200" cy="1133856"/>
            </ns1:xfrm>
            <ns1:custGeom>
              <ns1:avLst/>
              <ns1:gdLst/>
              <ns1:ahLst/>
              <ns1:cxnLst/>
              <ns1:rect r="r" b="b" t="t" l="l"/>
              <ns1:pathLst>
                <ns1:path h="1133856" w="2743200">
                  <ns1:moveTo>
                    <ns1:pt x="0" y="0"/>
                  </ns1:moveTo>
                  <ns1:lnTo>
                    <ns1:pt x="2743200" y="0"/>
                  </ns1:lnTo>
                  <ns1:lnTo>
                    <ns1:pt x="2743200" y="1133856"/>
                  </ns1:lnTo>
                  <ns1:lnTo>
                    <ns1:pt x="0" y="1133856"/>
                  </ns1:lnTo>
                  <ns1:close/>
                </ns1:path>
              </ns1:pathLst>
            </ns1:custGeom>
            <ns1:blipFill>
              <ns1:blip ns2:embed="rId3">
                <ns1:alphaModFix amt="0"/>
              </ns1:blip>
              <ns1:stretch>
                <ns1:fillRect l="-3032" t="0" r="-3032" b="0"/>
              </ns1:stretch>
            </ns1:blipFill>
          </ns0:spPr>
        </ns0:sp>
        <ns0:sp>
          <ns0:nvSpPr>
            <ns0:cNvPr name="TextBox 6" id="6"/>
            <ns0:cNvSpPr txBox="true"/>
            <ns0:nvPr/>
          </ns0:nvSpPr>
          <ns0:spPr>
            <ns1:xfrm>
              <ns1:off x="0" y="-47625"/>
              <ns1:ext cx="2743200" cy="1181481"/>
            </ns1:xfrm>
            <ns1:prstGeom prst="rect">
              <ns1:avLst/>
            </ns1:prstGeom>
          </ns0:spPr>
          <ns0:txBody>
            <ns1:bodyPr anchor="ctr" rtlCol="false" tIns="0" lIns="0" bIns="0" rIns="0"/>
            <ns1:lstStyle/>
            <ns1:p>
              <ns1:pPr algn="ctr">
                <ns1:lnSpc>
                  <ns1:spcPts val="2519"/>
                </ns1:lnSpc>
              </ns1:pPr>
              <ns1:r>
                <ns1:rPr lang="en-US" b="true" sz="2099">
                  <ns1:gradFill>
                    <ns1:gsLst>
                      <ns1:gs pos="0">
                        <ns1:srgbClr val="091E27">
                          <ns1:alpha val="100000"/>
                        </ns1:srgbClr>
                      </ns1:gs>
                      <ns1:gs pos="100000">
                        <ns1:srgbClr val="48F0E7">
                          <ns1:alpha val="100000"/>
                        </ns1:srgbClr>
                      </ns1:gs>
                    </ns1:gsLst>
                    <ns1:lin ang="18900000"/>
                  </ns1:gradFill>
                  <ns1:latin typeface="Calibri (MS) Bold"/>
                  <ns1:ea typeface="Calibri (MS) Bold"/>
                  <ns1:cs typeface="Calibri (MS) Bold"/>
                  <ns1:sym typeface="Calibri (MS) Bold"/>
                </ns1:rPr>
                <ns1:t>INFERNO VI</ns1:t>
              </ns1:r>
            </ns1:p>
          </ns0:txBody>
        </ns0:sp>
      </ns0:grpSp>
      <ns0:grpSp>
        <ns0:nvGrpSpPr>
          <ns0:cNvPr name="Group 7" id="7"/>
          <ns0:cNvGrpSpPr/>
          <ns0:nvPr/>
        </ns0:nvGrpSpPr>
        <ns0:grpSpPr>
          <ns1:xfrm rot="0">
            <ns1:off x="5790438" y="-702116"/>
            <ns1:ext cx="13030200" cy="2859338"/>
            <ns1:chOff x="0" y="0"/>
            <ns1:chExt cx="17373600" cy="3812451"/>
          </ns1:xfrm>
        </ns0:grpSpPr>
        <ns0:sp>
          <ns0:nvSpPr>
            <ns0:cNvPr name="Freeform 8" id="8"/>
            <ns0:cNvSpPr/>
            <ns0:nvPr/>
          </ns0:nvSpPr>
          <ns0:spPr>
            <ns1:xfrm flipH="false" flipV="false" rot="0">
              <ns1:off x="0" y="0"/>
              <ns1:ext cx="17373600" cy="3812451"/>
            </ns1:xfrm>
            <ns1:custGeom>
              <ns1:avLst/>
              <ns1:gdLst/>
              <ns1:ahLst/>
              <ns1:cxnLst/>
              <ns1:rect r="r" b="b" t="t" l="l"/>
              <ns1:pathLst>
                <ns1:path h="3812451" w="17373600">
                  <ns1:moveTo>
                    <ns1:pt x="0" y="0"/>
                  </ns1:moveTo>
                  <ns1:lnTo>
                    <ns1:pt x="17373600" y="0"/>
                  </ns1:lnTo>
                  <ns1:lnTo>
                    <ns1:pt x="17373600" y="3812451"/>
                  </ns1:lnTo>
                  <ns1:lnTo>
                    <ns1:pt x="0" y="3812451"/>
                  </ns1:lnTo>
                  <ns1:close/>
                </ns1:path>
              </ns1:pathLst>
            </ns1:custGeom>
            <ns1:blipFill>
              <ns1:blip ns2:embed="rId3">
                <ns1:alphaModFix amt="0"/>
              </ns1:blip>
              <ns1:stretch>
                <ns1:fillRect l="0" t="-75603" r="0" b="-1986"/>
              </ns1:stretch>
            </ns1:blipFill>
          </ns0:spPr>
        </ns0:sp>
        <ns0:sp>
          <ns0:nvSpPr>
            <ns0:cNvPr name="TextBox 9" id="9"/>
            <ns0:cNvSpPr txBox="true"/>
            <ns0:nvPr/>
          </ns0:nvSpPr>
          <ns0:spPr>
            <ns1:xfrm>
              <ns1:off x="0" y="0"/>
              <ns1:ext cx="17373600" cy="3812451"/>
            </ns1:xfrm>
            <ns1:prstGeom prst="rect">
              <ns1:avLst/>
            </ns1:prstGeom>
          </ns0:spPr>
          <ns0:txBody>
            <ns1:bodyPr anchor="ctr" rtlCol="false" tIns="0" lIns="0" bIns="0" rIns="0"/>
            <ns1:lstStyle/>
            <ns1:p>
              <ns1:pPr algn="l">
                <ns1:lnSpc>
                  <ns1:spcPts val="4679"/>
                </ns1:lnSpc>
              </ns1:pPr>
              <ns1:r>
                <ns1:rPr lang="en-US" sz="3899" b="true">
                  <ns1:solidFill>
                    <ns1:srgbClr val="0B2545"/>
                  </ns1:solidFill>
                  <ns1:latin typeface="Cambria Bold"/>
                  <ns1:ea typeface="Cambria Bold"/>
                  <ns1:cs typeface="Cambria Bold"/>
                  <ns1:sym typeface="Cambria Bold"/>
                </ns1:rPr>
                <ns1:t>RESEARCH AND REFERENCES</ns1:t>
              </ns1:r>
            </ns1:p>
          </ns0:txBody>
        </ns0:sp>
      </ns0:grpSp>
      <ns0:grpSp>
        <ns0:nvGrpSpPr>
          <ns0:cNvPr name="Group 10" id="10"/>
          <ns0:cNvGrpSpPr/>
          <ns0:nvPr/>
        </ns0:nvGrpSpPr>
        <ns0:grpSpPr>
          <ns1:xfrm rot="0">
            <ns1:off x="548640" y="1440180"/>
            <ns1:ext cx="2359152" cy="2125980"/>
            <ns1:chOff x="0" y="0"/>
            <ns1:chExt cx="3145536" cy="2834640"/>
          </ns1:xfrm>
        </ns0:grpSpPr>
        <ns0:sp>
          <ns0:nvSpPr>
            <ns0:cNvPr name="Freeform 11" id="11"/>
            <ns0:cNvSpPr/>
            <ns0:nvPr/>
          </ns0:nvSpPr>
          <ns0:spPr>
            <ns1:xfrm flipH="false" flipV="false" rot="0">
              <ns1:off x="0" y="0"/>
              <ns1:ext cx="3145536" cy="2834640"/>
            </ns1:xfrm>
            <ns1:custGeom>
              <ns1:avLst/>
              <ns1:gdLst/>
              <ns1:ahLst/>
              <ns1:cxnLst/>
              <ns1:rect r="r" b="b" t="t" l="l"/>
              <ns1:pathLst>
                <ns1:path h="2834640" w="3145536">
                  <ns1:moveTo>
                    <ns1:pt x="0" y="146304"/>
                  </ns1:moveTo>
                  <ns1:cubicBezTo>
                    <ns1:pt x="0" y="65532"/>
                    <ns1:pt x="65532" y="0"/>
                    <ns1:pt x="146304" y="0"/>
                  </ns1:cubicBezTo>
                  <ns1:lnTo>
                    <ns1:pt x="2999232" y="0"/>
                  </ns1:lnTo>
                  <ns1:cubicBezTo>
                    <ns1:pt x="3080004" y="0"/>
                    <ns1:pt x="3145536" y="65532"/>
                    <ns1:pt x="3145536" y="146304"/>
                  </ns1:cubicBezTo>
                  <ns1:lnTo>
                    <ns1:pt x="3145536" y="2688336"/>
                  </ns1:lnTo>
                  <ns1:cubicBezTo>
                    <ns1:pt x="3145536" y="2769108"/>
                    <ns1:pt x="3080004" y="2834640"/>
                    <ns1:pt x="2999232" y="2834640"/>
                  </ns1:cubicBezTo>
                  <ns1:lnTo>
                    <ns1:pt x="146304" y="2834640"/>
                  </ns1:lnTo>
                  <ns1:cubicBezTo>
                    <ns1:pt x="65532" y="2834640"/>
                    <ns1:pt x="0" y="2769108"/>
                    <ns1:pt x="0" y="2688336"/>
                  </ns1:cubicBezTo>
                  <ns1:close/>
                </ns1:path>
              </ns1:pathLst>
            </ns1:custGeom>
            <ns1:gradFill rotWithShape="true">
              <ns1:gsLst>
                <ns1:gs pos="0">
                  <ns1:srgbClr val="381313">
                    <ns1:alpha val="100000"/>
                  </ns1:srgbClr>
                </ns1:gs>
                <ns1:gs pos="100000">
                  <ns1:srgbClr val="EE8E71">
                    <ns1:alpha val="100000"/>
                  </ns1:srgbClr>
                </ns1:gs>
              </ns1:gsLst>
              <ns1:lin ang="18900000"/>
            </ns1:gradFill>
          </ns0:spPr>
        </ns0:sp>
      </ns0:grpSp>
      <ns0:sp>
        <ns0:nvSpPr>
          <ns0:cNvPr name="TextBox 12" id="12"/>
          <ns0:cNvSpPr txBox="true"/>
          <ns0:nvPr/>
        </ns0:nvSpPr>
        <ns0:spPr>
          <ns1:xfrm rot="0">
            <ns1:off x="685800" y="1566672"/>
            <ns1:ext cx="2084832" cy="314363"/>
          </ns1:xfrm>
          <ns1:prstGeom prst="rect">
            <ns1:avLst/>
          </ns1:prstGeom>
        </ns0:spPr>
        <ns0:txBody>
          <ns1:bodyPr anchor="t" rtlCol="false" tIns="0" lIns="0" bIns="0" rIns="0">
            <ns1:spAutoFit/>
          </ns1:bodyPr>
          <ns1:lstStyle/>
          <ns1:p>
            <ns1:pPr algn="l">
              <ns1:lnSpc>
                <ns1:spcPts val="2249"/>
              </ns1:lnSpc>
            </ns1:pPr>
            <ns1:r>
              <ns1:rPr lang="en-US" sz="1874" b="true">
                <ns1:solidFill>
                  <ns1:srgbClr val="D98E04"/>
                </ns1:solidFill>
                <ns1:latin typeface="Calibri (MS) Bold"/>
                <ns1:ea typeface="Calibri (MS) Bold"/>
                <ns1:cs typeface="Calibri (MS) Bold"/>
                <ns1:sym typeface="Calibri (MS) Bold"/>
              </ns1:rPr>
              <ns1:t>NeGP (2006)</ns1:t>
            </ns1:r>
          </ns1:p>
        </ns0:txBody>
      </ns0:sp>
      <ns0:sp>
        <ns0:nvSpPr>
          <ns0:cNvPr name="TextBox 13" id="13"/>
          <ns0:cNvSpPr txBox="true"/>
          <ns0:nvPr/>
        </ns0:nvSpPr>
        <ns0:spPr>
          <ns1:xfrm rot="0">
            <ns1:off x="685800" y="2214372"/>
            <ns1:ext cx="2084832" cy="981685"/>
          </ns1:xfrm>
          <ns1:prstGeom prst="rect">
            <ns1:avLst/>
          </ns1:prstGeom>
        </ns0:spPr>
        <ns0:txBody>
          <ns1:bodyPr anchor="t" rtlCol="false" tIns="0" lIns="0" bIns="0" rIns="0">
            <ns1:spAutoFit/>
          </ns1:bodyPr>
          <ns1:lstStyle/>
          <ns1:p>
            <ns1:pPr algn="l">
              <ns1:lnSpc>
                <ns1:spcPts val="1943"/>
              </ns1:lnSpc>
            </ns1:pPr>
            <ns1:r>
              <ns1:rPr lang="en-US" sz="1499">
                <ns1:solidFill>
                  <ns1:srgbClr val="FFFFFF"/>
                </ns1:solidFill>
                <ns1:latin typeface="Calibri (MS)"/>
                <ns1:ea typeface="Calibri (MS)"/>
                <ns1:cs typeface="Calibri (MS)"/>
                <ns1:sym typeface="Calibri (MS)"/>
              </ns1:rPr>
              <ns1:t>Mission-Mode Projects funded departments in isolation — the root cause of today's silos.</ns1:t>
            </ns1:r>
          </ns1:p>
        </ns0:txBody>
      </ns0:sp>
      <ns0:grpSp>
        <ns0:nvGrpSpPr>
          <ns0:cNvPr name="Group 14" id="14"/>
          <ns0:cNvGrpSpPr/>
          <ns0:nvPr/>
        </ns0:nvGrpSpPr>
        <ns0:grpSpPr>
          <ns1:xfrm rot="0">
            <ns1:off x="3031236" y="1440180"/>
            <ns1:ext cx="2359152" cy="2125980"/>
            <ns1:chOff x="0" y="0"/>
            <ns1:chExt cx="3145536" cy="2834640"/>
          </ns1:xfrm>
        </ns0:grpSpPr>
        <ns0:sp>
          <ns0:nvSpPr>
            <ns0:cNvPr name="Freeform 15" id="15"/>
            <ns0:cNvSpPr/>
            <ns0:nvPr/>
          </ns0:nvSpPr>
          <ns0:spPr>
            <ns1:xfrm flipH="false" flipV="false" rot="0">
              <ns1:off x="0" y="0"/>
              <ns1:ext cx="3145536" cy="2834640"/>
            </ns1:xfrm>
            <ns1:custGeom>
              <ns1:avLst/>
              <ns1:gdLst/>
              <ns1:ahLst/>
              <ns1:cxnLst/>
              <ns1:rect r="r" b="b" t="t" l="l"/>
              <ns1:pathLst>
                <ns1:path h="2834640" w="3145536">
                  <ns1:moveTo>
                    <ns1:pt x="0" y="146304"/>
                  </ns1:moveTo>
                  <ns1:cubicBezTo>
                    <ns1:pt x="0" y="65532"/>
                    <ns1:pt x="65532" y="0"/>
                    <ns1:pt x="146304" y="0"/>
                  </ns1:cubicBezTo>
                  <ns1:lnTo>
                    <ns1:pt x="2999232" y="0"/>
                  </ns1:lnTo>
                  <ns1:cubicBezTo>
                    <ns1:pt x="3080004" y="0"/>
                    <ns1:pt x="3145536" y="65532"/>
                    <ns1:pt x="3145536" y="146304"/>
                  </ns1:cubicBezTo>
                  <ns1:lnTo>
                    <ns1:pt x="3145536" y="2688336"/>
                  </ns1:lnTo>
                  <ns1:cubicBezTo>
                    <ns1:pt x="3145536" y="2769108"/>
                    <ns1:pt x="3080004" y="2834640"/>
                    <ns1:pt x="2999232" y="2834640"/>
                  </ns1:cubicBezTo>
                  <ns1:lnTo>
                    <ns1:pt x="146304" y="2834640"/>
                  </ns1:lnTo>
                  <ns1:cubicBezTo>
                    <ns1:pt x="65532" y="2834640"/>
                    <ns1:pt x="0" y="2769108"/>
                    <ns1:pt x="0" y="2688336"/>
                  </ns1:cubicBezTo>
                  <ns1:close/>
                </ns1:path>
              </ns1:pathLst>
            </ns1:custGeom>
            <ns1:gradFill rotWithShape="true">
              <ns1:gsLst>
                <ns1:gs pos="0">
                  <ns1:srgbClr val="431043">
                    <ns1:alpha val="100000"/>
                  </ns1:srgbClr>
                </ns1:gs>
                <ns1:gs pos="100000">
                  <ns1:srgbClr val="D34681">
                    <ns1:alpha val="100000"/>
                  </ns1:srgbClr>
                </ns1:gs>
              </ns1:gsLst>
              <ns1:lin ang="18900000"/>
            </ns1:gradFill>
          </ns0:spPr>
        </ns0:sp>
      </ns0:grpSp>
      <ns0:sp>
        <ns0:nvSpPr>
          <ns0:cNvPr name="TextBox 16" id="16"/>
          <ns0:cNvSpPr txBox="true"/>
          <ns0:nvPr/>
        </ns0:nvSpPr>
        <ns0:spPr>
          <ns1:xfrm rot="0">
            <ns1:off x="3168396" y="1566672"/>
            <ns1:ext cx="2084832" cy="314363"/>
          </ns1:xfrm>
          <ns1:prstGeom prst="rect">
            <ns1:avLst/>
          </ns1:prstGeom>
        </ns0:spPr>
        <ns0:txBody>
          <ns1:bodyPr anchor="t" rtlCol="false" tIns="0" lIns="0" bIns="0" rIns="0">
            <ns1:spAutoFit/>
          </ns1:bodyPr>
          <ns1:lstStyle/>
          <ns1:p>
            <ns1:pPr algn="l">
              <ns1:lnSpc>
                <ns1:spcPts val="2249"/>
              </ns1:lnSpc>
            </ns1:pPr>
            <ns1:r>
              <ns1:rPr lang="en-US" sz="1874" b="true">
                <ns1:solidFill>
                  <ns1:srgbClr val="D98E04"/>
                </ns1:solidFill>
                <ns1:latin typeface="Calibri (MS) Bold"/>
                <ns1:ea typeface="Calibri (MS) Bold"/>
                <ns1:cs typeface="Calibri (MS) Bold"/>
                <ns1:sym typeface="Calibri (MS) Bold"/>
              </ns1:rPr>
              <ns1:t>IndEA 2.0</ns1:t>
            </ns1:r>
          </ns1:p>
        </ns0:txBody>
      </ns0:sp>
      <ns0:sp>
        <ns0:nvSpPr>
          <ns0:cNvPr name="TextBox 17" id="17"/>
          <ns0:cNvSpPr txBox="true"/>
          <ns0:nvPr/>
        </ns0:nvSpPr>
        <ns0:spPr>
          <ns1:xfrm rot="0">
            <ns1:off x="3168396" y="2190179"/>
            <ns1:ext cx="2084832" cy="1219771"/>
          </ns1:xfrm>
          <ns1:prstGeom prst="rect">
            <ns1:avLst/>
          </ns1:prstGeom>
        </ns0:spPr>
        <ns0:txBody>
          <ns1:bodyPr anchor="t" rtlCol="false" tIns="0" lIns="0" bIns="0" rIns="0">
            <ns1:spAutoFit/>
          </ns1:bodyPr>
          <ns1:lstStyle/>
          <ns1:p>
            <ns1:pPr algn="l">
              <ns1:lnSpc>
                <ns1:spcPts val="1943"/>
              </ns1:lnSpc>
            </ns1:pPr>
            <ns1:r>
              <ns1:rPr lang="en-US" sz="1499">
                <ns1:solidFill>
                  <ns1:srgbClr val="FFFFFF"/>
                </ns1:solidFill>
                <ns1:latin typeface="Calibri (MS)"/>
                <ns1:ea typeface="Calibri (MS)"/>
                <ns1:cs typeface="Calibri (MS)"/>
                <ns1:sym typeface="Calibri (MS)"/>
              </ns1:rPr>
              <ns1:t>National architecture blueprint; MahaLink implements its Integration Reference Model at state level.</ns1:t>
            </ns1:r>
          </ns1:p>
        </ns0:txBody>
      </ns0:sp>
      <ns0:grpSp>
        <ns0:nvGrpSpPr>
          <ns0:cNvPr name="Group 18" id="18"/>
          <ns0:cNvGrpSpPr/>
          <ns0:nvPr/>
        </ns0:nvGrpSpPr>
        <ns0:grpSpPr>
          <ns1:xfrm rot="0">
            <ns1:off x="5513832" y="1440180"/>
            <ns1:ext cx="2359152" cy="2125980"/>
            <ns1:chOff x="0" y="0"/>
            <ns1:chExt cx="3145536" cy="2834640"/>
          </ns1:xfrm>
        </ns0:grpSpPr>
        <ns0:sp>
          <ns0:nvSpPr>
            <ns0:cNvPr name="Freeform 19" id="19"/>
            <ns0:cNvSpPr/>
            <ns0:nvPr/>
          </ns0:nvSpPr>
          <ns0:spPr>
            <ns1:xfrm flipH="false" flipV="false" rot="0">
              <ns1:off x="0" y="0"/>
              <ns1:ext cx="3145536" cy="2834640"/>
            </ns1:xfrm>
            <ns1:custGeom>
              <ns1:avLst/>
              <ns1:gdLst/>
              <ns1:ahLst/>
              <ns1:cxnLst/>
              <ns1:rect r="r" b="b" t="t" l="l"/>
              <ns1:pathLst>
                <ns1:path h="2834640" w="3145536">
                  <ns1:moveTo>
                    <ns1:pt x="0" y="146304"/>
                  </ns1:moveTo>
                  <ns1:cubicBezTo>
                    <ns1:pt x="0" y="65532"/>
                    <ns1:pt x="65532" y="0"/>
                    <ns1:pt x="146304" y="0"/>
                  </ns1:cubicBezTo>
                  <ns1:lnTo>
                    <ns1:pt x="2999232" y="0"/>
                  </ns1:lnTo>
                  <ns1:cubicBezTo>
                    <ns1:pt x="3080004" y="0"/>
                    <ns1:pt x="3145536" y="65532"/>
                    <ns1:pt x="3145536" y="146304"/>
                  </ns1:cubicBezTo>
                  <ns1:lnTo>
                    <ns1:pt x="3145536" y="2688336"/>
                  </ns1:lnTo>
                  <ns1:cubicBezTo>
                    <ns1:pt x="3145536" y="2769108"/>
                    <ns1:pt x="3080004" y="2834640"/>
                    <ns1:pt x="2999232" y="2834640"/>
                  </ns1:cubicBezTo>
                  <ns1:lnTo>
                    <ns1:pt x="146304" y="2834640"/>
                  </ns1:lnTo>
                  <ns1:cubicBezTo>
                    <ns1:pt x="65532" y="2834640"/>
                    <ns1:pt x="0" y="2769108"/>
                    <ns1:pt x="0" y="2688336"/>
                  </ns1:cubicBezTo>
                  <ns1:close/>
                </ns1:path>
              </ns1:pathLst>
            </ns1:custGeom>
            <ns1:gradFill rotWithShape="true">
              <ns1:gsLst>
                <ns1:gs pos="0">
                  <ns1:srgbClr val="381313">
                    <ns1:alpha val="100000"/>
                  </ns1:srgbClr>
                </ns1:gs>
                <ns1:gs pos="100000">
                  <ns1:srgbClr val="EE8E71">
                    <ns1:alpha val="100000"/>
                  </ns1:srgbClr>
                </ns1:gs>
              </ns1:gsLst>
              <ns1:lin ang="18900000"/>
            </ns1:gradFill>
          </ns0:spPr>
        </ns0:sp>
      </ns0:grpSp>
      <ns0:sp>
        <ns0:nvSpPr>
          <ns0:cNvPr name="TextBox 20" id="20"/>
          <ns0:cNvSpPr txBox="true"/>
          <ns0:nvPr/>
        </ns0:nvSpPr>
        <ns0:spPr>
          <ns1:xfrm rot="0">
            <ns1:off x="5650992" y="1557147"/>
            <ns1:ext cx="2084832" cy="342862"/>
          </ns1:xfrm>
          <ns1:prstGeom prst="rect">
            <ns1:avLst/>
          </ns1:prstGeom>
        </ns0:spPr>
        <ns0:txBody>
          <ns1:bodyPr anchor="t" rtlCol="false" tIns="0" lIns="0" bIns="0" rIns="0">
            <ns1:spAutoFit/>
          </ns1:bodyPr>
          <ns1:lstStyle/>
          <ns1:p>
            <ns1:pPr algn="l">
              <ns1:lnSpc>
                <ns1:spcPts val="2369"/>
              </ns1:lnSpc>
            </ns1:pPr>
            <ns1:r>
              <ns1:rPr lang="en-US" sz="1974" b="true">
                <ns1:solidFill>
                  <ns1:srgbClr val="D98E04"/>
                </ns1:solidFill>
                <ns1:latin typeface="Calibri (MS) Bold"/>
                <ns1:ea typeface="Calibri (MS) Bold"/>
                <ns1:cs typeface="Calibri (MS) Bold"/>
                <ns1:sym typeface="Calibri (MS) Bold"/>
              </ns1:rPr>
              <ns1:t>API Setu</ns1:t>
            </ns1:r>
          </ns1:p>
        </ns0:txBody>
      </ns0:sp>
      <ns0:sp>
        <ns0:nvSpPr>
          <ns0:cNvPr name="TextBox 21" id="21"/>
          <ns0:cNvSpPr txBox="true"/>
          <ns0:nvPr/>
        </ns0:nvSpPr>
        <ns0:spPr>
          <ns1:xfrm rot="0">
            <ns1:off x="5650992" y="2199704"/>
            <ns1:ext cx="2084832" cy="1304468"/>
          </ns1:xfrm>
          <ns1:prstGeom prst="rect">
            <ns1:avLst/>
          </ns1:prstGeom>
        </ns0:spPr>
        <ns0:txBody>
          <ns1:bodyPr anchor="t" rtlCol="false" tIns="0" lIns="0" bIns="0" rIns="0">
            <ns1:spAutoFit/>
          </ns1:bodyPr>
          <ns1:lstStyle/>
          <ns1:p>
            <ns1:pPr algn="l">
              <ns1:lnSpc>
                <ns1:spcPts val="2073"/>
              </ns1:lnSpc>
            </ns1:pPr>
            <ns1:r>
              <ns1:rPr lang="en-US" sz="1599">
                <ns1:solidFill>
                  <ns1:srgbClr val="FFFFFF"/>
                </ns1:solidFill>
                <ns1:latin typeface="Calibri (MS)"/>
                <ns1:ea typeface="Calibri (MS)"/>
                <ns1:cs typeface="Calibri (MS)"/>
                <ns1:sym typeface="Calibri (MS)"/>
              </ns1:rPr>
              <ns1:t>9,138+ national APIs; MahaLink publishes department APIs here rather than duplicating it.</ns1:t>
            </ns1:r>
          </ns1:p>
        </ns0:txBody>
      </ns0:sp>
      <ns0:grpSp>
        <ns0:nvGrpSpPr>
          <ns0:cNvPr name="Group 22" id="22"/>
          <ns0:cNvGrpSpPr/>
          <ns0:nvPr/>
        </ns0:nvGrpSpPr>
        <ns0:grpSpPr>
          <ns1:xfrm rot="0">
            <ns1:off x="7996428" y="1440180"/>
            <ns1:ext cx="2359152" cy="2125980"/>
            <ns1:chOff x="0" y="0"/>
            <ns1:chExt cx="3145536" cy="2834640"/>
          </ns1:xfrm>
        </ns0:grpSpPr>
        <ns0:sp>
          <ns0:nvSpPr>
            <ns0:cNvPr name="Freeform 23" id="23"/>
            <ns0:cNvSpPr/>
            <ns0:nvPr/>
          </ns0:nvSpPr>
          <ns0:spPr>
            <ns1:xfrm flipH="false" flipV="false" rot="0">
              <ns1:off x="0" y="0"/>
              <ns1:ext cx="3145536" cy="2834640"/>
            </ns1:xfrm>
            <ns1:custGeom>
              <ns1:avLst/>
              <ns1:gdLst/>
              <ns1:ahLst/>
              <ns1:cxnLst/>
              <ns1:rect r="r" b="b" t="t" l="l"/>
              <ns1:pathLst>
                <ns1:path h="2834640" w="3145536">
                  <ns1:moveTo>
                    <ns1:pt x="0" y="146304"/>
                  </ns1:moveTo>
                  <ns1:cubicBezTo>
                    <ns1:pt x="0" y="65532"/>
                    <ns1:pt x="65532" y="0"/>
                    <ns1:pt x="146304" y="0"/>
                  </ns1:cubicBezTo>
                  <ns1:lnTo>
                    <ns1:pt x="2999232" y="0"/>
                  </ns1:lnTo>
                  <ns1:cubicBezTo>
                    <ns1:pt x="3080004" y="0"/>
                    <ns1:pt x="3145536" y="65532"/>
                    <ns1:pt x="3145536" y="146304"/>
                  </ns1:cubicBezTo>
                  <ns1:lnTo>
                    <ns1:pt x="3145536" y="2688336"/>
                  </ns1:lnTo>
                  <ns1:cubicBezTo>
                    <ns1:pt x="3145536" y="2769108"/>
                    <ns1:pt x="3080004" y="2834640"/>
                    <ns1:pt x="2999232" y="2834640"/>
                  </ns1:cubicBezTo>
                  <ns1:lnTo>
                    <ns1:pt x="146304" y="2834640"/>
                  </ns1:lnTo>
                  <ns1:cubicBezTo>
                    <ns1:pt x="65532" y="2834640"/>
                    <ns1:pt x="0" y="2769108"/>
                    <ns1:pt x="0" y="2688336"/>
                  </ns1:cubicBezTo>
                  <ns1:close/>
                </ns1:path>
              </ns1:pathLst>
            </ns1:custGeom>
            <ns1:gradFill rotWithShape="true">
              <ns1:gsLst>
                <ns1:gs pos="0">
                  <ns1:srgbClr val="431043">
                    <ns1:alpha val="100000"/>
                  </ns1:srgbClr>
                </ns1:gs>
                <ns1:gs pos="100000">
                  <ns1:srgbClr val="D34681">
                    <ns1:alpha val="100000"/>
                  </ns1:srgbClr>
                </ns1:gs>
              </ns1:gsLst>
              <ns1:lin ang="18900000"/>
            </ns1:gradFill>
          </ns0:spPr>
        </ns0:sp>
      </ns0:grpSp>
      <ns0:sp>
        <ns0:nvSpPr>
          <ns0:cNvPr name="TextBox 24" id="24"/>
          <ns0:cNvSpPr txBox="true"/>
          <ns0:nvPr/>
        </ns0:nvSpPr>
        <ns0:spPr>
          <ns1:xfrm rot="0">
            <ns1:off x="8133588" y="1557147"/>
            <ns1:ext cx="2084832" cy="342862"/>
          </ns1:xfrm>
          <ns1:prstGeom prst="rect">
            <ns1:avLst/>
          </ns1:prstGeom>
        </ns0:spPr>
        <ns0:txBody>
          <ns1:bodyPr anchor="t" rtlCol="false" tIns="0" lIns="0" bIns="0" rIns="0">
            <ns1:spAutoFit/>
          </ns1:bodyPr>
          <ns1:lstStyle/>
          <ns1:p>
            <ns1:pPr algn="l">
              <ns1:lnSpc>
                <ns1:spcPts val="2369"/>
              </ns1:lnSpc>
            </ns1:pPr>
            <ns1:r>
              <ns1:rPr lang="en-US" sz="1974" b="true">
                <ns1:solidFill>
                  <ns1:srgbClr val="D98E04"/>
                </ns1:solidFill>
                <ns1:latin typeface="Calibri (MS) Bold"/>
                <ns1:ea typeface="Calibri (MS) Bold"/>
                <ns1:cs typeface="Calibri (MS) Bold"/>
                <ns1:sym typeface="Calibri (MS) Bold"/>
              </ns1:rPr>
              <ns1:t>X-Road (Estonia)</ns1:t>
            </ns1:r>
          </ns1:p>
        </ns0:txBody>
      </ns0:sp>
      <ns0:sp>
        <ns0:nvSpPr>
          <ns0:cNvPr name="TextBox 25" id="25"/>
          <ns0:cNvSpPr txBox="true"/>
          <ns0:nvPr/>
        </ns0:nvSpPr>
        <ns0:spPr>
          <ns1:xfrm rot="0">
            <ns1:off x="8133588" y="2223897"/>
            <ns1:ext cx="2084832" cy="1047293"/>
          </ns1:xfrm>
          <ns1:prstGeom prst="rect">
            <ns1:avLst/>
          </ns1:prstGeom>
        </ns0:spPr>
        <ns0:txBody>
          <ns1:bodyPr anchor="t" rtlCol="false" tIns="0" lIns="0" bIns="0" rIns="0">
            <ns1:spAutoFit/>
          </ns1:bodyPr>
          <ns1:lstStyle/>
          <ns1:p>
            <ns1:pPr algn="l">
              <ns1:lnSpc>
                <ns1:spcPts val="2073"/>
              </ns1:lnSpc>
            </ns1:pPr>
            <ns1:r>
              <ns1:rPr lang="en-US" sz="1599">
                <ns1:solidFill>
                  <ns1:srgbClr val="FFFFFF"/>
                </ns1:solidFill>
                <ns1:latin typeface="Calibri (MS)"/>
                <ns1:ea typeface="Calibri (MS)"/>
                <ns1:cs typeface="Calibri (MS)"/>
                <ns1:sym typeface="Calibri (MS)"/>
              </ns1:rPr>
              <ns1:t>Federated, no-central-database model MahaLink's adapter layer is built on.</ns1:t>
            </ns1:r>
          </ns1:p>
        </ns0:txBody>
      </ns0:sp>
      <ns0:grpSp>
        <ns0:nvGrpSpPr>
          <ns0:cNvPr name="Group 26" id="26"/>
          <ns0:cNvGrpSpPr/>
          <ns0:nvPr/>
        </ns0:nvGrpSpPr>
        <ns0:grpSpPr>
          <ns1:xfrm rot="0">
            <ns1:off x="10479024" y="1440180"/>
            <ns1:ext cx="2359152" cy="2125980"/>
            <ns1:chOff x="0" y="0"/>
            <ns1:chExt cx="3145536" cy="2834640"/>
          </ns1:xfrm>
        </ns0:grpSpPr>
        <ns0:sp>
          <ns0:nvSpPr>
            <ns0:cNvPr name="Freeform 27" id="27"/>
            <ns0:cNvSpPr/>
            <ns0:nvPr/>
          </ns0:nvSpPr>
          <ns0:spPr>
            <ns1:xfrm flipH="false" flipV="false" rot="0">
              <ns1:off x="0" y="0"/>
              <ns1:ext cx="3145536" cy="2834640"/>
            </ns1:xfrm>
            <ns1:custGeom>
              <ns1:avLst/>
              <ns1:gdLst/>
              <ns1:ahLst/>
              <ns1:cxnLst/>
              <ns1:rect r="r" b="b" t="t" l="l"/>
              <ns1:pathLst>
                <ns1:path h="2834640" w="3145536">
                  <ns1:moveTo>
                    <ns1:pt x="0" y="146304"/>
                  </ns1:moveTo>
                  <ns1:cubicBezTo>
                    <ns1:pt x="0" y="65532"/>
                    <ns1:pt x="65532" y="0"/>
                    <ns1:pt x="146304" y="0"/>
                  </ns1:cubicBezTo>
                  <ns1:lnTo>
                    <ns1:pt x="2999232" y="0"/>
                  </ns1:lnTo>
                  <ns1:cubicBezTo>
                    <ns1:pt x="3080004" y="0"/>
                    <ns1:pt x="3145536" y="65532"/>
                    <ns1:pt x="3145536" y="146304"/>
                  </ns1:cubicBezTo>
                  <ns1:lnTo>
                    <ns1:pt x="3145536" y="2688336"/>
                  </ns1:lnTo>
                  <ns1:cubicBezTo>
                    <ns1:pt x="3145536" y="2769108"/>
                    <ns1:pt x="3080004" y="2834640"/>
                    <ns1:pt x="2999232" y="2834640"/>
                  </ns1:cubicBezTo>
                  <ns1:lnTo>
                    <ns1:pt x="146304" y="2834640"/>
                  </ns1:lnTo>
                  <ns1:cubicBezTo>
                    <ns1:pt x="65532" y="2834640"/>
                    <ns1:pt x="0" y="2769108"/>
                    <ns1:pt x="0" y="2688336"/>
                  </ns1:cubicBezTo>
                  <ns1:close/>
                </ns1:path>
              </ns1:pathLst>
            </ns1:custGeom>
            <ns1:gradFill rotWithShape="true">
              <ns1:gsLst>
                <ns1:gs pos="0">
                  <ns1:srgbClr val="381313">
                    <ns1:alpha val="100000"/>
                  </ns1:srgbClr>
                </ns1:gs>
                <ns1:gs pos="100000">
                  <ns1:srgbClr val="EE8E71">
                    <ns1:alpha val="100000"/>
                  </ns1:srgbClr>
                </ns1:gs>
              </ns1:gsLst>
              <ns1:lin ang="18900000"/>
            </ns1:gradFill>
          </ns0:spPr>
        </ns0:sp>
      </ns0:grpSp>
      <ns0:sp>
        <ns0:nvSpPr>
          <ns0:cNvPr name="TextBox 28" id="28"/>
          <ns0:cNvSpPr txBox="true"/>
          <ns0:nvPr/>
        </ns0:nvSpPr>
        <ns0:spPr>
          <ns1:xfrm rot="0">
            <ns1:off x="10616184" y="1557147"/>
            <ns1:ext cx="2084832" cy="342862"/>
          </ns1:xfrm>
          <ns1:prstGeom prst="rect">
            <ns1:avLst/>
          </ns1:prstGeom>
        </ns0:spPr>
        <ns0:txBody>
          <ns1:bodyPr anchor="t" rtlCol="false" tIns="0" lIns="0" bIns="0" rIns="0">
            <ns1:spAutoFit/>
          </ns1:bodyPr>
          <ns1:lstStyle/>
          <ns1:p>
            <ns1:pPr algn="l">
              <ns1:lnSpc>
                <ns1:spcPts val="2369"/>
              </ns1:lnSpc>
            </ns1:pPr>
            <ns1:r>
              <ns1:rPr lang="en-US" sz="1974" b="true">
                <ns1:solidFill>
                  <ns1:srgbClr val="D98E04"/>
                </ns1:solidFill>
                <ns1:latin typeface="Calibri (MS) Bold"/>
                <ns1:ea typeface="Calibri (MS) Bold"/>
                <ns1:cs typeface="Calibri (MS) Bold"/>
                <ns1:sym typeface="Calibri (MS) Bold"/>
              </ns1:rPr>
              <ns1:t>MSDP-2024</ns1:t>
            </ns1:r>
          </ns1:p>
        </ns0:txBody>
      </ns0:sp>
      <ns0:sp>
        <ns0:nvSpPr>
          <ns0:cNvPr name="TextBox 29" id="29"/>
          <ns0:cNvSpPr txBox="true"/>
          <ns0:nvPr/>
        </ns0:nvSpPr>
        <ns0:spPr>
          <ns1:xfrm rot="0">
            <ns1:off x="10616184" y="2223897"/>
            <ns1:ext cx="2084832" cy="1047293"/>
          </ns1:xfrm>
          <ns1:prstGeom prst="rect">
            <ns1:avLst/>
          </ns1:prstGeom>
        </ns0:spPr>
        <ns0:txBody>
          <ns1:bodyPr anchor="t" rtlCol="false" tIns="0" lIns="0" bIns="0" rIns="0">
            <ns1:spAutoFit/>
          </ns1:bodyPr>
          <ns1:lstStyle/>
          <ns1:p>
            <ns1:pPr algn="l">
              <ns1:lnSpc>
                <ns1:spcPts val="2073"/>
              </ns1:lnSpc>
            </ns1:pPr>
            <ns1:r>
              <ns1:rPr lang="en-US" sz="1599">
                <ns1:solidFill>
                  <ns1:srgbClr val="FFFFFF"/>
                </ns1:solidFill>
                <ns1:latin typeface="Calibri (MS)"/>
                <ns1:ea typeface="Calibri (MS)"/>
                <ns1:cs typeface="Calibri (MS)"/>
                <ns1:sym typeface="Calibri (MS)"/>
              </ns1:rPr>
              <ns1:t>Maharashtra's own policy creating a State Data Authority to fix this exact problem.</ns1:t>
            </ns1:r>
          </ns1:p>
        </ns0:txBody>
      </ns0:sp>
      <ns0:grpSp>
        <ns0:nvGrpSpPr>
          <ns0:cNvPr name="Group 30" id="30"/>
          <ns0:cNvGrpSpPr/>
          <ns0:nvPr/>
        </ns0:nvGrpSpPr>
        <ns0:grpSpPr>
          <ns1:xfrm rot="0">
            <ns1:off x="12961620" y="1440180"/>
            <ns1:ext cx="2359152" cy="2125980"/>
            <ns1:chOff x="0" y="0"/>
            <ns1:chExt cx="3145536" cy="2834640"/>
          </ns1:xfrm>
        </ns0:grpSpPr>
        <ns0:sp>
          <ns0:nvSpPr>
            <ns0:cNvPr name="Freeform 31" id="31"/>
            <ns0:cNvSpPr/>
            <ns0:nvPr/>
          </ns0:nvSpPr>
          <ns0:spPr>
            <ns1:xfrm flipH="false" flipV="false" rot="0">
              <ns1:off x="0" y="0"/>
              <ns1:ext cx="3145536" cy="2834640"/>
            </ns1:xfrm>
            <ns1:custGeom>
              <ns1:avLst/>
              <ns1:gdLst/>
              <ns1:ahLst/>
              <ns1:cxnLst/>
              <ns1:rect r="r" b="b" t="t" l="l"/>
              <ns1:pathLst>
                <ns1:path h="2834640" w="3145536">
                  <ns1:moveTo>
                    <ns1:pt x="0" y="146304"/>
                  </ns1:moveTo>
                  <ns1:cubicBezTo>
                    <ns1:pt x="0" y="65532"/>
                    <ns1:pt x="65532" y="0"/>
                    <ns1:pt x="146304" y="0"/>
                  </ns1:cubicBezTo>
                  <ns1:lnTo>
                    <ns1:pt x="2999232" y="0"/>
                  </ns1:lnTo>
                  <ns1:cubicBezTo>
                    <ns1:pt x="3080004" y="0"/>
                    <ns1:pt x="3145536" y="65532"/>
                    <ns1:pt x="3145536" y="146304"/>
                  </ns1:cubicBezTo>
                  <ns1:lnTo>
                    <ns1:pt x="3145536" y="2688336"/>
                  </ns1:lnTo>
                  <ns1:cubicBezTo>
                    <ns1:pt x="3145536" y="2769108"/>
                    <ns1:pt x="3080004" y="2834640"/>
                    <ns1:pt x="2999232" y="2834640"/>
                  </ns1:cubicBezTo>
                  <ns1:lnTo>
                    <ns1:pt x="146304" y="2834640"/>
                  </ns1:lnTo>
                  <ns1:cubicBezTo>
                    <ns1:pt x="65532" y="2834640"/>
                    <ns1:pt x="0" y="2769108"/>
                    <ns1:pt x="0" y="2688336"/>
                  </ns1:cubicBezTo>
                  <ns1:close/>
                </ns1:path>
              </ns1:pathLst>
            </ns1:custGeom>
            <ns1:gradFill rotWithShape="true">
              <ns1:gsLst>
                <ns1:gs pos="0">
                  <ns1:srgbClr val="431043">
                    <ns1:alpha val="100000"/>
                  </ns1:srgbClr>
                </ns1:gs>
                <ns1:gs pos="100000">
                  <ns1:srgbClr val="D34681">
                    <ns1:alpha val="100000"/>
                  </ns1:srgbClr>
                </ns1:gs>
              </ns1:gsLst>
              <ns1:lin ang="18900000"/>
            </ns1:gradFill>
          </ns0:spPr>
        </ns0:sp>
      </ns0:grpSp>
      <ns0:sp>
        <ns0:nvSpPr>
          <ns0:cNvPr name="TextBox 32" id="32"/>
          <ns0:cNvSpPr txBox="true"/>
          <ns0:nvPr/>
        </ns0:nvSpPr>
        <ns0:spPr>
          <ns1:xfrm rot="0">
            <ns1:off x="13098780" y="1557147"/>
            <ns1:ext cx="2084832" cy="342862"/>
          </ns1:xfrm>
          <ns1:prstGeom prst="rect">
            <ns1:avLst/>
          </ns1:prstGeom>
        </ns0:spPr>
        <ns0:txBody>
          <ns1:bodyPr anchor="t" rtlCol="false" tIns="0" lIns="0" bIns="0" rIns="0">
            <ns1:spAutoFit/>
          </ns1:bodyPr>
          <ns1:lstStyle/>
          <ns1:p>
            <ns1:pPr algn="l">
              <ns1:lnSpc>
                <ns1:spcPts val="2369"/>
              </ns1:lnSpc>
            </ns1:pPr>
            <ns1:r>
              <ns1:rPr lang="en-US" sz="1974" b="true">
                <ns1:solidFill>
                  <ns1:srgbClr val="D98E04"/>
                </ns1:solidFill>
                <ns1:latin typeface="Calibri (MS) Bold"/>
                <ns1:ea typeface="Calibri (MS) Bold"/>
                <ns1:cs typeface="Calibri (MS) Bold"/>
                <ns1:sym typeface="Calibri (MS) Bold"/>
              </ns1:rPr>
              <ns1:t>DPDP Act</ns1:t>
            </ns1:r>
          </ns1:p>
        </ns0:txBody>
      </ns0:sp>
      <ns0:sp>
        <ns0:nvSpPr>
          <ns0:cNvPr name="TextBox 33" id="33"/>
          <ns0:cNvSpPr txBox="true"/>
          <ns0:nvPr/>
        </ns0:nvSpPr>
        <ns0:spPr>
          <ns1:xfrm rot="0">
            <ns1:off x="13098780" y="2223897"/>
            <ns1:ext cx="2084832" cy="1047293"/>
          </ns1:xfrm>
          <ns1:prstGeom prst="rect">
            <ns1:avLst/>
          </ns1:prstGeom>
        </ns0:spPr>
        <ns0:txBody>
          <ns1:bodyPr anchor="t" rtlCol="false" tIns="0" lIns="0" bIns="0" rIns="0">
            <ns1:spAutoFit/>
          </ns1:bodyPr>
          <ns1:lstStyle/>
          <ns1:p>
            <ns1:pPr algn="l">
              <ns1:lnSpc>
                <ns1:spcPts val="2073"/>
              </ns1:lnSpc>
            </ns1:pPr>
            <ns1:r>
              <ns1:rPr lang="en-US" sz="1599">
                <ns1:solidFill>
                  <ns1:srgbClr val="FFFFFF"/>
                </ns1:solidFill>
                <ns1:latin typeface="Calibri (MS)"/>
                <ns1:ea typeface="Calibri (MS)"/>
                <ns1:cs typeface="Calibri (MS)"/>
                <ns1:sym typeface="Calibri (MS)"/>
              </ns1:rPr>
              <ns1:t>Legal basis for the Consent Manager's data-sharing and audit-logging design.</ns1:t>
            </ns1:r>
          </ns1:p>
        </ns0:txBody>
      </ns0:sp>
      <ns0:grpSp>
        <ns0:nvGrpSpPr>
          <ns0:cNvPr name="Group 34" id="34"/>
          <ns0:cNvGrpSpPr/>
          <ns0:nvPr/>
        </ns0:nvGrpSpPr>
        <ns0:grpSpPr>
          <ns1:xfrm rot="0">
            <ns1:off x="15444216" y="1440180"/>
            <ns1:ext cx="2359152" cy="2125980"/>
            <ns1:chOff x="0" y="0"/>
            <ns1:chExt cx="3145536" cy="2834640"/>
          </ns1:xfrm>
        </ns0:grpSpPr>
        <ns0:sp>
          <ns0:nvSpPr>
            <ns0:cNvPr name="Freeform 35" id="35"/>
            <ns0:cNvSpPr/>
            <ns0:nvPr/>
          </ns0:nvSpPr>
          <ns0:spPr>
            <ns1:xfrm flipH="false" flipV="false" rot="0">
              <ns1:off x="0" y="0"/>
              <ns1:ext cx="3145536" cy="2834640"/>
            </ns1:xfrm>
            <ns1:custGeom>
              <ns1:avLst/>
              <ns1:gdLst/>
              <ns1:ahLst/>
              <ns1:cxnLst/>
              <ns1:rect r="r" b="b" t="t" l="l"/>
              <ns1:pathLst>
                <ns1:path h="2834640" w="3145536">
                  <ns1:moveTo>
                    <ns1:pt x="0" y="146304"/>
                  </ns1:moveTo>
                  <ns1:cubicBezTo>
                    <ns1:pt x="0" y="65532"/>
                    <ns1:pt x="65532" y="0"/>
                    <ns1:pt x="146304" y="0"/>
                  </ns1:cubicBezTo>
                  <ns1:lnTo>
                    <ns1:pt x="2999232" y="0"/>
                  </ns1:lnTo>
                  <ns1:cubicBezTo>
                    <ns1:pt x="3080004" y="0"/>
                    <ns1:pt x="3145536" y="65532"/>
                    <ns1:pt x="3145536" y="146304"/>
                  </ns1:cubicBezTo>
                  <ns1:lnTo>
                    <ns1:pt x="3145536" y="2688336"/>
                  </ns1:lnTo>
                  <ns1:cubicBezTo>
                    <ns1:pt x="3145536" y="2769108"/>
                    <ns1:pt x="3080004" y="2834640"/>
                    <ns1:pt x="2999232" y="2834640"/>
                  </ns1:cubicBezTo>
                  <ns1:lnTo>
                    <ns1:pt x="146304" y="2834640"/>
                  </ns1:lnTo>
                  <ns1:cubicBezTo>
                    <ns1:pt x="65532" y="2834640"/>
                    <ns1:pt x="0" y="2769108"/>
                    <ns1:pt x="0" y="2688336"/>
                  </ns1:cubicBezTo>
                  <ns1:close/>
                </ns1:path>
              </ns1:pathLst>
            </ns1:custGeom>
            <ns1:gradFill rotWithShape="true">
              <ns1:gsLst>
                <ns1:gs pos="0">
                  <ns1:srgbClr val="381313">
                    <ns1:alpha val="100000"/>
                  </ns1:srgbClr>
                </ns1:gs>
                <ns1:gs pos="100000">
                  <ns1:srgbClr val="EE8E71">
                    <ns1:alpha val="100000"/>
                  </ns1:srgbClr>
                </ns1:gs>
              </ns1:gsLst>
              <ns1:lin ang="18900000"/>
            </ns1:gradFill>
          </ns0:spPr>
        </ns0:sp>
      </ns0:grpSp>
      <ns0:sp>
        <ns0:nvSpPr>
          <ns0:cNvPr name="TextBox 36" id="36"/>
          <ns0:cNvSpPr txBox="true"/>
          <ns0:nvPr/>
        </ns0:nvSpPr>
        <ns0:spPr>
          <ns1:xfrm rot="0">
            <ns1:off x="15581376" y="1557147"/>
            <ns1:ext cx="2084832" cy="342862"/>
          </ns1:xfrm>
          <ns1:prstGeom prst="rect">
            <ns1:avLst/>
          </ns1:prstGeom>
        </ns0:spPr>
        <ns0:txBody>
          <ns1:bodyPr anchor="t" rtlCol="false" tIns="0" lIns="0" bIns="0" rIns="0">
            <ns1:spAutoFit/>
          </ns1:bodyPr>
          <ns1:lstStyle/>
          <ns1:p>
            <ns1:pPr algn="l">
              <ns1:lnSpc>
                <ns1:spcPts val="2369"/>
              </ns1:lnSpc>
            </ns1:pPr>
            <ns1:r>
              <ns1:rPr lang="en-US" sz="1974" b="true">
                <ns1:solidFill>
                  <ns1:srgbClr val="D98E04"/>
                </ns1:solidFill>
                <ns1:latin typeface="Calibri (MS) Bold"/>
                <ns1:ea typeface="Calibri (MS) Bold"/>
                <ns1:cs typeface="Calibri (MS) Bold"/>
                <ns1:sym typeface="Calibri (MS) Bold"/>
              </ns1:rPr>
              <ns1:t>CAG Audit Reports</ns1:t>
            </ns1:r>
          </ns1:p>
        </ns0:txBody>
      </ns0:sp>
      <ns0:sp>
        <ns0:nvSpPr>
          <ns0:cNvPr name="TextBox 37" id="37"/>
          <ns0:cNvSpPr txBox="true"/>
          <ns0:nvPr/>
        </ns0:nvSpPr>
        <ns0:spPr>
          <ns1:xfrm rot="0">
            <ns1:off x="15581376" y="2223897"/>
            <ns1:ext cx="2084832" cy="1047293"/>
          </ns1:xfrm>
          <ns1:prstGeom prst="rect">
            <ns1:avLst/>
          </ns1:prstGeom>
        </ns0:spPr>
        <ns0:txBody>
          <ns1:bodyPr anchor="t" rtlCol="false" tIns="0" lIns="0" bIns="0" rIns="0">
            <ns1:spAutoFit/>
          </ns1:bodyPr>
          <ns1:lstStyle/>
          <ns1:p>
            <ns1:pPr algn="l">
              <ns1:lnSpc>
                <ns1:spcPts val="2073"/>
              </ns1:lnSpc>
            </ns1:pPr>
            <ns1:r>
              <ns1:rPr lang="en-US" sz="1599">
                <ns1:solidFill>
                  <ns1:srgbClr val="FFFFFF"/>
                </ns1:solidFill>
                <ns1:latin typeface="Calibri (MS)"/>
                <ns1:ea typeface="Calibri (MS)"/>
                <ns1:cs typeface="Calibri (MS)"/>
                <ns1:sym typeface="Calibri (MS)"/>
              </ns1:rPr>
              <ns1:t>Independent evidence: 67% services unavailable online, 33 lakh pending applications.</ns1:t>
            </ns1:r>
          </ns1:p>
        </ns0:txBody>
      </ns0:sp>
      <ns0:grpSp>
        <ns0:nvGrpSpPr>
          <ns0:cNvPr name="Group 38" id="38"/>
          <ns0:cNvGrpSpPr/>
          <ns0:nvPr/>
        </ns0:nvGrpSpPr>
        <ns0:grpSpPr>
          <ns1:xfrm rot="0">
            <ns1:off x="548640" y="3909060"/>
            <ns1:ext cx="17145000" cy="438912"/>
            <ns1:chOff x="0" y="0"/>
            <ns1:chExt cx="22860000" cy="585216"/>
          </ns1:xfrm>
        </ns0:grpSpPr>
        <ns0:sp>
          <ns0:nvSpPr>
            <ns0:cNvPr name="Freeform 39" id="39"/>
            <ns0:cNvSpPr/>
            <ns0:nvPr/>
          </ns0:nvSpPr>
          <ns0:spPr>
            <ns1:xfrm flipH="false" flipV="false" rot="0">
              <ns1:off x="0" y="0"/>
              <ns1:ext cx="22860000" cy="585216"/>
            </ns1:xfrm>
            <ns1:custGeom>
              <ns1:avLst/>
              <ns1:gdLst/>
              <ns1:ahLst/>
              <ns1:cxnLst/>
              <ns1:rect r="r" b="b" t="t" l="l"/>
              <ns1:pathLst>
                <ns1:path h="585216" w="22860000">
                  <ns1:moveTo>
                    <ns1:pt x="0" y="0"/>
                  </ns1:moveTo>
                  <ns1:lnTo>
                    <ns1:pt x="22860000" y="0"/>
                  </ns1:lnTo>
                  <ns1:lnTo>
                    <ns1:pt x="22860000" y="585216"/>
                  </ns1:lnTo>
                  <ns1:lnTo>
                    <ns1:pt x="0" y="585216"/>
                  </ns1:lnTo>
                  <ns1:close/>
                </ns1:path>
              </ns1:pathLst>
            </ns1:custGeom>
            <ns1:blipFill>
              <ns1:blip ns2:embed="rId3">
                <ns1:alphaModFix amt="0"/>
              </ns1:blip>
              <ns1:stretch>
                <ns1:fillRect l="0" t="-711134" r="0" b="-711134"/>
              </ns1:stretch>
            </ns1:blipFill>
          </ns0:spPr>
        </ns0:sp>
        <ns0:sp>
          <ns0:nvSpPr>
            <ns0:cNvPr name="TextBox 40" id="40"/>
            <ns0:cNvSpPr txBox="true"/>
            <ns0:nvPr/>
          </ns0:nvSpPr>
          <ns0:spPr>
            <ns1:xfrm>
              <ns1:off x="0" y="-38100"/>
              <ns1:ext cx="22860000" cy="623316"/>
            </ns1:xfrm>
            <ns1:prstGeom prst="rect">
              <ns1:avLst/>
            </ns1:prstGeom>
          </ns0:spPr>
          <ns0:txBody>
            <ns1:bodyPr anchor="ctr" rtlCol="false" tIns="0" lIns="0" bIns="0" rIns="0"/>
            <ns1:lstStyle/>
            <ns1:p>
              <ns1:pPr algn="l">
                <ns1:lnSpc>
                  <ns1:spcPts val="2160"/>
                </ns1:lnSpc>
              </ns1:pPr>
              <ns1:r>
                <ns1:rPr lang="en-US" sz="1800" b="true">
                  <ns1:solidFill>
                    <ns1:srgbClr val="5B6B82"/>
                  </ns1:solidFill>
                  <ns1:latin typeface="Calibri (MS) Bold"/>
                  <ns1:ea typeface="Calibri (MS) Bold"/>
                  <ns1:cs typeface="Calibri (MS) Bold"/>
                  <ns1:sym typeface="Calibri (MS) Bold"/>
                </ns1:rPr>
                <ns1:t>CITIZEN SERVICE JOURNEY — REAL-WORLD GOVERNMENT SCENARIO</ns1:t>
              </ns1:r>
            </ns1:p>
          </ns0:txBody>
        </ns0:sp>
      </ns0:grpSp>
      <ns0:grpSp>
        <ns0:nvGrpSpPr>
          <ns0:cNvPr name="Group 41" id="41"/>
          <ns0:cNvGrpSpPr/>
          <ns0:nvPr/>
        </ns0:nvGrpSpPr>
        <ns0:grpSpPr>
          <ns1:xfrm rot="0">
            <ns1:off x="539115" y="4516755"/>
            <ns1:ext cx="3242310" cy="2282190"/>
            <ns1:chOff x="0" y="0"/>
            <ns1:chExt cx="4323080" cy="3042920"/>
          </ns1:xfrm>
        </ns0:grpSpPr>
        <ns0:sp>
          <ns0:nvSpPr>
            <ns0:cNvPr name="Freeform 42" id="42"/>
            <ns0:cNvSpPr/>
            <ns0:nvPr/>
          </ns0:nvSpPr>
          <ns0:spPr>
            <ns1:xfrm flipH="false" flipV="false" rot="0">
              <ns1:off x="0" y="0"/>
              <ns1:ext cx="4323080" cy="3042920"/>
            </ns1:xfrm>
            <ns1:custGeom>
              <ns1:avLst/>
              <ns1:gdLst/>
              <ns1:ahLst/>
              <ns1:cxnLst/>
              <ns1:rect r="r" b="b" t="t" l="l"/>
              <ns1:pathLst>
                <ns1:path h="3042920" w="4323080">
                  <ns1:moveTo>
                    <ns1:pt x="0" y="147574"/>
                  </ns1:moveTo>
                  <ns1:cubicBezTo>
                    <ns1:pt x="0" y="66040"/>
                    <ns1:pt x="66040" y="0"/>
                    <ns1:pt x="147574" y="0"/>
                  </ns1:cubicBezTo>
                  <ns1:lnTo>
                    <ns1:pt x="4175506" y="0"/>
                  </ns1:lnTo>
                  <ns1:cubicBezTo>
                    <ns1:pt x="4257040" y="0"/>
                    <ns1:pt x="4323080" y="66040"/>
                    <ns1:pt x="4323080" y="147574"/>
                  </ns1:cubicBezTo>
                  <ns1:lnTo>
                    <ns1:pt x="4323080" y="2895346"/>
                  </ns1:lnTo>
                  <ns1:cubicBezTo>
                    <ns1:pt x="4323080" y="2976880"/>
                    <ns1:pt x="4257040" y="3042920"/>
                    <ns1:pt x="4175506" y="3042920"/>
                  </ns1:cubicBezTo>
                  <ns1:lnTo>
                    <ns1:pt x="147574" y="3042920"/>
                  </ns1:lnTo>
                  <ns1:cubicBezTo>
                    <ns1:pt x="66040" y="3042920"/>
                    <ns1:pt x="0" y="2976880"/>
                    <ns1:pt x="0" y="2895346"/>
                  </ns1:cubicBezTo>
                  <ns1:close/>
                </ns1:path>
              </ns1:pathLst>
            </ns1:custGeom>
            <ns1:solidFill>
              <ns1:srgbClr val="FFFFFF"/>
            </ns1:solidFill>
            <ns1:ln w="19050" cap="sq">
              <ns1:solidFill>
                <ns1:srgbClr val="D8DEE8"/>
              </ns1:solidFill>
              <ns1:prstDash val="solid"/>
              <ns1:miter/>
            </ns1:ln>
          </ns0:spPr>
        </ns0:sp>
      </ns0:grpSp>
      <ns0:grpSp>
        <ns0:nvGrpSpPr>
          <ns0:cNvPr name="Group 43" id="43"/>
          <ns0:cNvGrpSpPr/>
          <ns0:nvPr/>
        </ns0:nvGrpSpPr>
        <ns0:grpSpPr>
          <ns1:xfrm rot="0">
            <ns1:off x="754380" y="4732020"/>
            <ns1:ext cx="548640" cy="548640"/>
            <ns1:chOff x="0" y="0"/>
            <ns1:chExt cx="731520" cy="731520"/>
          </ns1:xfrm>
        </ns0:grpSpPr>
        <ns0:sp>
          <ns0:nvSpPr>
            <ns0:cNvPr name="Freeform 44" id="44"/>
            <ns0:cNvSpPr/>
            <ns0:nvPr/>
          </ns0:nvSpPr>
          <ns0:spPr>
            <ns1:xfrm flipH="false" flipV="false" rot="0">
              <ns1:off x="0" y="0"/>
              <ns1:ext cx="731520" cy="731520"/>
            </ns1:xfrm>
            <ns1:custGeom>
              <ns1:avLst/>
              <ns1:gdLst/>
              <ns1:ahLst/>
              <ns1:cxnLst/>
              <ns1:rect r="r" b="b" t="t" l="l"/>
              <ns1:pathLst>
                <ns1:path h="731520" w="731520">
                  <ns1:moveTo>
                    <ns1:pt x="0" y="365760"/>
                  </ns1:moveTo>
                  <ns1:cubicBezTo>
                    <ns1:pt x="0" y="163703"/>
                    <ns1:pt x="163703" y="0"/>
                    <ns1:pt x="365760" y="0"/>
                  </ns1:cubicBezTo>
                  <ns1:cubicBezTo>
                    <ns1:pt x="567817" y="0"/>
                    <ns1:pt x="731520" y="163703"/>
                    <ns1:pt x="731520" y="365760"/>
                  </ns1:cubicBezTo>
                  <ns1:cubicBezTo>
                    <ns1:pt x="731520" y="567817"/>
                    <ns1:pt x="567817" y="731520"/>
                    <ns1:pt x="365760" y="731520"/>
                  </ns1:cubicBezTo>
                  <ns1:cubicBezTo>
                    <ns1:pt x="163703" y="731520"/>
                    <ns1:pt x="0" y="567817"/>
                    <ns1:pt x="0" y="365760"/>
                  </ns1:cubicBezTo>
                  <ns1:close/>
                </ns1:path>
              </ns1:pathLst>
            </ns1:custGeom>
            <ns1:solidFill>
              <ns1:srgbClr val="D98E04"/>
            </ns1:solidFill>
          </ns0:spPr>
        </ns0:sp>
      </ns0:grpSp>
      <ns0:grpSp>
        <ns0:nvGrpSpPr>
          <ns0:cNvPr name="Group 45" id="45"/>
          <ns0:cNvGrpSpPr/>
          <ns0:nvPr/>
        </ns0:nvGrpSpPr>
        <ns0:grpSpPr>
          <ns1:xfrm rot="0">
            <ns1:off x="754380" y="4732020"/>
            <ns1:ext cx="548640" cy="548640"/>
            <ns1:chOff x="0" y="0"/>
            <ns1:chExt cx="731520" cy="731520"/>
          </ns1:xfrm>
        </ns0:grpSpPr>
        <ns0:sp>
          <ns0:nvSpPr>
            <ns0:cNvPr name="Freeform 46" id="46"/>
            <ns0:cNvSpPr/>
            <ns0:nvPr/>
          </ns0:nvSpPr>
          <ns0:spPr>
            <ns1:xfrm flipH="false" flipV="false" rot="0">
              <ns1:off x="0" y="0"/>
              <ns1:ext cx="731520" cy="731520"/>
            </ns1:xfrm>
            <ns1:custGeom>
              <ns1:avLst/>
              <ns1:gdLst/>
              <ns1:ahLst/>
              <ns1:cxnLst/>
              <ns1:rect r="r" b="b" t="t" l="l"/>
              <ns1:pathLst>
                <ns1:path h="731520" w="731520">
                  <ns1:moveTo>
                    <ns1:pt x="0" y="0"/>
                  </ns1:moveTo>
                  <ns1:lnTo>
                    <ns1:pt x="731520" y="0"/>
                  </ns1:lnTo>
                  <ns1:lnTo>
                    <ns1:pt x="731520" y="731520"/>
                  </ns1:lnTo>
                  <ns1:lnTo>
                    <ns1:pt x="0" y="731520"/>
                  </ns1:lnTo>
                  <ns1:close/>
                </ns1:path>
              </ns1:pathLst>
            </ns1:custGeom>
            <ns1:blipFill>
              <ns1:blip ns2:embed="rId3">
                <ns1:alphaModFix amt="0"/>
              </ns1:blip>
              <ns1:stretch>
                <ns1:fillRect l="-78303" t="0" r="-78303" b="0"/>
              </ns1:stretch>
            </ns1:blipFill>
          </ns0:spPr>
        </ns0:sp>
        <ns0:sp>
          <ns0:nvSpPr>
            <ns0:cNvPr name="TextBox 47" id="47"/>
            <ns0:cNvSpPr txBox="true"/>
            <ns0:nvPr/>
          </ns0:nvSpPr>
          <ns0:spPr>
            <ns1:xfrm>
              <ns1:off x="0" y="-47625"/>
              <ns1:ext cx="731520" cy="779145"/>
            </ns1:xfrm>
            <ns1:prstGeom prst="rect">
              <ns1:avLst/>
            </ns1:prstGeom>
          </ns0:spPr>
          <ns0:txBody>
            <ns1:bodyPr anchor="ctr" rtlCol="false" tIns="0" lIns="0" bIns="0" rIns="0"/>
            <ns1:lstStyle/>
            <ns1:p>
              <ns1:pPr algn="ctr">
                <ns1:lnSpc>
                  <ns1:spcPts val="2340"/>
                </ns1:lnSpc>
              </ns1:pPr>
              <ns1:r>
                <ns1:rPr lang="en-US" sz="1950" b="true">
                  <ns1:solidFill>
                    <ns1:srgbClr val="081B33"/>
                  </ns1:solidFill>
                  <ns1:latin typeface="Calibri (MS) Bold"/>
                  <ns1:ea typeface="Calibri (MS) Bold"/>
                  <ns1:cs typeface="Calibri (MS) Bold"/>
                  <ns1:sym typeface="Calibri (MS) Bold"/>
                </ns1:rPr>
                <ns1:t>1</ns1:t>
              </ns1:r>
            </ns1:p>
          </ns0:txBody>
        </ns0:sp>
      </ns0:grpSp>
      <ns0:sp>
        <ns0:nvSpPr>
          <ns0:cNvPr name="TextBox 48" id="48"/>
          <ns0:cNvSpPr txBox="true"/>
          <ns0:nvPr/>
        </ns0:nvSpPr>
        <ns0:spPr>
          <ns1:xfrm rot="0">
            <ns1:off x="754380" y="5398770"/>
            <ns1:ext cx="2811780" cy="595122"/>
          </ns1:xfrm>
          <ns1:prstGeom prst="rect">
            <ns1:avLst/>
          </ns1:prstGeom>
        </ns0:spPr>
        <ns0:txBody>
          <ns1:bodyPr anchor="t" rtlCol="false" tIns="0" lIns="0" bIns="0" rIns="0">
            <ns1:spAutoFit/>
          </ns1:bodyPr>
          <ns1:lstStyle/>
          <ns1:p>
            <ns1:pPr algn="l">
              <ns1:lnSpc>
                <ns1:spcPts val="1889"/>
              </ns1:lnSpc>
            </ns1:pPr>
            <ns1:r>
              <ns1:rPr lang="en-US" sz="1575" b="true">
                <ns1:solidFill>
                  <ns1:srgbClr val="0B2545"/>
                </ns1:solidFill>
                <ns1:latin typeface="Calibri (MS) Bold"/>
                <ns1:ea typeface="Calibri (MS) Bold"/>
                <ns1:cs typeface="Calibri (MS) Bold"/>
                <ns1:sym typeface="Calibri (MS) Bold"/>
              </ns1:rPr>
              <ns1:t>Priya logs in</ns1:t>
            </ns1:r>
          </ns1:p>
        </ns0:txBody>
      </ns0:sp>
      <ns0:sp>
        <ns0:nvSpPr>
          <ns0:cNvPr name="TextBox 49" id="49"/>
          <ns0:cNvSpPr txBox="true"/>
          <ns0:nvPr/>
        </ns0:nvSpPr>
        <ns0:spPr>
          <ns1:xfrm rot="0">
            <ns1:off x="754380" y="5928360"/>
            <ns1:ext cx="2811780" cy="723900"/>
          </ns1:xfrm>
          <ns1:prstGeom prst="rect">
            <ns1:avLst/>
          </ns1:prstGeom>
        </ns0:spPr>
        <ns0:txBody>
          <ns1:bodyPr anchor="t" rtlCol="false" tIns="0" lIns="0" bIns="0" rIns="0">
            <ns1:spAutoFit/>
          </ns1:bodyPr>
          <ns1:lstStyle/>
          <ns1:p>
            <ns1:pPr algn="l">
              <ns1:lnSpc>
                <ns1:spcPts val="1644"/>
              </ns1:lnSpc>
            </ns1:pPr>
            <ns1:r>
              <ns1:rPr lang="en-US" sz="1305">
                <ns1:solidFill>
                  <ns1:srgbClr val="15263B"/>
                </ns1:solidFill>
                <ns1:latin typeface="Calibri (MS)"/>
                <ns1:ea typeface="Calibri (MS)"/>
                <ns1:cs typeface="Calibri (MS)"/>
                <ns1:sym typeface="Calibri (MS)"/>
              </ns1:rPr>
              <ns1:t>Priya signs into Aaple Sarkar using Meri Pehchaan (National SSO) via Aadhaar OTP.</ns1:t>
            </ns1:r>
          </ns1:p>
        </ns0:txBody>
      </ns0:sp>
      <ns0:grpSp>
        <ns0:nvGrpSpPr>
          <ns0:cNvPr name="Group 50" id="50"/>
          <ns0:cNvGrpSpPr/>
          <ns0:nvPr/>
        </ns0:nvGrpSpPr>
        <ns0:grpSpPr>
          <ns1:xfrm rot="0">
            <ns1:off x="3940683" y="4516755"/>
            <ns1:ext cx="3242310" cy="2282190"/>
            <ns1:chOff x="0" y="0"/>
            <ns1:chExt cx="4323080" cy="3042920"/>
          </ns1:xfrm>
        </ns0:grpSpPr>
        <ns0:sp>
          <ns0:nvSpPr>
            <ns0:cNvPr name="Freeform 51" id="51"/>
            <ns0:cNvSpPr/>
            <ns0:nvPr/>
          </ns0:nvSpPr>
          <ns0:spPr>
            <ns1:xfrm flipH="false" flipV="false" rot="0">
              <ns1:off x="0" y="0"/>
              <ns1:ext cx="4323080" cy="3042920"/>
            </ns1:xfrm>
            <ns1:custGeom>
              <ns1:avLst/>
              <ns1:gdLst/>
              <ns1:ahLst/>
              <ns1:cxnLst/>
              <ns1:rect r="r" b="b" t="t" l="l"/>
              <ns1:pathLst>
                <ns1:path h="3042920" w="4323080">
                  <ns1:moveTo>
                    <ns1:pt x="0" y="147574"/>
                  </ns1:moveTo>
                  <ns1:cubicBezTo>
                    <ns1:pt x="0" y="66040"/>
                    <ns1:pt x="66040" y="0"/>
                    <ns1:pt x="147574" y="0"/>
                  </ns1:cubicBezTo>
                  <ns1:lnTo>
                    <ns1:pt x="4175506" y="0"/>
                  </ns1:lnTo>
                  <ns1:cubicBezTo>
                    <ns1:pt x="4257040" y="0"/>
                    <ns1:pt x="4323080" y="66040"/>
                    <ns1:pt x="4323080" y="147574"/>
                  </ns1:cubicBezTo>
                  <ns1:lnTo>
                    <ns1:pt x="4323080" y="2895346"/>
                  </ns1:lnTo>
                  <ns1:cubicBezTo>
                    <ns1:pt x="4323080" y="2976880"/>
                    <ns1:pt x="4257040" y="3042920"/>
                    <ns1:pt x="4175506" y="3042920"/>
                  </ns1:cubicBezTo>
                  <ns1:lnTo>
                    <ns1:pt x="147574" y="3042920"/>
                  </ns1:lnTo>
                  <ns1:cubicBezTo>
                    <ns1:pt x="66040" y="3042920"/>
                    <ns1:pt x="0" y="2976880"/>
                    <ns1:pt x="0" y="2895346"/>
                  </ns1:cubicBezTo>
                  <ns1:close/>
                </ns1:path>
              </ns1:pathLst>
            </ns1:custGeom>
            <ns1:solidFill>
              <ns1:srgbClr val="FFFFFF"/>
            </ns1:solidFill>
            <ns1:ln w="19050" cap="sq">
              <ns1:solidFill>
                <ns1:srgbClr val="D8DEE8"/>
              </ns1:solidFill>
              <ns1:prstDash val="solid"/>
              <ns1:miter/>
            </ns1:ln>
          </ns0:spPr>
        </ns0:sp>
      </ns0:grpSp>
      <ns0:grpSp>
        <ns0:nvGrpSpPr>
          <ns0:cNvPr name="Group 52" id="52"/>
          <ns0:cNvGrpSpPr/>
          <ns0:nvPr/>
        </ns0:nvGrpSpPr>
        <ns0:grpSpPr>
          <ns1:xfrm rot="0">
            <ns1:off x="4155948" y="4732020"/>
            <ns1:ext cx="548640" cy="548640"/>
            <ns1:chOff x="0" y="0"/>
            <ns1:chExt cx="731520" cy="731520"/>
          </ns1:xfrm>
        </ns0:grpSpPr>
        <ns0:sp>
          <ns0:nvSpPr>
            <ns0:cNvPr name="Freeform 53" id="53"/>
            <ns0:cNvSpPr/>
            <ns0:nvPr/>
          </ns0:nvSpPr>
          <ns0:spPr>
            <ns1:xfrm flipH="false" flipV="false" rot="0">
              <ns1:off x="0" y="0"/>
              <ns1:ext cx="731520" cy="731520"/>
            </ns1:xfrm>
            <ns1:custGeom>
              <ns1:avLst/>
              <ns1:gdLst/>
              <ns1:ahLst/>
              <ns1:cxnLst/>
              <ns1:rect r="r" b="b" t="t" l="l"/>
              <ns1:pathLst>
                <ns1:path h="731520" w="731520">
                  <ns1:moveTo>
                    <ns1:pt x="0" y="365760"/>
                  </ns1:moveTo>
                  <ns1:cubicBezTo>
                    <ns1:pt x="0" y="163703"/>
                    <ns1:pt x="163703" y="0"/>
                    <ns1:pt x="365760" y="0"/>
                  </ns1:cubicBezTo>
                  <ns1:cubicBezTo>
                    <ns1:pt x="567817" y="0"/>
                    <ns1:pt x="731520" y="163703"/>
                    <ns1:pt x="731520" y="365760"/>
                  </ns1:cubicBezTo>
                  <ns1:cubicBezTo>
                    <ns1:pt x="731520" y="567817"/>
                    <ns1:pt x="567817" y="731520"/>
                    <ns1:pt x="365760" y="731520"/>
                  </ns1:cubicBezTo>
                  <ns1:cubicBezTo>
                    <ns1:pt x="163703" y="731520"/>
                    <ns1:pt x="0" y="567817"/>
                    <ns1:pt x="0" y="365760"/>
                  </ns1:cubicBezTo>
                  <ns1:close/>
                </ns1:path>
              </ns1:pathLst>
            </ns1:custGeom>
            <ns1:solidFill>
              <ns1:srgbClr val="D98E04"/>
            </ns1:solidFill>
          </ns0:spPr>
        </ns0:sp>
      </ns0:grpSp>
      <ns0:grpSp>
        <ns0:nvGrpSpPr>
          <ns0:cNvPr name="Group 54" id="54"/>
          <ns0:cNvGrpSpPr/>
          <ns0:nvPr/>
        </ns0:nvGrpSpPr>
        <ns0:grpSpPr>
          <ns1:xfrm rot="0">
            <ns1:off x="4155948" y="4732020"/>
            <ns1:ext cx="548640" cy="548640"/>
            <ns1:chOff x="0" y="0"/>
            <ns1:chExt cx="731520" cy="731520"/>
          </ns1:xfrm>
        </ns0:grpSpPr>
        <ns0:sp>
          <ns0:nvSpPr>
            <ns0:cNvPr name="Freeform 55" id="55"/>
            <ns0:cNvSpPr/>
            <ns0:nvPr/>
          </ns0:nvSpPr>
          <ns0:spPr>
            <ns1:xfrm flipH="false" flipV="false" rot="0">
              <ns1:off x="0" y="0"/>
              <ns1:ext cx="731520" cy="731520"/>
            </ns1:xfrm>
            <ns1:custGeom>
              <ns1:avLst/>
              <ns1:gdLst/>
              <ns1:ahLst/>
              <ns1:cxnLst/>
              <ns1:rect r="r" b="b" t="t" l="l"/>
              <ns1:pathLst>
                <ns1:path h="731520" w="731520">
                  <ns1:moveTo>
                    <ns1:pt x="0" y="0"/>
                  </ns1:moveTo>
                  <ns1:lnTo>
                    <ns1:pt x="731520" y="0"/>
                  </ns1:lnTo>
                  <ns1:lnTo>
                    <ns1:pt x="731520" y="731520"/>
                  </ns1:lnTo>
                  <ns1:lnTo>
                    <ns1:pt x="0" y="731520"/>
                  </ns1:lnTo>
                  <ns1:close/>
                </ns1:path>
              </ns1:pathLst>
            </ns1:custGeom>
            <ns1:blipFill>
              <ns1:blip ns2:embed="rId3">
                <ns1:alphaModFix amt="0"/>
              </ns1:blip>
              <ns1:stretch>
                <ns1:fillRect l="-78303" t="0" r="-78303" b="0"/>
              </ns1:stretch>
            </ns1:blipFill>
          </ns0:spPr>
        </ns0:sp>
        <ns0:sp>
          <ns0:nvSpPr>
            <ns0:cNvPr name="TextBox 56" id="56"/>
            <ns0:cNvSpPr txBox="true"/>
            <ns0:nvPr/>
          </ns0:nvSpPr>
          <ns0:spPr>
            <ns1:xfrm>
              <ns1:off x="0" y="-47625"/>
              <ns1:ext cx="731520" cy="779145"/>
            </ns1:xfrm>
            <ns1:prstGeom prst="rect">
              <ns1:avLst/>
            </ns1:prstGeom>
          </ns0:spPr>
          <ns0:txBody>
            <ns1:bodyPr anchor="ctr" rtlCol="false" tIns="0" lIns="0" bIns="0" rIns="0"/>
            <ns1:lstStyle/>
            <ns1:p>
              <ns1:pPr algn="ctr">
                <ns1:lnSpc>
                  <ns1:spcPts val="2340"/>
                </ns1:lnSpc>
              </ns1:pPr>
              <ns1:r>
                <ns1:rPr lang="en-US" sz="1950" b="true">
                  <ns1:solidFill>
                    <ns1:srgbClr val="081B33"/>
                  </ns1:solidFill>
                  <ns1:latin typeface="Calibri (MS) Bold"/>
                  <ns1:ea typeface="Calibri (MS) Bold"/>
                  <ns1:cs typeface="Calibri (MS) Bold"/>
                  <ns1:sym typeface="Calibri (MS) Bold"/>
                </ns1:rPr>
                <ns1:t>2</ns1:t>
              </ns1:r>
            </ns1:p>
          </ns0:txBody>
        </ns0:sp>
      </ns0:grpSp>
      <ns0:sp>
        <ns0:nvSpPr>
          <ns0:cNvPr name="TextBox 57" id="57"/>
          <ns0:cNvSpPr txBox="true"/>
          <ns0:nvPr/>
        </ns0:nvSpPr>
        <ns0:spPr>
          <ns1:xfrm rot="0">
            <ns1:off x="4155948" y="5398770"/>
            <ns1:ext cx="2811780" cy="595122"/>
          </ns1:xfrm>
          <ns1:prstGeom prst="rect">
            <ns1:avLst/>
          </ns1:prstGeom>
        </ns0:spPr>
        <ns0:txBody>
          <ns1:bodyPr anchor="t" rtlCol="false" tIns="0" lIns="0" bIns="0" rIns="0">
            <ns1:spAutoFit/>
          </ns1:bodyPr>
          <ns1:lstStyle/>
          <ns1:p>
            <ns1:pPr algn="l">
              <ns1:lnSpc>
                <ns1:spcPts val="1889"/>
              </ns1:lnSpc>
            </ns1:pPr>
            <ns1:r>
              <ns1:rPr lang="en-US" sz="1575" b="true">
                <ns1:solidFill>
                  <ns1:srgbClr val="0B2545"/>
                </ns1:solidFill>
                <ns1:latin typeface="Calibri (MS) Bold"/>
                <ns1:ea typeface="Calibri (MS) Bold"/>
                <ns1:cs typeface="Calibri (MS) Bold"/>
                <ns1:sym typeface="Calibri (MS) Bold"/>
              </ns1:rPr>
              <ns1:t>Applies for Income Cert.</ns1:t>
            </ns1:r>
          </ns1:p>
        </ns0:txBody>
      </ns0:sp>
      <ns0:sp>
        <ns0:nvSpPr>
          <ns0:cNvPr name="TextBox 58" id="58"/>
          <ns0:cNvSpPr txBox="true"/>
          <ns0:nvPr/>
        </ns0:nvSpPr>
        <ns0:spPr>
          <ns1:xfrm rot="0">
            <ns1:off x="4155948" y="5928360"/>
            <ns1:ext cx="2811780" cy="723900"/>
          </ns1:xfrm>
          <ns1:prstGeom prst="rect">
            <ns1:avLst/>
          </ns1:prstGeom>
        </ns0:spPr>
        <ns0:txBody>
          <ns1:bodyPr anchor="t" rtlCol="false" tIns="0" lIns="0" bIns="0" rIns="0">
            <ns1:spAutoFit/>
          </ns1:bodyPr>
          <ns1:lstStyle/>
          <ns1:p>
            <ns1:pPr algn="l">
              <ns1:lnSpc>
                <ns1:spcPts val="1644"/>
              </ns1:lnSpc>
            </ns1:pPr>
            <ns1:r>
              <ns1:rPr lang="en-US" sz="1305">
                <ns1:solidFill>
                  <ns1:srgbClr val="15263B"/>
                </ns1:solidFill>
                <ns1:latin typeface="Calibri (MS)"/>
                <ns1:ea typeface="Calibri (MS)"/>
                <ns1:cs typeface="Calibri (MS)"/>
                <ns1:sym typeface="Calibri (MS)"/>
              </ns1:rPr>
              <ns1:t>Priya applies for an Income Certificate; system dynamically queries Mahabhumi 7/12 &amp; Vahan 4.0.</ns1:t>
            </ns1:r>
          </ns1:p>
        </ns0:txBody>
      </ns0:sp>
      <ns0:grpSp>
        <ns0:nvGrpSpPr>
          <ns0:cNvPr name="Group 59" id="59"/>
          <ns0:cNvGrpSpPr/>
          <ns0:nvPr/>
        </ns0:nvGrpSpPr>
        <ns0:grpSpPr>
          <ns1:xfrm rot="0">
            <ns1:off x="7342251" y="4516755"/>
            <ns1:ext cx="3242310" cy="2282190"/>
            <ns1:chOff x="0" y="0"/>
            <ns1:chExt cx="4323080" cy="3042920"/>
          </ns1:xfrm>
        </ns0:grpSpPr>
        <ns0:sp>
          <ns0:nvSpPr>
            <ns0:cNvPr name="Freeform 60" id="60"/>
            <ns0:cNvSpPr/>
            <ns0:nvPr/>
          </ns0:nvSpPr>
          <ns0:spPr>
            <ns1:xfrm flipH="false" flipV="false" rot="0">
              <ns1:off x="0" y="0"/>
              <ns1:ext cx="4323080" cy="3042920"/>
            </ns1:xfrm>
            <ns1:custGeom>
              <ns1:avLst/>
              <ns1:gdLst/>
              <ns1:ahLst/>
              <ns1:cxnLst/>
              <ns1:rect r="r" b="b" t="t" l="l"/>
              <ns1:pathLst>
                <ns1:path h="3042920" w="4323080">
                  <ns1:moveTo>
                    <ns1:pt x="0" y="147574"/>
                  </ns1:moveTo>
                  <ns1:cubicBezTo>
                    <ns1:pt x="0" y="66040"/>
                    <ns1:pt x="66040" y="0"/>
                    <ns1:pt x="147574" y="0"/>
                  </ns1:cubicBezTo>
                  <ns1:lnTo>
                    <ns1:pt x="4175506" y="0"/>
                  </ns1:lnTo>
                  <ns1:cubicBezTo>
                    <ns1:pt x="4257040" y="0"/>
                    <ns1:pt x="4323080" y="66040"/>
                    <ns1:pt x="4323080" y="147574"/>
                  </ns1:cubicBezTo>
                  <ns1:lnTo>
                    <ns1:pt x="4323080" y="2895346"/>
                  </ns1:lnTo>
                  <ns1:cubicBezTo>
                    <ns1:pt x="4323080" y="2976880"/>
                    <ns1:pt x="4257040" y="3042920"/>
                    <ns1:pt x="4175506" y="3042920"/>
                  </ns1:cubicBezTo>
                  <ns1:lnTo>
                    <ns1:pt x="147574" y="3042920"/>
                  </ns1:lnTo>
                  <ns1:cubicBezTo>
                    <ns1:pt x="66040" y="3042920"/>
                    <ns1:pt x="0" y="2976880"/>
                    <ns1:pt x="0" y="2895346"/>
                  </ns1:cubicBezTo>
                  <ns1:close/>
                </ns1:path>
              </ns1:pathLst>
            </ns1:custGeom>
            <ns1:solidFill>
              <ns1:srgbClr val="FFFFFF"/>
            </ns1:solidFill>
            <ns1:ln w="19050" cap="sq">
              <ns1:solidFill>
                <ns1:srgbClr val="D8DEE8"/>
              </ns1:solidFill>
              <ns1:prstDash val="solid"/>
              <ns1:miter/>
            </ns1:ln>
          </ns0:spPr>
        </ns0:sp>
      </ns0:grpSp>
      <ns0:grpSp>
        <ns0:nvGrpSpPr>
          <ns0:cNvPr name="Group 61" id="61"/>
          <ns0:cNvGrpSpPr/>
          <ns0:nvPr/>
        </ns0:nvGrpSpPr>
        <ns0:grpSpPr>
          <ns1:xfrm rot="0">
            <ns1:off x="7557516" y="4732020"/>
            <ns1:ext cx="548640" cy="548640"/>
            <ns1:chOff x="0" y="0"/>
            <ns1:chExt cx="731520" cy="731520"/>
          </ns1:xfrm>
        </ns0:grpSpPr>
        <ns0:sp>
          <ns0:nvSpPr>
            <ns0:cNvPr name="Freeform 62" id="62"/>
            <ns0:cNvSpPr/>
            <ns0:nvPr/>
          </ns0:nvSpPr>
          <ns0:spPr>
            <ns1:xfrm flipH="false" flipV="false" rot="0">
              <ns1:off x="0" y="0"/>
              <ns1:ext cx="731520" cy="731520"/>
            </ns1:xfrm>
            <ns1:custGeom>
              <ns1:avLst/>
              <ns1:gdLst/>
              <ns1:ahLst/>
              <ns1:cxnLst/>
              <ns1:rect r="r" b="b" t="t" l="l"/>
              <ns1:pathLst>
                <ns1:path h="731520" w="731520">
                  <ns1:moveTo>
                    <ns1:pt x="0" y="365760"/>
                  </ns1:moveTo>
                  <ns1:cubicBezTo>
                    <ns1:pt x="0" y="163703"/>
                    <ns1:pt x="163703" y="0"/>
                    <ns1:pt x="365760" y="0"/>
                  </ns1:cubicBezTo>
                  <ns1:cubicBezTo>
                    <ns1:pt x="567817" y="0"/>
                    <ns1:pt x="731520" y="163703"/>
                    <ns1:pt x="731520" y="365760"/>
                  </ns1:cubicBezTo>
                  <ns1:cubicBezTo>
                    <ns1:pt x="731520" y="567817"/>
                    <ns1:pt x="567817" y="731520"/>
                    <ns1:pt x="365760" y="731520"/>
                  </ns1:cubicBezTo>
                  <ns1:cubicBezTo>
                    <ns1:pt x="163703" y="731520"/>
                    <ns1:pt x="0" y="567817"/>
                    <ns1:pt x="0" y="365760"/>
                  </ns1:cubicBezTo>
                  <ns1:close/>
                </ns1:path>
              </ns1:pathLst>
            </ns1:custGeom>
            <ns1:solidFill>
              <ns1:srgbClr val="D98E04"/>
            </ns1:solidFill>
          </ns0:spPr>
        </ns0:sp>
      </ns0:grpSp>
      <ns0:grpSp>
        <ns0:nvGrpSpPr>
          <ns0:cNvPr name="Group 63" id="63"/>
          <ns0:cNvGrpSpPr/>
          <ns0:nvPr/>
        </ns0:nvGrpSpPr>
        <ns0:grpSpPr>
          <ns1:xfrm rot="0">
            <ns1:off x="7557516" y="4732020"/>
            <ns1:ext cx="548640" cy="548640"/>
            <ns1:chOff x="0" y="0"/>
            <ns1:chExt cx="731520" cy="731520"/>
          </ns1:xfrm>
        </ns0:grpSpPr>
        <ns0:sp>
          <ns0:nvSpPr>
            <ns0:cNvPr name="Freeform 64" id="64"/>
            <ns0:cNvSpPr/>
            <ns0:nvPr/>
          </ns0:nvSpPr>
          <ns0:spPr>
            <ns1:xfrm flipH="false" flipV="false" rot="0">
              <ns1:off x="0" y="0"/>
              <ns1:ext cx="731520" cy="731520"/>
            </ns1:xfrm>
            <ns1:custGeom>
              <ns1:avLst/>
              <ns1:gdLst/>
              <ns1:ahLst/>
              <ns1:cxnLst/>
              <ns1:rect r="r" b="b" t="t" l="l"/>
              <ns1:pathLst>
                <ns1:path h="731520" w="731520">
                  <ns1:moveTo>
                    <ns1:pt x="0" y="0"/>
                  </ns1:moveTo>
                  <ns1:lnTo>
                    <ns1:pt x="731520" y="0"/>
                  </ns1:lnTo>
                  <ns1:lnTo>
                    <ns1:pt x="731520" y="731520"/>
                  </ns1:lnTo>
                  <ns1:lnTo>
                    <ns1:pt x="0" y="731520"/>
                  </ns1:lnTo>
                  <ns1:close/>
                </ns1:path>
              </ns1:pathLst>
            </ns1:custGeom>
            <ns1:blipFill>
              <ns1:blip ns2:embed="rId3">
                <ns1:alphaModFix amt="0"/>
              </ns1:blip>
              <ns1:stretch>
                <ns1:fillRect l="-78303" t="0" r="-78303" b="0"/>
              </ns1:stretch>
            </ns1:blipFill>
          </ns0:spPr>
        </ns0:sp>
        <ns0:sp>
          <ns0:nvSpPr>
            <ns0:cNvPr name="TextBox 65" id="65"/>
            <ns0:cNvSpPr txBox="true"/>
            <ns0:nvPr/>
          </ns0:nvSpPr>
          <ns0:spPr>
            <ns1:xfrm>
              <ns1:off x="0" y="-47625"/>
              <ns1:ext cx="731520" cy="779145"/>
            </ns1:xfrm>
            <ns1:prstGeom prst="rect">
              <ns1:avLst/>
            </ns1:prstGeom>
          </ns0:spPr>
          <ns0:txBody>
            <ns1:bodyPr anchor="ctr" rtlCol="false" tIns="0" lIns="0" bIns="0" rIns="0"/>
            <ns1:lstStyle/>
            <ns1:p>
              <ns1:pPr algn="ctr">
                <ns1:lnSpc>
                  <ns1:spcPts val="2340"/>
                </ns1:lnSpc>
              </ns1:pPr>
              <ns1:r>
                <ns1:rPr lang="en-US" sz="1950" b="true">
                  <ns1:solidFill>
                    <ns1:srgbClr val="081B33"/>
                  </ns1:solidFill>
                  <ns1:latin typeface="Calibri (MS) Bold"/>
                  <ns1:ea typeface="Calibri (MS) Bold"/>
                  <ns1:cs typeface="Calibri (MS) Bold"/>
                  <ns1:sym typeface="Calibri (MS) Bold"/>
                </ns1:rPr>
                <ns1:t>3</ns1:t>
              </ns1:r>
            </ns1:p>
          </ns0:txBody>
        </ns0:sp>
      </ns0:grpSp>
      <ns0:sp>
        <ns0:nvSpPr>
          <ns0:cNvPr name="TextBox 66" id="66"/>
          <ns0:cNvSpPr txBox="true"/>
          <ns0:nvPr/>
        </ns0:nvSpPr>
        <ns0:spPr>
          <ns1:xfrm rot="0">
            <ns1:off x="7557516" y="5398770"/>
            <ns1:ext cx="2811780" cy="595122"/>
          </ns1:xfrm>
          <ns1:prstGeom prst="rect">
            <ns1:avLst/>
          </ns1:prstGeom>
        </ns0:spPr>
        <ns0:txBody>
          <ns1:bodyPr anchor="t" rtlCol="false" tIns="0" lIns="0" bIns="0" rIns="0">
            <ns1:spAutoFit/>
          </ns1:bodyPr>
          <ns1:lstStyle/>
          <ns1:p>
            <ns1:pPr algn="l">
              <ns1:lnSpc>
                <ns1:spcPts val="1889"/>
              </ns1:lnSpc>
            </ns1:pPr>
            <ns1:r>
              <ns1:rPr lang="en-US" sz="1575" b="true">
                <ns1:solidFill>
                  <ns1:srgbClr val="0B2545"/>
                </ns1:solidFill>
                <ns1:latin typeface="Calibri (MS) Bold"/>
                <ns1:ea typeface="Calibri (MS) Bold"/>
                <ns1:cs typeface="Calibri (MS) Bold"/>
                <ns1:sym typeface="Calibri (MS) Bold"/>
              </ns1:rPr>
              <ns1:t>Grants consent</ns1:t>
            </ns1:r>
          </ns1:p>
        </ns0:txBody>
      </ns0:sp>
      <ns0:sp>
        <ns0:nvSpPr>
          <ns0:cNvPr name="TextBox 67" id="67"/>
          <ns0:cNvSpPr txBox="true"/>
          <ns0:nvPr/>
        </ns0:nvSpPr>
        <ns0:spPr>
          <ns1:xfrm rot="0">
            <ns1:off x="7557516" y="5928360"/>
            <ns1:ext cx="2811780" cy="723900"/>
          </ns1:xfrm>
          <ns1:prstGeom prst="rect">
            <ns1:avLst/>
          </ns1:prstGeom>
        </ns0:spPr>
        <ns0:txBody>
          <ns1:bodyPr anchor="t" rtlCol="false" tIns="0" lIns="0" bIns="0" rIns="0">
            <ns1:spAutoFit/>
          </ns1:bodyPr>
          <ns1:lstStyle/>
          <ns1:p>
            <ns1:pPr algn="l">
              <ns1:lnSpc>
                <ns1:spcPts val="1644"/>
              </ns1:lnSpc>
            </ns1:pPr>
            <ns1:r>
              <ns1:rPr lang="en-US" sz="1305">
                <ns1:solidFill>
                  <ns1:srgbClr val="15263B"/>
                </ns1:solidFill>
                <ns1:latin typeface="Calibri (MS)"/>
                <ns1:ea typeface="Calibri (MS)"/>
                <ns1:cs typeface="Calibri (MS)"/>
                <ns1:sym typeface="Calibri (MS)"/>
              </ns1:rPr>
              <ns1:t>Priya reviews DEPA modal: specifies 15-minute validity, purpose, and participating departments.</ns1:t>
            </ns1:r>
          </ns1:p>
        </ns0:txBody>
      </ns0:sp>
      <ns0:grpSp>
        <ns0:nvGrpSpPr>
          <ns0:cNvPr name="Group 68" id="68"/>
          <ns0:cNvGrpSpPr/>
          <ns0:nvPr/>
        </ns0:nvGrpSpPr>
        <ns0:grpSpPr>
          <ns1:xfrm rot="0">
            <ns1:off x="10743819" y="4516755"/>
            <ns1:ext cx="3242310" cy="2282190"/>
            <ns1:chOff x="0" y="0"/>
            <ns1:chExt cx="4323080" cy="3042920"/>
          </ns1:xfrm>
        </ns0:grpSpPr>
        <ns0:sp>
          <ns0:nvSpPr>
            <ns0:cNvPr name="Freeform 69" id="69"/>
            <ns0:cNvSpPr/>
            <ns0:nvPr/>
          </ns0:nvSpPr>
          <ns0:spPr>
            <ns1:xfrm flipH="false" flipV="false" rot="0">
              <ns1:off x="0" y="0"/>
              <ns1:ext cx="4323080" cy="3042920"/>
            </ns1:xfrm>
            <ns1:custGeom>
              <ns1:avLst/>
              <ns1:gdLst/>
              <ns1:ahLst/>
              <ns1:cxnLst/>
              <ns1:rect r="r" b="b" t="t" l="l"/>
              <ns1:pathLst>
                <ns1:path h="3042920" w="4323080">
                  <ns1:moveTo>
                    <ns1:pt x="0" y="147574"/>
                  </ns1:moveTo>
                  <ns1:cubicBezTo>
                    <ns1:pt x="0" y="66040"/>
                    <ns1:pt x="66040" y="0"/>
                    <ns1:pt x="147574" y="0"/>
                  </ns1:cubicBezTo>
                  <ns1:lnTo>
                    <ns1:pt x="4175506" y="0"/>
                  </ns1:lnTo>
                  <ns1:cubicBezTo>
                    <ns1:pt x="4257040" y="0"/>
                    <ns1:pt x="4323080" y="66040"/>
                    <ns1:pt x="4323080" y="147574"/>
                  </ns1:cubicBezTo>
                  <ns1:lnTo>
                    <ns1:pt x="4323080" y="2895346"/>
                  </ns1:lnTo>
                  <ns1:cubicBezTo>
                    <ns1:pt x="4323080" y="2976880"/>
                    <ns1:pt x="4257040" y="3042920"/>
                    <ns1:pt x="4175506" y="3042920"/>
                  </ns1:cubicBezTo>
                  <ns1:lnTo>
                    <ns1:pt x="147574" y="3042920"/>
                  </ns1:lnTo>
                  <ns1:cubicBezTo>
                    <ns1:pt x="66040" y="3042920"/>
                    <ns1:pt x="0" y="2976880"/>
                    <ns1:pt x="0" y="2895346"/>
                  </ns1:cubicBezTo>
                  <ns1:close/>
                </ns1:path>
              </ns1:pathLst>
            </ns1:custGeom>
            <ns1:solidFill>
              <ns1:srgbClr val="FFFFFF"/>
            </ns1:solidFill>
            <ns1:ln w="19050" cap="sq">
              <ns1:solidFill>
                <ns1:srgbClr val="D8DEE8"/>
              </ns1:solidFill>
              <ns1:prstDash val="solid"/>
              <ns1:miter/>
            </ns1:ln>
          </ns0:spPr>
        </ns0:sp>
      </ns0:grpSp>
      <ns0:grpSp>
        <ns0:nvGrpSpPr>
          <ns0:cNvPr name="Group 70" id="70"/>
          <ns0:cNvGrpSpPr/>
          <ns0:nvPr/>
        </ns0:nvGrpSpPr>
        <ns0:grpSpPr>
          <ns1:xfrm rot="0">
            <ns1:off x="10959084" y="4732020"/>
            <ns1:ext cx="548640" cy="548640"/>
            <ns1:chOff x="0" y="0"/>
            <ns1:chExt cx="731520" cy="731520"/>
          </ns1:xfrm>
        </ns0:grpSpPr>
        <ns0:sp>
          <ns0:nvSpPr>
            <ns0:cNvPr name="Freeform 71" id="71"/>
            <ns0:cNvSpPr/>
            <ns0:nvPr/>
          </ns0:nvSpPr>
          <ns0:spPr>
            <ns1:xfrm flipH="false" flipV="false" rot="0">
              <ns1:off x="0" y="0"/>
              <ns1:ext cx="731520" cy="731520"/>
            </ns1:xfrm>
            <ns1:custGeom>
              <ns1:avLst/>
              <ns1:gdLst/>
              <ns1:ahLst/>
              <ns1:cxnLst/>
              <ns1:rect r="r" b="b" t="t" l="l"/>
              <ns1:pathLst>
                <ns1:path h="731520" w="731520">
                  <ns1:moveTo>
                    <ns1:pt x="0" y="365760"/>
                  </ns1:moveTo>
                  <ns1:cubicBezTo>
                    <ns1:pt x="0" y="163703"/>
                    <ns1:pt x="163703" y="0"/>
                    <ns1:pt x="365760" y="0"/>
                  </ns1:cubicBezTo>
                  <ns1:cubicBezTo>
                    <ns1:pt x="567817" y="0"/>
                    <ns1:pt x="731520" y="163703"/>
                    <ns1:pt x="731520" y="365760"/>
                  </ns1:cubicBezTo>
                  <ns1:cubicBezTo>
                    <ns1:pt x="731520" y="567817"/>
                    <ns1:pt x="567817" y="731520"/>
                    <ns1:pt x="365760" y="731520"/>
                  </ns1:cubicBezTo>
                  <ns1:cubicBezTo>
                    <ns1:pt x="163703" y="731520"/>
                    <ns1:pt x="0" y="567817"/>
                    <ns1:pt x="0" y="365760"/>
                  </ns1:cubicBezTo>
                  <ns1:close/>
                </ns1:path>
              </ns1:pathLst>
            </ns1:custGeom>
            <ns1:solidFill>
              <ns1:srgbClr val="D98E04"/>
            </ns1:solidFill>
          </ns0:spPr>
        </ns0:sp>
      </ns0:grpSp>
      <ns0:grpSp>
        <ns0:nvGrpSpPr>
          <ns0:cNvPr name="Group 72" id="72"/>
          <ns0:cNvGrpSpPr/>
          <ns0:nvPr/>
        </ns0:nvGrpSpPr>
        <ns0:grpSpPr>
          <ns1:xfrm rot="0">
            <ns1:off x="10959084" y="4732020"/>
            <ns1:ext cx="548640" cy="548640"/>
            <ns1:chOff x="0" y="0"/>
            <ns1:chExt cx="731520" cy="731520"/>
          </ns1:xfrm>
        </ns0:grpSpPr>
        <ns0:sp>
          <ns0:nvSpPr>
            <ns0:cNvPr name="Freeform 73" id="73"/>
            <ns0:cNvSpPr/>
            <ns0:nvPr/>
          </ns0:nvSpPr>
          <ns0:spPr>
            <ns1:xfrm flipH="false" flipV="false" rot="0">
              <ns1:off x="0" y="0"/>
              <ns1:ext cx="731520" cy="731520"/>
            </ns1:xfrm>
            <ns1:custGeom>
              <ns1:avLst/>
              <ns1:gdLst/>
              <ns1:ahLst/>
              <ns1:cxnLst/>
              <ns1:rect r="r" b="b" t="t" l="l"/>
              <ns1:pathLst>
                <ns1:path h="731520" w="731520">
                  <ns1:moveTo>
                    <ns1:pt x="0" y="0"/>
                  </ns1:moveTo>
                  <ns1:lnTo>
                    <ns1:pt x="731520" y="0"/>
                  </ns1:lnTo>
                  <ns1:lnTo>
                    <ns1:pt x="731520" y="731520"/>
                  </ns1:lnTo>
                  <ns1:lnTo>
                    <ns1:pt x="0" y="731520"/>
                  </ns1:lnTo>
                  <ns1:close/>
                </ns1:path>
              </ns1:pathLst>
            </ns1:custGeom>
            <ns1:blipFill>
              <ns1:blip ns2:embed="rId3">
                <ns1:alphaModFix amt="0"/>
              </ns1:blip>
              <ns1:stretch>
                <ns1:fillRect l="-78303" t="0" r="-78303" b="0"/>
              </ns1:stretch>
            </ns1:blipFill>
          </ns0:spPr>
        </ns0:sp>
        <ns0:sp>
          <ns0:nvSpPr>
            <ns0:cNvPr name="TextBox 74" id="74"/>
            <ns0:cNvSpPr txBox="true"/>
            <ns0:nvPr/>
          </ns0:nvSpPr>
          <ns0:spPr>
            <ns1:xfrm>
              <ns1:off x="0" y="-47625"/>
              <ns1:ext cx="731520" cy="779145"/>
            </ns1:xfrm>
            <ns1:prstGeom prst="rect">
              <ns1:avLst/>
            </ns1:prstGeom>
          </ns0:spPr>
          <ns0:txBody>
            <ns1:bodyPr anchor="ctr" rtlCol="false" tIns="0" lIns="0" bIns="0" rIns="0"/>
            <ns1:lstStyle/>
            <ns1:p>
              <ns1:pPr algn="ctr">
                <ns1:lnSpc>
                  <ns1:spcPts val="2340"/>
                </ns1:lnSpc>
              </ns1:pPr>
              <ns1:r>
                <ns1:rPr lang="en-US" sz="1950" b="true">
                  <ns1:solidFill>
                    <ns1:srgbClr val="081B33"/>
                  </ns1:solidFill>
                  <ns1:latin typeface="Calibri (MS) Bold"/>
                  <ns1:ea typeface="Calibri (MS) Bold"/>
                  <ns1:cs typeface="Calibri (MS) Bold"/>
                  <ns1:sym typeface="Calibri (MS) Bold"/>
                </ns1:rPr>
                <ns1:t>4</ns1:t>
              </ns1:r>
            </ns1:p>
          </ns0:txBody>
        </ns0:sp>
      </ns0:grpSp>
      <ns0:sp>
        <ns0:nvSpPr>
          <ns0:cNvPr name="TextBox 75" id="75"/>
          <ns0:cNvSpPr txBox="true"/>
          <ns0:nvPr/>
        </ns0:nvSpPr>
        <ns0:spPr>
          <ns1:xfrm rot="0">
            <ns1:off x="10959084" y="5398770"/>
            <ns1:ext cx="2811780" cy="595122"/>
          </ns1:xfrm>
          <ns1:prstGeom prst="rect">
            <ns1:avLst/>
          </ns1:prstGeom>
        </ns0:spPr>
        <ns0:txBody>
          <ns1:bodyPr anchor="t" rtlCol="false" tIns="0" lIns="0" bIns="0" rIns="0">
            <ns1:spAutoFit/>
          </ns1:bodyPr>
          <ns1:lstStyle/>
          <ns1:p>
            <ns1:pPr algn="l">
              <ns1:lnSpc>
                <ns1:spcPts val="1889"/>
              </ns1:lnSpc>
            </ns1:pPr>
            <ns1:r>
              <ns1:rPr lang="en-US" sz="1575" b="true">
                <ns1:solidFill>
                  <ns1:srgbClr val="0B2545"/>
                </ns1:solidFill>
                <ns1:latin typeface="Calibri (MS) Bold"/>
                <ns1:ea typeface="Calibri (MS) Bold"/>
                <ns1:cs typeface="Calibri (MS) Bold"/>
                <ns1:sym typeface="Calibri (MS) Bold"/>
              </ns1:rPr>
              <ns1:t>Data flows automatically</ns1:t>
            </ns1:r>
          </ns1:p>
        </ns0:txBody>
      </ns0:sp>
      <ns0:sp>
        <ns0:nvSpPr>
          <ns0:cNvPr name="TextBox 76" id="76"/>
          <ns0:cNvSpPr txBox="true"/>
          <ns0:nvPr/>
        </ns0:nvSpPr>
        <ns0:spPr>
          <ns1:xfrm rot="0">
            <ns1:off x="10959084" y="5928360"/>
            <ns1:ext cx="2811780" cy="723900"/>
          </ns1:xfrm>
          <ns1:prstGeom prst="rect">
            <ns1:avLst/>
          </ns1:prstGeom>
        </ns0:spPr>
        <ns0:txBody>
          <ns1:bodyPr anchor="t" rtlCol="false" tIns="0" lIns="0" bIns="0" rIns="0">
            <ns1:spAutoFit/>
          </ns1:bodyPr>
          <ns1:lstStyle/>
          <ns1:p>
            <ns1:pPr algn="l">
              <ns1:lnSpc>
                <ns1:spcPts val="1644"/>
              </ns1:lnSpc>
            </ns1:pPr>
            <ns1:r>
              <ns1:rPr lang="en-US" sz="1305">
                <ns1:solidFill>
                  <ns1:srgbClr val="15263B"/>
                </ns1:solidFill>
                <ns1:latin typeface="Calibri (MS)"/>
                <ns1:ea typeface="Calibri (MS)"/>
                <ns1:cs typeface="Calibri (MS)"/>
                <ns1:sym typeface="Calibri (MS)"/>
              </ns1:rPr>
              <ns1:t>Revenue &amp; RTO adapters fetch data simultaneously; Identity Resolver reconciles Marathi/English names.</ns1:t>
            </ns1:r>
          </ns1:p>
        </ns0:txBody>
      </ns0:sp>
      <ns0:grpSp>
        <ns0:nvGrpSpPr>
          <ns0:cNvPr name="Group 77" id="77"/>
          <ns0:cNvGrpSpPr/>
          <ns0:nvPr/>
        </ns0:nvGrpSpPr>
        <ns0:grpSpPr>
          <ns1:xfrm rot="0">
            <ns1:off x="14145387" y="4516755"/>
            <ns1:ext cx="3242310" cy="2282190"/>
            <ns1:chOff x="0" y="0"/>
            <ns1:chExt cx="4323080" cy="3042920"/>
          </ns1:xfrm>
        </ns0:grpSpPr>
        <ns0:sp>
          <ns0:nvSpPr>
            <ns0:cNvPr name="Freeform 78" id="78"/>
            <ns0:cNvSpPr/>
            <ns0:nvPr/>
          </ns0:nvSpPr>
          <ns0:spPr>
            <ns1:xfrm flipH="false" flipV="false" rot="0">
              <ns1:off x="0" y="0"/>
              <ns1:ext cx="4323080" cy="3042920"/>
            </ns1:xfrm>
            <ns1:custGeom>
              <ns1:avLst/>
              <ns1:gdLst/>
              <ns1:ahLst/>
              <ns1:cxnLst/>
              <ns1:rect r="r" b="b" t="t" l="l"/>
              <ns1:pathLst>
                <ns1:path h="3042920" w="4323080">
                  <ns1:moveTo>
                    <ns1:pt x="0" y="147574"/>
                  </ns1:moveTo>
                  <ns1:cubicBezTo>
                    <ns1:pt x="0" y="66040"/>
                    <ns1:pt x="66040" y="0"/>
                    <ns1:pt x="147574" y="0"/>
                  </ns1:cubicBezTo>
                  <ns1:lnTo>
                    <ns1:pt x="4175506" y="0"/>
                  </ns1:lnTo>
                  <ns1:cubicBezTo>
                    <ns1:pt x="4257040" y="0"/>
                    <ns1:pt x="4323080" y="66040"/>
                    <ns1:pt x="4323080" y="147574"/>
                  </ns1:cubicBezTo>
                  <ns1:lnTo>
                    <ns1:pt x="4323080" y="2895346"/>
                  </ns1:lnTo>
                  <ns1:cubicBezTo>
                    <ns1:pt x="4323080" y="2976880"/>
                    <ns1:pt x="4257040" y="3042920"/>
                    <ns1:pt x="4175506" y="3042920"/>
                  </ns1:cubicBezTo>
                  <ns1:lnTo>
                    <ns1:pt x="147574" y="3042920"/>
                  </ns1:lnTo>
                  <ns1:cubicBezTo>
                    <ns1:pt x="66040" y="3042920"/>
                    <ns1:pt x="0" y="2976880"/>
                    <ns1:pt x="0" y="2895346"/>
                  </ns1:cubicBezTo>
                  <ns1:close/>
                </ns1:path>
              </ns1:pathLst>
            </ns1:custGeom>
            <ns1:solidFill>
              <ns1:srgbClr val="FFFFFF"/>
            </ns1:solidFill>
            <ns1:ln w="19050" cap="sq">
              <ns1:solidFill>
                <ns1:srgbClr val="D8DEE8"/>
              </ns1:solidFill>
              <ns1:prstDash val="solid"/>
              <ns1:miter/>
            </ns1:ln>
          </ns0:spPr>
        </ns0:sp>
      </ns0:grpSp>
      <ns0:grpSp>
        <ns0:nvGrpSpPr>
          <ns0:cNvPr name="Group 79" id="79"/>
          <ns0:cNvGrpSpPr/>
          <ns0:nvPr/>
        </ns0:nvGrpSpPr>
        <ns0:grpSpPr>
          <ns1:xfrm rot="0">
            <ns1:off x="14360652" y="4732020"/>
            <ns1:ext cx="548640" cy="548640"/>
            <ns1:chOff x="0" y="0"/>
            <ns1:chExt cx="731520" cy="731520"/>
          </ns1:xfrm>
        </ns0:grpSpPr>
        <ns0:sp>
          <ns0:nvSpPr>
            <ns0:cNvPr name="Freeform 80" id="80"/>
            <ns0:cNvSpPr/>
            <ns0:nvPr/>
          </ns0:nvSpPr>
          <ns0:spPr>
            <ns1:xfrm flipH="false" flipV="false" rot="0">
              <ns1:off x="0" y="0"/>
              <ns1:ext cx="731520" cy="731520"/>
            </ns1:xfrm>
            <ns1:custGeom>
              <ns1:avLst/>
              <ns1:gdLst/>
              <ns1:ahLst/>
              <ns1:cxnLst/>
              <ns1:rect r="r" b="b" t="t" l="l"/>
              <ns1:pathLst>
                <ns1:path h="731520" w="731520">
                  <ns1:moveTo>
                    <ns1:pt x="0" y="365760"/>
                  </ns1:moveTo>
                  <ns1:cubicBezTo>
                    <ns1:pt x="0" y="163703"/>
                    <ns1:pt x="163703" y="0"/>
                    <ns1:pt x="365760" y="0"/>
                  </ns1:cubicBezTo>
                  <ns1:cubicBezTo>
                    <ns1:pt x="567817" y="0"/>
                    <ns1:pt x="731520" y="163703"/>
                    <ns1:pt x="731520" y="365760"/>
                  </ns1:cubicBezTo>
                  <ns1:cubicBezTo>
                    <ns1:pt x="731520" y="567817"/>
                    <ns1:pt x="567817" y="731520"/>
                    <ns1:pt x="365760" y="731520"/>
                  </ns1:cubicBezTo>
                  <ns1:cubicBezTo>
                    <ns1:pt x="163703" y="731520"/>
                    <ns1:pt x="0" y="567817"/>
                    <ns1:pt x="0" y="365760"/>
                  </ns1:cubicBezTo>
                  <ns1:close/>
                </ns1:path>
              </ns1:pathLst>
            </ns1:custGeom>
            <ns1:solidFill>
              <ns1:srgbClr val="D98E04"/>
            </ns1:solidFill>
          </ns0:spPr>
        </ns0:sp>
      </ns0:grpSp>
      <ns0:grpSp>
        <ns0:nvGrpSpPr>
          <ns0:cNvPr name="Group 81" id="81"/>
          <ns0:cNvGrpSpPr/>
          <ns0:nvPr/>
        </ns0:nvGrpSpPr>
        <ns0:grpSpPr>
          <ns1:xfrm rot="0">
            <ns1:off x="14360652" y="4732020"/>
            <ns1:ext cx="548640" cy="548640"/>
            <ns1:chOff x="0" y="0"/>
            <ns1:chExt cx="731520" cy="731520"/>
          </ns1:xfrm>
        </ns0:grpSpPr>
        <ns0:sp>
          <ns0:nvSpPr>
            <ns0:cNvPr name="Freeform 82" id="82"/>
            <ns0:cNvSpPr/>
            <ns0:nvPr/>
          </ns0:nvSpPr>
          <ns0:spPr>
            <ns1:xfrm flipH="false" flipV="false" rot="0">
              <ns1:off x="0" y="0"/>
              <ns1:ext cx="731520" cy="731520"/>
            </ns1:xfrm>
            <ns1:custGeom>
              <ns1:avLst/>
              <ns1:gdLst/>
              <ns1:ahLst/>
              <ns1:cxnLst/>
              <ns1:rect r="r" b="b" t="t" l="l"/>
              <ns1:pathLst>
                <ns1:path h="731520" w="731520">
                  <ns1:moveTo>
                    <ns1:pt x="0" y="0"/>
                  </ns1:moveTo>
                  <ns1:lnTo>
                    <ns1:pt x="731520" y="0"/>
                  </ns1:lnTo>
                  <ns1:lnTo>
                    <ns1:pt x="731520" y="731520"/>
                  </ns1:lnTo>
                  <ns1:lnTo>
                    <ns1:pt x="0" y="731520"/>
                  </ns1:lnTo>
                  <ns1:close/>
                </ns1:path>
              </ns1:pathLst>
            </ns1:custGeom>
            <ns1:blipFill>
              <ns1:blip ns2:embed="rId3">
                <ns1:alphaModFix amt="0"/>
              </ns1:blip>
              <ns1:stretch>
                <ns1:fillRect l="-78303" t="0" r="-78303" b="0"/>
              </ns1:stretch>
            </ns1:blipFill>
          </ns0:spPr>
        </ns0:sp>
        <ns0:sp>
          <ns0:nvSpPr>
            <ns0:cNvPr name="TextBox 83" id="83"/>
            <ns0:cNvSpPr txBox="true"/>
            <ns0:nvPr/>
          </ns0:nvSpPr>
          <ns0:spPr>
            <ns1:xfrm>
              <ns1:off x="0" y="-47625"/>
              <ns1:ext cx="731520" cy="779145"/>
            </ns1:xfrm>
            <ns1:prstGeom prst="rect">
              <ns1:avLst/>
            </ns1:prstGeom>
          </ns0:spPr>
          <ns0:txBody>
            <ns1:bodyPr anchor="ctr" rtlCol="false" tIns="0" lIns="0" bIns="0" rIns="0"/>
            <ns1:lstStyle/>
            <ns1:p>
              <ns1:pPr algn="ctr">
                <ns1:lnSpc>
                  <ns1:spcPts val="2340"/>
                </ns1:lnSpc>
              </ns1:pPr>
              <ns1:r>
                <ns1:rPr lang="en-US" sz="1950" b="true">
                  <ns1:solidFill>
                    <ns1:srgbClr val="081B33"/>
                  </ns1:solidFill>
                  <ns1:latin typeface="Calibri (MS) Bold"/>
                  <ns1:ea typeface="Calibri (MS) Bold"/>
                  <ns1:cs typeface="Calibri (MS) Bold"/>
                  <ns1:sym typeface="Calibri (MS) Bold"/>
                </ns1:rPr>
                <ns1:t>5</ns1:t>
              </ns1:r>
            </ns1:p>
          </ns0:txBody>
        </ns0:sp>
      </ns0:grpSp>
      <ns0:sp>
        <ns0:nvSpPr>
          <ns0:cNvPr name="TextBox 84" id="84"/>
          <ns0:cNvSpPr txBox="true"/>
          <ns0:nvPr/>
        </ns0:nvSpPr>
        <ns0:spPr>
          <ns1:xfrm rot="0">
            <ns1:off x="14360652" y="5398770"/>
            <ns1:ext cx="2811780" cy="595122"/>
          </ns1:xfrm>
          <ns1:prstGeom prst="rect">
            <ns1:avLst/>
          </ns1:prstGeom>
        </ns0:spPr>
        <ns0:txBody>
          <ns1:bodyPr anchor="t" rtlCol="false" tIns="0" lIns="0" bIns="0" rIns="0">
            <ns1:spAutoFit/>
          </ns1:bodyPr>
          <ns1:lstStyle/>
          <ns1:p>
            <ns1:pPr algn="l">
              <ns1:lnSpc>
                <ns1:spcPts val="1889"/>
              </ns1:lnSpc>
            </ns1:pPr>
            <ns1:r>
              <ns1:rPr lang="en-US" sz="1575" b="true">
                <ns1:solidFill>
                  <ns1:srgbClr val="0B2545"/>
                </ns1:solidFill>
                <ns1:latin typeface="Calibri (MS) Bold"/>
                <ns1:ea typeface="Calibri (MS) Bold"/>
                <ns1:cs typeface="Calibri (MS) Bold"/>
                <ns1:sym typeface="Calibri (MS) Bold"/>
              </ns1:rPr>
              <ns1:t>Opens the hood</ns1:t>
            </ns1:r>
          </ns1:p>
        </ns0:txBody>
      </ns0:sp>
      <ns0:sp>
        <ns0:nvSpPr>
          <ns0:cNvPr name="TextBox 85" id="85"/>
          <ns0:cNvSpPr txBox="true"/>
          <ns0:nvPr/>
        </ns0:nvSpPr>
        <ns0:spPr>
          <ns1:xfrm rot="0">
            <ns1:off x="14360652" y="5928360"/>
            <ns1:ext cx="2811780" cy="723900"/>
          </ns1:xfrm>
          <ns1:prstGeom prst="rect">
            <ns1:avLst/>
          </ns1:prstGeom>
        </ns0:spPr>
        <ns0:txBody>
          <ns1:bodyPr anchor="t" rtlCol="false" tIns="0" lIns="0" bIns="0" rIns="0">
            <ns1:spAutoFit/>
          </ns1:bodyPr>
          <ns1:lstStyle/>
          <ns1:p>
            <ns1:pPr algn="l">
              <ns1:lnSpc>
                <ns1:spcPts val="1644"/>
              </ns1:lnSpc>
            </ns1:pPr>
            <ns1:r>
              <ns1:rPr lang="en-US" sz="1305">
                <ns1:solidFill>
                  <ns1:srgbClr val="15263B"/>
                </ns1:solidFill>
                <ns1:latin typeface="Calibri (MS)"/>
                <ns1:ea typeface="Calibri (MS)"/>
                <ns1:cs typeface="Calibri (MS)"/>
                <ns1:sym typeface="Calibri (MS)"/>
              </ns1:rPr>
              <ns1:t>Form auto-fills with verified green badges; immutable audit proof logged and viewable on citizen dashboard.</ns1:t>
            </ns1:r>
          </ns1:p>
        </ns0:txBody>
      </ns0:sp>
      <ns0:grpSp>
        <ns0:nvGrpSpPr>
          <ns0:cNvPr name="Group 86" id="86"/>
          <ns0:cNvGrpSpPr/>
          <ns0:nvPr/>
        </ns0:nvGrpSpPr>
        <ns0:grpSpPr>
          <ns1:xfrm rot="0">
            <ns1:off x="548640" y="7200900"/>
            <ns1:ext cx="17145000" cy="2125980"/>
            <ns1:chOff x="0" y="0"/>
            <ns1:chExt cx="22860000" cy="2834640"/>
          </ns1:xfrm>
        </ns0:grpSpPr>
        <ns0:sp>
          <ns0:nvSpPr>
            <ns0:cNvPr name="Freeform 87" id="87"/>
            <ns0:cNvSpPr/>
            <ns0:nvPr/>
          </ns0:nvSpPr>
          <ns0:spPr>
            <ns1:xfrm flipH="false" flipV="false" rot="0">
              <ns1:off x="0" y="0"/>
              <ns1:ext cx="22860000" cy="2834640"/>
            </ns1:xfrm>
            <ns1:custGeom>
              <ns1:avLst/>
              <ns1:gdLst/>
              <ns1:ahLst/>
              <ns1:cxnLst/>
              <ns1:rect r="r" b="b" t="t" l="l"/>
              <ns1:pathLst>
                <ns1:path h="2834640" w="22860000">
                  <ns1:moveTo>
                    <ns1:pt x="0" y="146304"/>
                  </ns1:moveTo>
                  <ns1:cubicBezTo>
                    <ns1:pt x="0" y="65532"/>
                    <ns1:pt x="65532" y="0"/>
                    <ns1:pt x="146304" y="0"/>
                  </ns1:cubicBezTo>
                  <ns1:lnTo>
                    <ns1:pt x="22713696" y="0"/>
                  </ns1:lnTo>
                  <ns1:cubicBezTo>
                    <ns1:pt x="22794468" y="0"/>
                    <ns1:pt x="22860000" y="65532"/>
                    <ns1:pt x="22860000" y="146304"/>
                  </ns1:cubicBezTo>
                  <ns1:lnTo>
                    <ns1:pt x="22860000" y="2688336"/>
                  </ns1:lnTo>
                  <ns1:cubicBezTo>
                    <ns1:pt x="22860000" y="2769108"/>
                    <ns1:pt x="22794468" y="2834640"/>
                    <ns1:pt x="22713696" y="2834640"/>
                  </ns1:cubicBezTo>
                  <ns1:lnTo>
                    <ns1:pt x="146304" y="2834640"/>
                  </ns1:lnTo>
                  <ns1:cubicBezTo>
                    <ns1:pt x="65532" y="2834640"/>
                    <ns1:pt x="0" y="2769108"/>
                    <ns1:pt x="0" y="2688336"/>
                  </ns1:cubicBezTo>
                  <ns1:close/>
                </ns1:path>
              </ns1:pathLst>
            </ns1:custGeom>
            <ns1:gradFill rotWithShape="true">
              <ns1:gsLst>
                <ns1:gs pos="0">
                  <ns1:srgbClr val="091E27">
                    <ns1:alpha val="100000"/>
                  </ns1:srgbClr>
                </ns1:gs>
                <ns1:gs pos="100000">
                  <ns1:srgbClr val="48F0E7">
                    <ns1:alpha val="100000"/>
                  </ns1:srgbClr>
                </ns1:gs>
              </ns1:gsLst>
              <ns1:lin ang="18900000"/>
            </ns1:gradFill>
          </ns0:spPr>
        </ns0:sp>
      </ns0:grpSp>
      <ns0:sp>
        <ns0:nvSpPr>
          <ns0:cNvPr name="TextBox 88" id="88"/>
          <ns0:cNvSpPr txBox="true"/>
          <ns0:nvPr/>
        </ns0:nvSpPr>
        <ns0:spPr>
          <ns1:xfrm rot="0">
            <ns1:off x="891540" y="7357872"/>
            <ns1:ext cx="16459200" cy="1111529"/>
          </ns1:xfrm>
          <ns1:prstGeom prst="rect">
            <ns1:avLst/>
          </ns1:prstGeom>
        </ns0:spPr>
        <ns0:txBody>
          <ns1:bodyPr anchor="t" rtlCol="false" tIns="0" lIns="0" bIns="0" rIns="0">
            <ns1:spAutoFit/>
          </ns1:bodyPr>
          <ns1:lstStyle/>
          <ns1:p>
            <ns1:pPr algn="l">
              <ns1:lnSpc>
                <ns1:spcPts val="2620"/>
              </ns1:lnSpc>
            </ns1:pPr>
            <ns1:r>
              <ns1:rPr lang="en-US" sz="1950" b="true">
                <ns1:solidFill>
                  <ns1:srgbClr val="D98E04"/>
                </ns1:solidFill>
                <ns1:latin typeface="Calibri (MS) Bold"/>
                <ns1:ea typeface="Calibri (MS) Bold"/>
                <ns1:cs typeface="Calibri (MS) Bold"/>
                <ns1:sym typeface="Calibri (MS) Bold"/>
              </ns1:rPr>
              <ns1:t>Solution: MahaLink — Maharashtra Interoperability &amp; Consent Middleware</ns1:t>
            </ns1:r>
          </ns1:p>
          <ns1:p>
            <ns1:pPr algn="l">
              <ns1:lnSpc>
                <ns1:spcPts val="2016"/>
              </ns1:lnSpc>
            </ns1:pPr>
          </ns1:p>
          <ns1:p>
            <ns1:pPr algn="l">
              <ns1:lnSpc>
                <ns1:spcPts val="2016"/>
              </ns1:lnSpc>
            </ns1:pPr>
            <ns1:r>
              <ns1:rPr lang="en-US" sz="1500">
                <ns1:solidFill>
                  <ns1:srgbClr val="FFFFFF"/>
                </ns1:solidFill>
                <ns1:latin typeface="Calibri (MS)"/>
                <ns1:ea typeface="Calibri (MS)"/>
                <ns1:cs typeface="Calibri (MS)"/>
                <ns1:sym typeface="Calibri (MS)"/>
              </ns1:rPr>
              <ns1:t>Enterprise Architecture Reference Implementation engineered for Maha-IT State Data Centre deployment. Fully compliant with IndEA 2.0, DEPA, and DPDP Act 2023. Scalable for 125 million citizens across 36 districts of Maharashtra.</ns1:t>
            </ns1:r>
            <ns1:r>
              <ns1:rPr lang="en-US" sz="1500" i="true">
                <ns1:solidFill>
                  <ns1:srgbClr val="AFC3DA"/>
                </ns1:solidFill>
                <ns1:latin typeface="Calibri (MS) Italics"/>
                <ns1:ea typeface="Calibri (MS) Italics"/>
                <ns1:cs typeface="Calibri (MS) Italics"/>
                <ns1:sym typeface="Calibri (MS) Italics"/>
              </ns1:rPr>
              <ns1:t/>
            </ns1:r>
          </ns1:p>
        </ns0:txBody>
      </ns0:sp>
      <ns0:grpSp>
        <ns0:nvGrpSpPr>
          <ns0:cNvPr name="Group 89" id="89"/>
          <ns0:cNvGrpSpPr/>
          <ns0:nvPr/>
        </ns0:nvGrpSpPr>
        <ns0:grpSpPr>
          <ns1:xfrm rot="0">
            <ns1:off x="0" y="9793224"/>
            <ns1:ext cx="18283428" cy="493776"/>
            <ns1:chOff x="0" y="0"/>
            <ns1:chExt cx="24377904" cy="658368"/>
          </ns1:xfrm>
        </ns0:grpSpPr>
        <ns0:sp>
          <ns0:nvSpPr>
            <ns0:cNvPr name="Freeform 90" id="90"/>
            <ns0:cNvSpPr/>
            <ns0:nvPr/>
          </ns0:nvSpPr>
          <ns0:spPr>
            <ns1:xfrm flipH="false" flipV="false" rot="0">
              <ns1:off x="0" y="0"/>
              <ns1:ext cx="24377904" cy="658368"/>
            </ns1:xfrm>
            <ns1:custGeom>
              <ns1:avLst/>
              <ns1:gdLst/>
              <ns1:ahLst/>
              <ns1:cxnLst/>
              <ns1:rect r="r" b="b" t="t" l="l"/>
              <ns1:pathLst>
                <ns1:path h="658368" w="24377904">
                  <ns1:moveTo>
                    <ns1:pt x="0" y="0"/>
                  </ns1:moveTo>
                  <ns1:lnTo>
                    <ns1:pt x="24377904" y="0"/>
                  </ns1:lnTo>
                  <ns1:lnTo>
                    <ns1:pt x="24377904" y="658368"/>
                  </ns1:lnTo>
                  <ns1:lnTo>
                    <ns1:pt x="0" y="658368"/>
                  </ns1:lnTo>
                  <ns1:close/>
                </ns1:path>
              </ns1:pathLst>
            </ns1:custGeom>
            <ns1:solidFill>
              <ns1:srgbClr val="081B33"/>
            </ns1:solidFill>
          </ns0:spPr>
        </ns0:sp>
      </ns0:grpSp>
      <ns0:grpSp>
        <ns0:nvGrpSpPr>
          <ns0:cNvPr name="Group 91" id="91"/>
          <ns0:cNvGrpSpPr/>
          <ns0:nvPr/>
        </ns0:nvGrpSpPr>
        <ns0:grpSpPr>
          <ns1:xfrm rot="0">
            <ns1:off x="17282160" y="9793224"/>
            <ns1:ext cx="685800" cy="493776"/>
            <ns1:chOff x="0" y="0"/>
            <ns1:chExt cx="914400" cy="658368"/>
          </ns1:xfrm>
        </ns0:grpSpPr>
        <ns0:sp>
          <ns0:nvSpPr>
            <ns0:cNvPr name="Freeform 92" id="92"/>
            <ns0:cNvSpPr/>
            <ns0:nvPr/>
          </ns0:nvSpPr>
          <ns0:spPr>
            <ns1:xfrm flipH="false" flipV="false" rot="0">
              <ns1:off x="0" y="0"/>
              <ns1:ext cx="914400" cy="658368"/>
            </ns1:xfrm>
            <ns1:custGeom>
              <ns1:avLst/>
              <ns1:gdLst/>
              <ns1:ahLst/>
              <ns1:cxnLst/>
              <ns1:rect r="r" b="b" t="t" l="l"/>
              <ns1:pathLst>
                <ns1:path h="658368" w="914400">
                  <ns1:moveTo>
                    <ns1:pt x="0" y="0"/>
                  </ns1:moveTo>
                  <ns1:lnTo>
                    <ns1:pt x="914400" y="0"/>
                  </ns1:lnTo>
                  <ns1:lnTo>
                    <ns1:pt x="914400" y="658368"/>
                  </ns1:lnTo>
                  <ns1:lnTo>
                    <ns1:pt x="0" y="658368"/>
                  </ns1:lnTo>
                  <ns1:close/>
                </ns1:path>
              </ns1:pathLst>
            </ns1:custGeom>
            <ns1:blipFill>
              <ns1:blip ns2:embed="rId3">
                <ns1:alphaModFix amt="0"/>
              </ns1:blip>
              <ns1:stretch>
                <ns1:fillRect l="-42378" t="0" r="-42378" b="0"/>
              </ns1:stretch>
            </ns1:blipFill>
          </ns0:spPr>
        </ns0:sp>
        <ns0:sp>
          <ns0:nvSpPr>
            <ns0:cNvPr name="TextBox 93" id="93"/>
            <ns0:cNvSpPr txBox="true"/>
            <ns0:nvPr/>
          </ns0:nvSpPr>
          <ns0:spPr>
            <ns1:xfrm>
              <ns1:off x="0" y="-38100"/>
              <ns1:ext cx="914400" cy="696468"/>
            </ns1:xfrm>
            <ns1:prstGeom prst="rect">
              <ns1:avLst/>
            </ns1:prstGeom>
          </ns0:spPr>
          <ns0:txBody>
            <ns1:bodyPr anchor="ctr" rtlCol="false" tIns="0" lIns="0" bIns="0" rIns="0"/>
            <ns1:lstStyle/>
            <ns1:p>
              <ns1:pPr algn="r">
                <ns1:lnSpc>
                  <ns1:spcPts val="1800"/>
                </ns1:lnSpc>
              </ns1:pPr>
              <ns1:r>
                <ns1:rPr lang="en-US" sz="1500">
                  <ns1:solidFill>
                    <ns1:srgbClr val="AFC3DA"/>
                  </ns1:solidFill>
                  <ns1:latin typeface="Calibri (MS)"/>
                  <ns1:ea typeface="Calibri (MS)"/>
                  <ns1:cs typeface="Calibri (MS)"/>
                  <ns1:sym typeface="Calibri (MS)"/>
                </ns1:rPr>
                <ns1:t>6</ns1:t>
              </ns1:r>
            </ns1:p>
          </ns0:txBody>
        </ns0:sp>
      </ns0:grpSp>
      <ns0:sp>
        <ns0:nvSpPr>
          <ns0:cNvPr name="TextBox 94" id="94"/>
          <ns0:cNvSpPr txBox="true"/>
          <ns0:nvPr/>
        </ns0:nvSpPr>
        <ns0:spPr>
          <ns1:xfrm rot="0">
            <ns1:off x="7269823" y="9863880"/>
            <ns1:ext cx="3743782" cy="314363"/>
          </ns1:xfrm>
          <ns1:prstGeom prst="rect">
            <ns1:avLst/>
          </ns1:prstGeom>
        </ns0:spPr>
        <ns0:txBody>
          <ns1:bodyPr anchor="t" rtlCol="false" tIns="0" lIns="0" bIns="0" rIns="0">
            <ns1:spAutoFit/>
          </ns1:bodyPr>
          <ns1:lstStyle/>
          <ns1:p>
            <ns1:pPr algn="ctr">
              <ns1:lnSpc>
                <ns1:spcPts val="2249"/>
              </ns1:lnSpc>
              <ns1:spcBef>
                <ns1:spcPct val="0"/>
              </ns1:spcBef>
            </ns1:pPr>
            <ns1:r>
              <ns1:rPr lang="en-US" sz="1874">
                <ns1:solidFill>
                  <ns1:srgbClr val="AFC3DA"/>
                </ns1:solidFill>
                <ns1:latin typeface="Calibri (MS)"/>
                <ns1:ea typeface="Calibri (MS)"/>
                <ns1:cs typeface="Calibri (MS)"/>
                <ns1:sym typeface="Calibri (MS)"/>
              </ns1:rPr>
              <ns1:t>SIH 2026</ns1:t>
            </ns1:r>
            <ns1:r>
              <ns1:rPr lang="en-US" sz="1874">
                <ns1:solidFill>
                  <ns1:srgbClr val="AFC3DA"/>
                </ns1:solidFill>
                <ns1:latin typeface="Calibri (MS)"/>
                <ns1:ea typeface="Calibri (MS)"/>
                <ns1:cs typeface="Calibri (MS)"/>
                <ns1:sym typeface="Calibri (MS)"/>
              </ns1:rPr>
              <ns1:t> Idea Submission — MahaLink</ns1:t>
            </ns1:r>
          </ns1:p>
        </ns0:txBody>
      </ns0:sp>
    </ns0:spTree>
  </ns0:cSld>
  <ns0:clrMapOvr>
    <ns1:masterClrMapping/>
  </ns0:clrMapOvr>
</ns0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DAHT4maJO1Y</dc:identifier>
  <dcterms:modified xsi:type="dcterms:W3CDTF">2011-08-01T06:04:30Z</dcterms:modified>
  <cp:revision>1</cp:revision>
  <dc:title>MahaLink_SIH26129</dc:title>
</cp:coreProperties>
</file>